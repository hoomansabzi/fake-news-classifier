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y="5143500" cx="9144000"/>
  <p:notesSz cx="6858000" cy="9144000"/>
  <p:embeddedFontLst>
    <p:embeddedFont>
      <p:font typeface="Roboto Mono"/>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Franco Aquistapace Tagua"/>
  <p:cmAuthor clrIdx="1" id="1" initials="" lastIdx="1" name="Daize L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869CA7-6DAA-4073-8B62-08AACF2F456C}">
  <a:tblStyle styleId="{AB869CA7-6DAA-4073-8B62-08AACF2F456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obotoMono-boldItalic.fntdata"/><Relationship Id="rId72" Type="http://schemas.openxmlformats.org/officeDocument/2006/relationships/font" Target="fonts/RobotoMono-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RobotoMono-bold.fntdata"/><Relationship Id="rId70" Type="http://schemas.openxmlformats.org/officeDocument/2006/relationships/font" Target="fonts/RobotoMono-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6-09T16:47:01.523">
    <p:pos x="4372" y="912"/>
    <p:text>Nice slides! By looking at these new figures, it looks like the input space of the validation and training sets do not overlap completely (i.e. there are many new words in the validation data that were not observed in the training data). Maybe we can prove this.</p:text>
  </p:cm>
  <p:cm authorId="1" idx="1" dt="2025-06-09T16:38:52.223">
    <p:pos x="4372" y="912"/>
    <p:text>For convenience, I obtained the test set and validation set by directly dividing the test set</p:text>
  </p:cm>
  <p:cm authorId="0" idx="2" dt="2025-06-09T16:47:01.523">
    <p:pos x="4372" y="912"/>
    <p:tex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989a0d0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989a0d0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5e94f3d93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5e94f3d93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13ba405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13ba405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613ba4054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613ba4054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5e94f3d93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5e94f3d93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161cb93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6161cb93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6161cb93f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6161cb93f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613ba4054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613ba4054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13ba4054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613ba4054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6161cb93f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6161cb93f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161cb93f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6161cb93f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6161cb93f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6161cb93f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161cb93f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6161cb93f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161cb93f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6161cb93f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161cb93f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161cb93f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161cb93f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6161cb93f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161cb93f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6161cb93f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6161cb93f2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6161cb93f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6161cb93f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6161cb93f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619c2cd3e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619c2cd3e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f86eba8d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5f86eba8d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619c2cd3e8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619c2cd3e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619c2cd3e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619c2cd3e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619c2cd3e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619c2cd3e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619c2cd3e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619c2cd3e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619c2cd3e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619c2cd3e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619c2cd3e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619c2cd3e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e94f3d93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5e94f3d93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61fb52467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61fb52467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614e5c312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614e5c312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61fb52467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61fb52467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5ef645e6fb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5ef645e6fb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614e5c312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614e5c312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1fb52467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1fb52467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5ef645e6fb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5ef645e6fb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5e94f3d93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5e94f3d93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5f86eba8d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5f86eba8d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5f86eba8d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5f86eba8d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5f86eba8d7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5f86eba8d7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5f86eba8d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5f86eba8d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5f86eba8d7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5f86eba8d7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5f86eba8d7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5f86eba8d7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614e5c312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614e5c312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614e5c312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614e5c312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5e94f3d93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5e94f3d93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6182e422a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6182e422a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5f86eba8d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5f86eba8d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6182e422a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6182e422a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6182e422a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6182e422a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6182e422a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6182e422a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61bac7e19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61bac7e19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66acdfa84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66acdfa84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5f86eba8d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5f86eba8d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5f86eba8d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5f86eba8d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5f86eba8d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5f86eba8d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5f86eba8d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5f86eba8d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61bac7e19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61bac7e19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61bac7e19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61bac7e19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614e5c312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614e5c312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61fb5246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61fb5246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66acdfa8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66acdfa8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1.png"/><Relationship Id="rId8"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23.png"/><Relationship Id="rId9" Type="http://schemas.openxmlformats.org/officeDocument/2006/relationships/image" Target="../media/image25.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1.png"/><Relationship Id="rId8"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8.png"/><Relationship Id="rId4" Type="http://schemas.openxmlformats.org/officeDocument/2006/relationships/image" Target="../media/image23.png"/><Relationship Id="rId9" Type="http://schemas.openxmlformats.org/officeDocument/2006/relationships/image" Target="../media/image25.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1.png"/><Relationship Id="rId8"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7.png"/><Relationship Id="rId4" Type="http://schemas.openxmlformats.org/officeDocument/2006/relationships/image" Target="../media/image33.png"/><Relationship Id="rId5" Type="http://schemas.openxmlformats.org/officeDocument/2006/relationships/image" Target="../media/image29.png"/><Relationship Id="rId6" Type="http://schemas.openxmlformats.org/officeDocument/2006/relationships/image" Target="../media/image28.png"/><Relationship Id="rId7"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1.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4.png"/><Relationship Id="rId4" Type="http://schemas.openxmlformats.org/officeDocument/2006/relationships/image" Target="../media/image3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4.png"/><Relationship Id="rId4" Type="http://schemas.openxmlformats.org/officeDocument/2006/relationships/image" Target="../media/image39.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0.png"/><Relationship Id="rId4" Type="http://schemas.openxmlformats.org/officeDocument/2006/relationships/image" Target="../media/image34.png"/><Relationship Id="rId5" Type="http://schemas.openxmlformats.org/officeDocument/2006/relationships/image" Target="../media/image35.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0.png"/><Relationship Id="rId4" Type="http://schemas.openxmlformats.org/officeDocument/2006/relationships/image" Target="../media/image34.png"/><Relationship Id="rId5" Type="http://schemas.openxmlformats.org/officeDocument/2006/relationships/image" Target="../media/image35.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7.png"/><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7.png"/><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8.png"/><Relationship Id="rId4"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3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2.png"/><Relationship Id="rId4" Type="http://schemas.openxmlformats.org/officeDocument/2006/relationships/image" Target="../media/image34.png"/><Relationship Id="rId5" Type="http://schemas.openxmlformats.org/officeDocument/2006/relationships/image" Target="../media/image39.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2.png"/><Relationship Id="rId4" Type="http://schemas.openxmlformats.org/officeDocument/2006/relationships/image" Target="../media/image34.png"/><Relationship Id="rId5" Type="http://schemas.openxmlformats.org/officeDocument/2006/relationships/image" Target="../media/image39.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3.png"/><Relationship Id="rId4" Type="http://schemas.openxmlformats.org/officeDocument/2006/relationships/image" Target="../media/image34.png"/><Relationship Id="rId5" Type="http://schemas.openxmlformats.org/officeDocument/2006/relationships/image" Target="../media/image3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3.png"/><Relationship Id="rId4" Type="http://schemas.openxmlformats.org/officeDocument/2006/relationships/image" Target="../media/image34.png"/><Relationship Id="rId5" Type="http://schemas.openxmlformats.org/officeDocument/2006/relationships/image" Target="../media/image35.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5.png"/><Relationship Id="rId4" Type="http://schemas.openxmlformats.org/officeDocument/2006/relationships/image" Target="../media/image49.png"/><Relationship Id="rId5" Type="http://schemas.openxmlformats.org/officeDocument/2006/relationships/image" Target="../media/image46.png"/><Relationship Id="rId6" Type="http://schemas.openxmlformats.org/officeDocument/2006/relationships/image" Target="../media/image48.png"/><Relationship Id="rId7"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comments" Target="../comments/comment1.xml"/><Relationship Id="rId4" Type="http://schemas.openxmlformats.org/officeDocument/2006/relationships/image" Target="../media/image34.png"/><Relationship Id="rId5" Type="http://schemas.openxmlformats.org/officeDocument/2006/relationships/image" Target="../media/image45.png"/><Relationship Id="rId6" Type="http://schemas.openxmlformats.org/officeDocument/2006/relationships/image" Target="../media/image49.png"/><Relationship Id="rId7" Type="http://schemas.openxmlformats.org/officeDocument/2006/relationships/image" Target="../media/image46.png"/><Relationship Id="rId8" Type="http://schemas.openxmlformats.org/officeDocument/2006/relationships/image" Target="../media/image4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Naive Bayes classifier</a:t>
            </a:r>
            <a:r>
              <a:rPr lang="en"/>
              <a:t> for Fake News recognition</a:t>
            </a:r>
            <a:endParaRPr/>
          </a:p>
        </p:txBody>
      </p:sp>
      <p:sp>
        <p:nvSpPr>
          <p:cNvPr id="55" name="Google Shape;55;p13"/>
          <p:cNvSpPr txBox="1"/>
          <p:nvPr>
            <p:ph idx="1" type="subTitle"/>
          </p:nvPr>
        </p:nvSpPr>
        <p:spPr>
          <a:xfrm>
            <a:off x="311700" y="3341575"/>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t>Advanced Statistics for Physics Analysis</a:t>
            </a:r>
            <a:endParaRPr sz="2400"/>
          </a:p>
          <a:p>
            <a:pPr indent="0" lvl="0" marL="0" rtl="0" algn="l">
              <a:spcBef>
                <a:spcPts val="0"/>
              </a:spcBef>
              <a:spcAft>
                <a:spcPts val="0"/>
              </a:spcAft>
              <a:buNone/>
            </a:pPr>
            <a:r>
              <a:rPr lang="en" sz="1600"/>
              <a:t>Prof. Garfagnini</a:t>
            </a:r>
            <a:endParaRPr sz="1600"/>
          </a:p>
        </p:txBody>
      </p:sp>
      <p:sp>
        <p:nvSpPr>
          <p:cNvPr id="56" name="Google Shape;56;p13"/>
          <p:cNvSpPr/>
          <p:nvPr/>
        </p:nvSpPr>
        <p:spPr>
          <a:xfrm>
            <a:off x="0" y="4807200"/>
            <a:ext cx="9144000" cy="336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 name="Google Shape;57;p13" title="unipd.png"/>
          <p:cNvPicPr preferRelativeResize="0"/>
          <p:nvPr/>
        </p:nvPicPr>
        <p:blipFill>
          <a:blip r:embed="rId3">
            <a:alphaModFix/>
          </a:blip>
          <a:stretch>
            <a:fillRect/>
          </a:stretch>
        </p:blipFill>
        <p:spPr>
          <a:xfrm>
            <a:off x="7637275" y="3776150"/>
            <a:ext cx="1031050" cy="1031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Outline</a:t>
            </a:r>
            <a:endParaRPr b="1"/>
          </a:p>
        </p:txBody>
      </p:sp>
      <p:sp>
        <p:nvSpPr>
          <p:cNvPr id="63" name="Google Shape;63;p14"/>
          <p:cNvSpPr txBox="1"/>
          <p:nvPr>
            <p:ph idx="1" type="body"/>
          </p:nvPr>
        </p:nvSpPr>
        <p:spPr>
          <a:xfrm>
            <a:off x="526975" y="1221650"/>
            <a:ext cx="3999900" cy="34164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SzPts val="1400"/>
              <a:buChar char="●"/>
            </a:pPr>
            <a:r>
              <a:rPr lang="en"/>
              <a:t>What is the problem?</a:t>
            </a:r>
            <a:endParaRPr/>
          </a:p>
          <a:p>
            <a:pPr indent="0" lvl="0" marL="0" rtl="0" algn="l">
              <a:spcBef>
                <a:spcPts val="1200"/>
              </a:spcBef>
              <a:spcAft>
                <a:spcPts val="0"/>
              </a:spcAft>
              <a:buNone/>
            </a:pPr>
            <a:r>
              <a:t/>
            </a:r>
            <a:endParaRPr/>
          </a:p>
          <a:p>
            <a:pPr indent="-317500" lvl="0" marL="457200" rtl="0" algn="l">
              <a:spcBef>
                <a:spcPts val="1200"/>
              </a:spcBef>
              <a:spcAft>
                <a:spcPts val="0"/>
              </a:spcAft>
              <a:buSzPts val="1400"/>
              <a:buChar char="●"/>
            </a:pPr>
            <a:r>
              <a:rPr lang="en"/>
              <a:t>Datasets and preprocessing</a:t>
            </a:r>
            <a:endParaRPr/>
          </a:p>
          <a:p>
            <a:pPr indent="0" lvl="0" marL="0" rtl="0" algn="l">
              <a:spcBef>
                <a:spcPts val="1200"/>
              </a:spcBef>
              <a:spcAft>
                <a:spcPts val="0"/>
              </a:spcAft>
              <a:buNone/>
            </a:pPr>
            <a:r>
              <a:t/>
            </a:r>
            <a:endParaRPr/>
          </a:p>
          <a:p>
            <a:pPr indent="-317500" lvl="0" marL="457200" rtl="0" algn="l">
              <a:spcBef>
                <a:spcPts val="1200"/>
              </a:spcBef>
              <a:spcAft>
                <a:spcPts val="0"/>
              </a:spcAft>
              <a:buSzPts val="1400"/>
              <a:buChar char="●"/>
            </a:pPr>
            <a:r>
              <a:rPr lang="en"/>
              <a:t>The algorithm and </a:t>
            </a:r>
            <a:r>
              <a:rPr lang="en"/>
              <a:t>Its</a:t>
            </a:r>
            <a:r>
              <a:rPr lang="en"/>
              <a:t> Implementation in R</a:t>
            </a:r>
            <a:endParaRPr/>
          </a:p>
          <a:p>
            <a:pPr indent="0" lvl="0" marL="0" rtl="0" algn="l">
              <a:spcBef>
                <a:spcPts val="1200"/>
              </a:spcBef>
              <a:spcAft>
                <a:spcPts val="0"/>
              </a:spcAft>
              <a:buNone/>
            </a:pPr>
            <a:r>
              <a:t/>
            </a:r>
            <a:endParaRPr/>
          </a:p>
          <a:p>
            <a:pPr indent="-317500" lvl="0" marL="457200" rtl="0" algn="l">
              <a:spcBef>
                <a:spcPts val="1200"/>
              </a:spcBef>
              <a:spcAft>
                <a:spcPts val="0"/>
              </a:spcAft>
              <a:buSzPts val="1400"/>
              <a:buChar char="●"/>
            </a:pPr>
            <a:r>
              <a:rPr lang="en"/>
              <a:t>Evaluating the results</a:t>
            </a:r>
            <a:endParaRPr/>
          </a:p>
          <a:p>
            <a:pPr indent="0" lvl="0" marL="0" rtl="0" algn="l">
              <a:spcBef>
                <a:spcPts val="1200"/>
              </a:spcBef>
              <a:spcAft>
                <a:spcPts val="0"/>
              </a:spcAft>
              <a:buNone/>
            </a:pPr>
            <a:r>
              <a:t/>
            </a:r>
            <a:endParaRPr/>
          </a:p>
          <a:p>
            <a:pPr indent="-317500" lvl="0" marL="457200" rtl="0" algn="l">
              <a:spcBef>
                <a:spcPts val="1200"/>
              </a:spcBef>
              <a:spcAft>
                <a:spcPts val="0"/>
              </a:spcAft>
              <a:buSzPts val="1400"/>
              <a:buChar char="●"/>
            </a:pPr>
            <a:r>
              <a:rPr lang="en"/>
              <a:t>Conclusions</a:t>
            </a:r>
            <a:endParaRPr/>
          </a:p>
        </p:txBody>
      </p:sp>
      <p:pic>
        <p:nvPicPr>
          <p:cNvPr descr="Hand holding mobile phone. Fake news on smartphone screen. Social media with propaganda or hoax. Press with lies and disinformation. Cellphone isolated on white background. (Fornito da Getty Images)" id="64" name="Google Shape;64;p14"/>
          <p:cNvPicPr preferRelativeResize="0"/>
          <p:nvPr/>
        </p:nvPicPr>
        <p:blipFill>
          <a:blip r:embed="rId3">
            <a:alphaModFix/>
          </a:blip>
          <a:stretch>
            <a:fillRect/>
          </a:stretch>
        </p:blipFill>
        <p:spPr>
          <a:xfrm>
            <a:off x="5383703" y="1328000"/>
            <a:ext cx="2760825" cy="276217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What are fake news? And why does it matter?</a:t>
            </a:r>
            <a:endParaRPr b="1"/>
          </a:p>
        </p:txBody>
      </p:sp>
      <p:pic>
        <p:nvPicPr>
          <p:cNvPr descr="Newspaper with fake news. Red stamp - fake. Social media with propaganda or hoax. Cartoon design template. (Fornito da Getty Images)" id="70" name="Google Shape;70;p15"/>
          <p:cNvPicPr preferRelativeResize="0"/>
          <p:nvPr/>
        </p:nvPicPr>
        <p:blipFill>
          <a:blip r:embed="rId3">
            <a:alphaModFix/>
          </a:blip>
          <a:stretch>
            <a:fillRect/>
          </a:stretch>
        </p:blipFill>
        <p:spPr>
          <a:xfrm>
            <a:off x="6009900" y="1884250"/>
            <a:ext cx="2520827" cy="2520827"/>
          </a:xfrm>
          <a:prstGeom prst="rect">
            <a:avLst/>
          </a:prstGeom>
          <a:noFill/>
          <a:ln>
            <a:noFill/>
          </a:ln>
        </p:spPr>
      </p:pic>
      <p:sp>
        <p:nvSpPr>
          <p:cNvPr id="71" name="Google Shape;71;p15"/>
          <p:cNvSpPr txBox="1"/>
          <p:nvPr>
            <p:ph idx="1" type="body"/>
          </p:nvPr>
        </p:nvSpPr>
        <p:spPr>
          <a:xfrm>
            <a:off x="311700" y="1152475"/>
            <a:ext cx="8520600" cy="7803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b="1" lang="en"/>
              <a:t>Fake news: </a:t>
            </a:r>
            <a:r>
              <a:rPr lang="en"/>
              <a:t>false stories produced with the intent of </a:t>
            </a:r>
            <a:r>
              <a:rPr lang="en"/>
              <a:t>confusing or deceiving people.</a:t>
            </a:r>
            <a:r>
              <a:rPr lang="en"/>
              <a:t> </a:t>
            </a:r>
            <a:endParaRPr/>
          </a:p>
        </p:txBody>
      </p:sp>
      <p:sp>
        <p:nvSpPr>
          <p:cNvPr id="72" name="Google Shape;72;p15"/>
          <p:cNvSpPr txBox="1"/>
          <p:nvPr>
            <p:ph idx="1" type="body"/>
          </p:nvPr>
        </p:nvSpPr>
        <p:spPr>
          <a:xfrm>
            <a:off x="311700" y="2067525"/>
            <a:ext cx="5698200" cy="10989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They</a:t>
            </a:r>
            <a:r>
              <a:rPr lang="en"/>
              <a:t> represent a pressing issue, as the widespread use of </a:t>
            </a:r>
            <a:r>
              <a:rPr b="1" lang="en"/>
              <a:t>social media</a:t>
            </a:r>
            <a:r>
              <a:rPr lang="en"/>
              <a:t> has increased the speed at which false information spreads.</a:t>
            </a:r>
            <a:endParaRPr/>
          </a:p>
        </p:txBody>
      </p:sp>
      <p:sp>
        <p:nvSpPr>
          <p:cNvPr id="73" name="Google Shape;73;p15"/>
          <p:cNvSpPr txBox="1"/>
          <p:nvPr>
            <p:ph idx="1" type="body"/>
          </p:nvPr>
        </p:nvSpPr>
        <p:spPr>
          <a:xfrm>
            <a:off x="341400" y="3301175"/>
            <a:ext cx="5668500" cy="10989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We will tackle this by developing an algorithm for the prediction of fake news, based on text classification with the </a:t>
            </a:r>
            <a:r>
              <a:rPr b="1" lang="en"/>
              <a:t>Naive Bayes </a:t>
            </a:r>
            <a:r>
              <a:rPr lang="en"/>
              <a:t>method</a:t>
            </a: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Datasets</a:t>
            </a:r>
            <a:endParaRPr b="1"/>
          </a:p>
        </p:txBody>
      </p:sp>
      <p:sp>
        <p:nvSpPr>
          <p:cNvPr id="79" name="Google Shape;79;p16"/>
          <p:cNvSpPr txBox="1"/>
          <p:nvPr>
            <p:ph idx="1" type="body"/>
          </p:nvPr>
        </p:nvSpPr>
        <p:spPr>
          <a:xfrm>
            <a:off x="311700" y="1152475"/>
            <a:ext cx="8520600" cy="3581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Fake News Content Detection</a:t>
            </a:r>
            <a:endParaRPr/>
          </a:p>
          <a:p>
            <a:pPr indent="-317500" lvl="1" marL="914400" rtl="0" algn="l">
              <a:spcBef>
                <a:spcPts val="0"/>
              </a:spcBef>
              <a:spcAft>
                <a:spcPts val="0"/>
              </a:spcAft>
              <a:buSzPts val="1400"/>
              <a:buChar char="○"/>
            </a:pPr>
            <a:r>
              <a:rPr lang="en"/>
              <a:t>Train</a:t>
            </a:r>
            <a:endParaRPr/>
          </a:p>
          <a:p>
            <a:pPr indent="-317500" lvl="1" marL="914400" rtl="0" algn="l">
              <a:spcBef>
                <a:spcPts val="0"/>
              </a:spcBef>
              <a:spcAft>
                <a:spcPts val="0"/>
              </a:spcAft>
              <a:buSzPts val="1400"/>
              <a:buChar char="○"/>
            </a:pPr>
            <a:r>
              <a:rPr lang="en"/>
              <a:t>Test</a:t>
            </a:r>
            <a:endParaRPr/>
          </a:p>
          <a:p>
            <a:pPr indent="-317500" lvl="1" marL="914400" rtl="0" algn="l">
              <a:spcBef>
                <a:spcPts val="0"/>
              </a:spcBef>
              <a:spcAft>
                <a:spcPts val="0"/>
              </a:spcAft>
              <a:buSzPts val="1400"/>
              <a:buChar char="○"/>
            </a:pPr>
            <a:r>
              <a:rPr lang="en"/>
              <a:t>Sample submission</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Fake News Classification</a:t>
            </a:r>
            <a:endParaRPr/>
          </a:p>
          <a:p>
            <a:pPr indent="-317500" lvl="1" marL="914400" rtl="0" algn="l">
              <a:spcBef>
                <a:spcPts val="0"/>
              </a:spcBef>
              <a:spcAft>
                <a:spcPts val="0"/>
              </a:spcAft>
              <a:buSzPts val="1400"/>
              <a:buChar char="○"/>
            </a:pPr>
            <a:r>
              <a:rPr lang="en"/>
              <a:t>Train</a:t>
            </a:r>
            <a:endParaRPr/>
          </a:p>
          <a:p>
            <a:pPr indent="-317500" lvl="1" marL="914400" rtl="0" algn="l">
              <a:spcBef>
                <a:spcPts val="0"/>
              </a:spcBef>
              <a:spcAft>
                <a:spcPts val="0"/>
              </a:spcAft>
              <a:buSzPts val="1400"/>
              <a:buChar char="○"/>
            </a:pPr>
            <a:r>
              <a:rPr lang="en"/>
              <a:t>Test</a:t>
            </a:r>
            <a:endParaRPr/>
          </a:p>
          <a:p>
            <a:pPr indent="-317500" lvl="1" marL="914400" rtl="0" algn="l">
              <a:spcBef>
                <a:spcPts val="0"/>
              </a:spcBef>
              <a:spcAft>
                <a:spcPts val="0"/>
              </a:spcAft>
              <a:buSzPts val="1400"/>
              <a:buChar char="○"/>
            </a:pPr>
            <a:r>
              <a:rPr lang="en"/>
              <a:t>Evaluation</a:t>
            </a:r>
            <a:endParaRPr sz="1600"/>
          </a:p>
        </p:txBody>
      </p:sp>
      <p:pic>
        <p:nvPicPr>
          <p:cNvPr id="80" name="Google Shape;80;p16"/>
          <p:cNvPicPr preferRelativeResize="0"/>
          <p:nvPr/>
        </p:nvPicPr>
        <p:blipFill>
          <a:blip r:embed="rId3">
            <a:alphaModFix/>
          </a:blip>
          <a:stretch>
            <a:fillRect/>
          </a:stretch>
        </p:blipFill>
        <p:spPr>
          <a:xfrm>
            <a:off x="4915501" y="890242"/>
            <a:ext cx="3441200" cy="2582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2500">
                <a:solidFill>
                  <a:schemeClr val="dk2"/>
                </a:solidFill>
              </a:rPr>
              <a:t>🔍 Data Usage Strategy</a:t>
            </a:r>
            <a:endParaRPr b="1" sz="3700"/>
          </a:p>
        </p:txBody>
      </p:sp>
      <p:sp>
        <p:nvSpPr>
          <p:cNvPr id="86" name="Google Shape;86;p17"/>
          <p:cNvSpPr txBox="1"/>
          <p:nvPr>
            <p:ph idx="1" type="body"/>
          </p:nvPr>
        </p:nvSpPr>
        <p:spPr>
          <a:xfrm>
            <a:off x="311700" y="1152475"/>
            <a:ext cx="8520600" cy="8367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For the first the set w</a:t>
            </a:r>
            <a:r>
              <a:rPr lang="en" sz="1600"/>
              <a:t>e use only the training file because it’s the one that is labeled. To evaluate our model, we split it into training and validation sets.</a:t>
            </a:r>
            <a:endParaRPr sz="1600"/>
          </a:p>
        </p:txBody>
      </p:sp>
      <p:sp>
        <p:nvSpPr>
          <p:cNvPr id="87" name="Google Shape;87;p17"/>
          <p:cNvSpPr txBox="1"/>
          <p:nvPr/>
        </p:nvSpPr>
        <p:spPr>
          <a:xfrm>
            <a:off x="311700" y="2275725"/>
            <a:ext cx="8003100" cy="9975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Char char="●"/>
            </a:pPr>
            <a:r>
              <a:rPr lang="en" sz="1600">
                <a:solidFill>
                  <a:schemeClr val="dk2"/>
                </a:solidFill>
              </a:rPr>
              <a:t>For the second dataset, we use the evaluation data. This decision can be justified by our intention to test the method on a binary classification dataset with a similar number of samples as the first dataset.</a:t>
            </a:r>
            <a:endParaRPr/>
          </a:p>
        </p:txBody>
      </p:sp>
      <p:sp>
        <p:nvSpPr>
          <p:cNvPr id="88" name="Google Shape;88;p17"/>
          <p:cNvSpPr txBox="1"/>
          <p:nvPr/>
        </p:nvSpPr>
        <p:spPr>
          <a:xfrm>
            <a:off x="311700" y="3559775"/>
            <a:ext cx="8520600" cy="7143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2"/>
              </a:buClr>
              <a:buSzPts val="1600"/>
              <a:buChar char="●"/>
            </a:pPr>
            <a:r>
              <a:rPr lang="en" sz="1600">
                <a:solidFill>
                  <a:schemeClr val="dk2"/>
                </a:solidFill>
              </a:rPr>
              <a:t>We split our dataset into 80% for training and 20% for evaluating the performance of the model.</a:t>
            </a:r>
            <a:endParaRPr sz="16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What can we say about our data?</a:t>
            </a:r>
            <a:endParaRPr b="1"/>
          </a:p>
        </p:txBody>
      </p:sp>
      <p:sp>
        <p:nvSpPr>
          <p:cNvPr id="94" name="Google Shape;94;p18"/>
          <p:cNvSpPr txBox="1"/>
          <p:nvPr>
            <p:ph idx="1" type="body"/>
          </p:nvPr>
        </p:nvSpPr>
        <p:spPr>
          <a:xfrm>
            <a:off x="311700" y="1152475"/>
            <a:ext cx="8360100" cy="683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7200"/>
              <a:t>Fake News Content Detection</a:t>
            </a:r>
            <a:endParaRPr sz="7200"/>
          </a:p>
          <a:p>
            <a:pPr indent="0" lvl="0" marL="914400" rtl="0" algn="l">
              <a:spcBef>
                <a:spcPts val="1200"/>
              </a:spcBef>
              <a:spcAft>
                <a:spcPts val="1200"/>
              </a:spcAft>
              <a:buNone/>
            </a:pPr>
            <a:r>
              <a:t/>
            </a:r>
            <a:endParaRPr/>
          </a:p>
        </p:txBody>
      </p:sp>
      <p:sp>
        <p:nvSpPr>
          <p:cNvPr id="95" name="Google Shape;95;p18"/>
          <p:cNvSpPr txBox="1"/>
          <p:nvPr/>
        </p:nvSpPr>
        <p:spPr>
          <a:xfrm>
            <a:off x="4835525" y="1805250"/>
            <a:ext cx="3255300" cy="1957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Char char="●"/>
            </a:pPr>
            <a:r>
              <a:rPr lang="en" sz="1800">
                <a:solidFill>
                  <a:schemeClr val="dk2"/>
                </a:solidFill>
              </a:rPr>
              <a:t>6 different category labels</a:t>
            </a:r>
            <a:endParaRPr sz="1800">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True - 5</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Not-Known - 4</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Mostly-True - 3</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Half-True - 2</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False - 1</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Barely-True - 0</a:t>
            </a:r>
            <a:endParaRPr/>
          </a:p>
        </p:txBody>
      </p:sp>
      <p:sp>
        <p:nvSpPr>
          <p:cNvPr id="96" name="Google Shape;96;p18"/>
          <p:cNvSpPr txBox="1"/>
          <p:nvPr/>
        </p:nvSpPr>
        <p:spPr>
          <a:xfrm>
            <a:off x="311700" y="1805250"/>
            <a:ext cx="4077900" cy="1533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Char char="●"/>
            </a:pPr>
            <a:r>
              <a:rPr lang="en" sz="1800">
                <a:solidFill>
                  <a:schemeClr val="dk2"/>
                </a:solidFill>
              </a:rPr>
              <a:t>10240 labeled sample in Train</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3 columns</a:t>
            </a:r>
            <a:endParaRPr sz="1800">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Labels</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Text</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Text_Tag</a:t>
            </a:r>
            <a:endParaRPr/>
          </a:p>
        </p:txBody>
      </p:sp>
      <p:sp>
        <p:nvSpPr>
          <p:cNvPr id="97" name="Google Shape;97;p18"/>
          <p:cNvSpPr txBox="1"/>
          <p:nvPr/>
        </p:nvSpPr>
        <p:spPr>
          <a:xfrm>
            <a:off x="515225" y="4047825"/>
            <a:ext cx="43203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solidFill>
                  <a:schemeClr val="dk2"/>
                </a:solidFill>
              </a:rPr>
              <a:t>The dataset is clean, with no missing values or need for data type conversion.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What can we say about our data?</a:t>
            </a:r>
            <a:endParaRPr/>
          </a:p>
        </p:txBody>
      </p:sp>
      <p:sp>
        <p:nvSpPr>
          <p:cNvPr id="103" name="Google Shape;103;p19"/>
          <p:cNvSpPr txBox="1"/>
          <p:nvPr>
            <p:ph idx="1" type="body"/>
          </p:nvPr>
        </p:nvSpPr>
        <p:spPr>
          <a:xfrm>
            <a:off x="311700" y="1152475"/>
            <a:ext cx="8520600" cy="6753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7200"/>
              <a:t>Fake News Classification - Raw data</a:t>
            </a:r>
            <a:endParaRPr sz="7200"/>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04" name="Google Shape;104;p19"/>
          <p:cNvSpPr txBox="1"/>
          <p:nvPr/>
        </p:nvSpPr>
        <p:spPr>
          <a:xfrm>
            <a:off x="534750" y="1827775"/>
            <a:ext cx="3000000" cy="3000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Char char="●"/>
            </a:pPr>
            <a:r>
              <a:rPr lang="en" sz="1800">
                <a:solidFill>
                  <a:schemeClr val="dk2"/>
                </a:solidFill>
              </a:rPr>
              <a:t>36454 labeled sample in evaluation set</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342900" lvl="0" marL="457200" rtl="0" algn="l">
              <a:lnSpc>
                <a:spcPct val="115000"/>
              </a:lnSpc>
              <a:spcBef>
                <a:spcPts val="1200"/>
              </a:spcBef>
              <a:spcAft>
                <a:spcPts val="0"/>
              </a:spcAft>
              <a:buClr>
                <a:schemeClr val="dk2"/>
              </a:buClr>
              <a:buSzPts val="1800"/>
              <a:buChar char="●"/>
            </a:pPr>
            <a:r>
              <a:rPr lang="en" sz="1800">
                <a:solidFill>
                  <a:schemeClr val="dk2"/>
                </a:solidFill>
              </a:rPr>
              <a:t>1 column, but contains:</a:t>
            </a:r>
            <a:endParaRPr sz="1800">
              <a:solidFill>
                <a:schemeClr val="dk2"/>
              </a:solidFill>
            </a:endParaRPr>
          </a:p>
          <a:p>
            <a:pPr indent="-342900" lvl="1" marL="914400" rtl="0" algn="l">
              <a:lnSpc>
                <a:spcPct val="115000"/>
              </a:lnSpc>
              <a:spcBef>
                <a:spcPts val="0"/>
              </a:spcBef>
              <a:spcAft>
                <a:spcPts val="0"/>
              </a:spcAft>
              <a:buClr>
                <a:schemeClr val="dk2"/>
              </a:buClr>
              <a:buSzPts val="1800"/>
              <a:buChar char="○"/>
            </a:pPr>
            <a:r>
              <a:rPr lang="en" sz="1800">
                <a:solidFill>
                  <a:schemeClr val="dk2"/>
                </a:solidFill>
              </a:rPr>
              <a:t>Num(index)</a:t>
            </a:r>
            <a:endParaRPr sz="1800">
              <a:solidFill>
                <a:schemeClr val="dk2"/>
              </a:solidFill>
            </a:endParaRPr>
          </a:p>
          <a:p>
            <a:pPr indent="-342900" lvl="1" marL="914400" rtl="0" algn="l">
              <a:lnSpc>
                <a:spcPct val="115000"/>
              </a:lnSpc>
              <a:spcBef>
                <a:spcPts val="0"/>
              </a:spcBef>
              <a:spcAft>
                <a:spcPts val="0"/>
              </a:spcAft>
              <a:buClr>
                <a:schemeClr val="dk2"/>
              </a:buClr>
              <a:buSzPts val="1800"/>
              <a:buChar char="○"/>
            </a:pPr>
            <a:r>
              <a:rPr lang="en" sz="1800">
                <a:solidFill>
                  <a:schemeClr val="dk2"/>
                </a:solidFill>
              </a:rPr>
              <a:t>Title</a:t>
            </a:r>
            <a:endParaRPr sz="1800">
              <a:solidFill>
                <a:schemeClr val="dk2"/>
              </a:solidFill>
            </a:endParaRPr>
          </a:p>
          <a:p>
            <a:pPr indent="-342900" lvl="1" marL="914400" rtl="0" algn="l">
              <a:lnSpc>
                <a:spcPct val="115000"/>
              </a:lnSpc>
              <a:spcBef>
                <a:spcPts val="0"/>
              </a:spcBef>
              <a:spcAft>
                <a:spcPts val="0"/>
              </a:spcAft>
              <a:buClr>
                <a:schemeClr val="dk2"/>
              </a:buClr>
              <a:buSzPts val="1800"/>
              <a:buChar char="○"/>
            </a:pPr>
            <a:r>
              <a:rPr lang="en" sz="1800">
                <a:solidFill>
                  <a:schemeClr val="dk2"/>
                </a:solidFill>
              </a:rPr>
              <a:t>Text</a:t>
            </a:r>
            <a:endParaRPr sz="1800">
              <a:solidFill>
                <a:schemeClr val="dk2"/>
              </a:solidFill>
            </a:endParaRPr>
          </a:p>
          <a:p>
            <a:pPr indent="-342900" lvl="1" marL="914400" rtl="0" algn="l">
              <a:lnSpc>
                <a:spcPct val="115000"/>
              </a:lnSpc>
              <a:spcBef>
                <a:spcPts val="0"/>
              </a:spcBef>
              <a:spcAft>
                <a:spcPts val="0"/>
              </a:spcAft>
              <a:buClr>
                <a:schemeClr val="dk2"/>
              </a:buClr>
              <a:buSzPts val="1800"/>
              <a:buChar char="○"/>
            </a:pPr>
            <a:r>
              <a:rPr lang="en" sz="1800">
                <a:solidFill>
                  <a:schemeClr val="dk2"/>
                </a:solidFill>
              </a:rPr>
              <a:t>Label</a:t>
            </a:r>
            <a:endParaRPr/>
          </a:p>
        </p:txBody>
      </p:sp>
      <p:sp>
        <p:nvSpPr>
          <p:cNvPr id="105" name="Google Shape;105;p19"/>
          <p:cNvSpPr txBox="1"/>
          <p:nvPr/>
        </p:nvSpPr>
        <p:spPr>
          <a:xfrm>
            <a:off x="5169900" y="1827775"/>
            <a:ext cx="3000000" cy="966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Char char="●"/>
            </a:pPr>
            <a:r>
              <a:rPr lang="en" sz="1800">
                <a:solidFill>
                  <a:schemeClr val="dk2"/>
                </a:solidFill>
              </a:rPr>
              <a:t>Binary classification</a:t>
            </a:r>
            <a:endParaRPr sz="1800">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Fake(0)</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True(1)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What can we say about our data?</a:t>
            </a:r>
            <a:endParaRPr/>
          </a:p>
        </p:txBody>
      </p:sp>
      <p:sp>
        <p:nvSpPr>
          <p:cNvPr id="111" name="Google Shape;111;p20"/>
          <p:cNvSpPr txBox="1"/>
          <p:nvPr>
            <p:ph idx="1" type="body"/>
          </p:nvPr>
        </p:nvSpPr>
        <p:spPr>
          <a:xfrm>
            <a:off x="311700" y="1479425"/>
            <a:ext cx="3624300" cy="2610300"/>
          </a:xfrm>
          <a:prstGeom prst="rect">
            <a:avLst/>
          </a:prstGeom>
        </p:spPr>
        <p:txBody>
          <a:bodyPr anchorCtr="0" anchor="t" bIns="91425" lIns="91425" spcFirstLastPara="1" rIns="91425" wrap="square" tIns="91425">
            <a:normAutofit lnSpcReduction="10000"/>
          </a:bodyPr>
          <a:lstStyle/>
          <a:p>
            <a:pPr indent="-317500" lvl="0" marL="457200" rtl="0" algn="l">
              <a:spcBef>
                <a:spcPts val="1200"/>
              </a:spcBef>
              <a:spcAft>
                <a:spcPts val="0"/>
              </a:spcAft>
              <a:buSzPts val="1400"/>
              <a:buChar char="●"/>
            </a:pPr>
            <a:r>
              <a:rPr lang="en" sz="1100"/>
              <a:t>The dataset is not well-formatted.</a:t>
            </a:r>
            <a:br>
              <a:rPr lang="en" sz="1100"/>
            </a:br>
            <a:r>
              <a:rPr lang="en" sz="1100"/>
              <a:t> We split it’s column into four separate columns for better usability.</a:t>
            </a:r>
            <a:endParaRPr sz="1100"/>
          </a:p>
          <a:p>
            <a:pPr indent="0" lvl="0" marL="0" rtl="0" algn="l">
              <a:spcBef>
                <a:spcPts val="1200"/>
              </a:spcBef>
              <a:spcAft>
                <a:spcPts val="0"/>
              </a:spcAft>
              <a:buClr>
                <a:schemeClr val="dk1"/>
              </a:buClr>
              <a:buSzPts val="1100"/>
              <a:buFont typeface="Arial"/>
              <a:buNone/>
            </a:pPr>
            <a:r>
              <a:t/>
            </a:r>
            <a:endParaRPr sz="1100"/>
          </a:p>
          <a:p>
            <a:pPr indent="-317500" lvl="0" marL="457200" rtl="0" algn="l">
              <a:spcBef>
                <a:spcPts val="1200"/>
              </a:spcBef>
              <a:spcAft>
                <a:spcPts val="0"/>
              </a:spcAft>
              <a:buSzPts val="1400"/>
              <a:buChar char="●"/>
            </a:pPr>
            <a:r>
              <a:rPr lang="en" sz="1100"/>
              <a:t>Some rows contain missing or invalid labels, which we removed during cleaning.</a:t>
            </a:r>
            <a:endParaRPr sz="1100"/>
          </a:p>
          <a:p>
            <a:pPr indent="0" lvl="0" marL="0" rtl="0" algn="l">
              <a:spcBef>
                <a:spcPts val="1200"/>
              </a:spcBef>
              <a:spcAft>
                <a:spcPts val="0"/>
              </a:spcAft>
              <a:buClr>
                <a:schemeClr val="dk1"/>
              </a:buClr>
              <a:buSzPts val="1100"/>
              <a:buFont typeface="Arial"/>
              <a:buNone/>
            </a:pPr>
            <a:r>
              <a:t/>
            </a:r>
            <a:endParaRPr sz="1100"/>
          </a:p>
          <a:p>
            <a:pPr indent="-317500" lvl="0" marL="457200" rtl="0" algn="l">
              <a:spcBef>
                <a:spcPts val="1200"/>
              </a:spcBef>
              <a:spcAft>
                <a:spcPts val="0"/>
              </a:spcAft>
              <a:buSzPts val="1400"/>
              <a:buChar char="●"/>
            </a:pPr>
            <a:r>
              <a:rPr lang="en" sz="1100"/>
              <a:t>The </a:t>
            </a:r>
            <a:r>
              <a:rPr lang="en" sz="1100">
                <a:latin typeface="Roboto Mono"/>
                <a:ea typeface="Roboto Mono"/>
                <a:cs typeface="Roboto Mono"/>
                <a:sym typeface="Roboto Mono"/>
              </a:rPr>
              <a:t>Num</a:t>
            </a:r>
            <a:r>
              <a:rPr lang="en" sz="1100"/>
              <a:t> column serves only as an index and is not useful for analysis, so we dropped it.</a:t>
            </a:r>
            <a:endParaRPr sz="1400"/>
          </a:p>
        </p:txBody>
      </p:sp>
      <p:sp>
        <p:nvSpPr>
          <p:cNvPr id="112" name="Google Shape;112;p20"/>
          <p:cNvSpPr txBox="1"/>
          <p:nvPr/>
        </p:nvSpPr>
        <p:spPr>
          <a:xfrm>
            <a:off x="311700" y="1017725"/>
            <a:ext cx="7265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2"/>
                </a:solidFill>
              </a:rPr>
              <a:t>Fake News Classification - Raw data </a:t>
            </a:r>
            <a:r>
              <a:rPr lang="en" sz="1800">
                <a:solidFill>
                  <a:schemeClr val="dk2"/>
                </a:solidFill>
              </a:rPr>
              <a:t>Issues and Solutions</a:t>
            </a:r>
            <a:endParaRPr sz="1800"/>
          </a:p>
        </p:txBody>
      </p:sp>
      <p:sp>
        <p:nvSpPr>
          <p:cNvPr id="113" name="Google Shape;113;p20"/>
          <p:cNvSpPr txBox="1"/>
          <p:nvPr/>
        </p:nvSpPr>
        <p:spPr>
          <a:xfrm>
            <a:off x="4572000" y="1479425"/>
            <a:ext cx="4589400" cy="2722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2"/>
              </a:buClr>
              <a:buSzPts val="1100"/>
              <a:buChar char="●"/>
            </a:pPr>
            <a:r>
              <a:rPr lang="en" sz="1100">
                <a:solidFill>
                  <a:schemeClr val="dk2"/>
                </a:solidFill>
              </a:rPr>
              <a:t>We converted the Labels column to numeric to ensure consistency with the first dataset and to make it more suitable for modeling.</a:t>
            </a:r>
            <a:endParaRPr sz="1100">
              <a:solidFill>
                <a:schemeClr val="dk2"/>
              </a:solidFill>
            </a:endParaRPr>
          </a:p>
          <a:p>
            <a:pPr indent="0" lvl="0" marL="0" rtl="0" algn="l">
              <a:lnSpc>
                <a:spcPct val="115000"/>
              </a:lnSpc>
              <a:spcBef>
                <a:spcPts val="1200"/>
              </a:spcBef>
              <a:spcAft>
                <a:spcPts val="0"/>
              </a:spcAft>
              <a:buNone/>
            </a:pPr>
            <a:r>
              <a:t/>
            </a:r>
            <a:endParaRPr sz="1100">
              <a:solidFill>
                <a:schemeClr val="dk2"/>
              </a:solidFill>
            </a:endParaRPr>
          </a:p>
          <a:p>
            <a:pPr indent="-298450" lvl="0" marL="457200" rtl="0" algn="l">
              <a:lnSpc>
                <a:spcPct val="115000"/>
              </a:lnSpc>
              <a:spcBef>
                <a:spcPts val="1200"/>
              </a:spcBef>
              <a:spcAft>
                <a:spcPts val="0"/>
              </a:spcAft>
              <a:buClr>
                <a:schemeClr val="dk2"/>
              </a:buClr>
              <a:buSzPts val="1100"/>
              <a:buChar char="●"/>
            </a:pPr>
            <a:r>
              <a:rPr lang="en" sz="1100">
                <a:solidFill>
                  <a:schemeClr val="dk2"/>
                </a:solidFill>
              </a:rPr>
              <a:t>We reordered the columns to Labels, Text, and Text_Tag to improve clarity and maintain consistency.</a:t>
            </a:r>
            <a:endParaRPr sz="1100">
              <a:solidFill>
                <a:schemeClr val="dk2"/>
              </a:solidFill>
            </a:endParaRPr>
          </a:p>
          <a:p>
            <a:pPr indent="0" lvl="0" marL="457200" rtl="0" algn="l">
              <a:lnSpc>
                <a:spcPct val="115000"/>
              </a:lnSpc>
              <a:spcBef>
                <a:spcPts val="1200"/>
              </a:spcBef>
              <a:spcAft>
                <a:spcPts val="0"/>
              </a:spcAft>
              <a:buNone/>
            </a:pPr>
            <a:r>
              <a:t/>
            </a:r>
            <a:endParaRPr sz="1100">
              <a:solidFill>
                <a:schemeClr val="dk2"/>
              </a:solidFill>
            </a:endParaRPr>
          </a:p>
          <a:p>
            <a:pPr indent="-298450" lvl="0" marL="457200" rtl="0" algn="l">
              <a:lnSpc>
                <a:spcPct val="115000"/>
              </a:lnSpc>
              <a:spcBef>
                <a:spcPts val="1200"/>
              </a:spcBef>
              <a:spcAft>
                <a:spcPts val="0"/>
              </a:spcAft>
              <a:buClr>
                <a:schemeClr val="dk2"/>
              </a:buClr>
              <a:buSzPts val="1100"/>
              <a:buChar char="●"/>
            </a:pPr>
            <a:r>
              <a:rPr lang="en" sz="1100">
                <a:solidFill>
                  <a:schemeClr val="dk2"/>
                </a:solidFill>
              </a:rPr>
              <a:t>We removed Rows with Text entries shorter than 20 characters , as such short texts are unlikely to provide enough information for effective classification.</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What can we say about our data?</a:t>
            </a:r>
            <a:endParaRPr/>
          </a:p>
        </p:txBody>
      </p:sp>
      <p:sp>
        <p:nvSpPr>
          <p:cNvPr id="119" name="Google Shape;119;p21"/>
          <p:cNvSpPr txBox="1"/>
          <p:nvPr>
            <p:ph idx="1" type="body"/>
          </p:nvPr>
        </p:nvSpPr>
        <p:spPr>
          <a:xfrm>
            <a:off x="311700" y="1152475"/>
            <a:ext cx="8520600" cy="6753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7200"/>
              <a:t>Fake News Classification - Cleaned</a:t>
            </a:r>
            <a:endParaRPr sz="7200"/>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20" name="Google Shape;120;p21"/>
          <p:cNvSpPr txBox="1"/>
          <p:nvPr/>
        </p:nvSpPr>
        <p:spPr>
          <a:xfrm>
            <a:off x="5039400" y="1725175"/>
            <a:ext cx="3000000" cy="966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Char char="●"/>
            </a:pPr>
            <a:r>
              <a:rPr lang="en" sz="1800">
                <a:solidFill>
                  <a:schemeClr val="dk2"/>
                </a:solidFill>
              </a:rPr>
              <a:t>Binary classification</a:t>
            </a:r>
            <a:endParaRPr sz="1800">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Fake(0)</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True(1)</a:t>
            </a:r>
            <a:endParaRPr/>
          </a:p>
        </p:txBody>
      </p:sp>
      <p:sp>
        <p:nvSpPr>
          <p:cNvPr id="121" name="Google Shape;121;p21"/>
          <p:cNvSpPr txBox="1"/>
          <p:nvPr/>
        </p:nvSpPr>
        <p:spPr>
          <a:xfrm>
            <a:off x="311700" y="1805250"/>
            <a:ext cx="7727700" cy="2159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Char char="●"/>
            </a:pPr>
            <a:r>
              <a:rPr lang="en" sz="1800">
                <a:solidFill>
                  <a:schemeClr val="dk2"/>
                </a:solidFill>
              </a:rPr>
              <a:t>21662</a:t>
            </a:r>
            <a:r>
              <a:rPr lang="en" sz="1800">
                <a:solidFill>
                  <a:schemeClr val="dk2"/>
                </a:solidFill>
              </a:rPr>
              <a:t> labeled sample</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342900" lvl="0" marL="457200" rtl="0" algn="l">
              <a:lnSpc>
                <a:spcPct val="115000"/>
              </a:lnSpc>
              <a:spcBef>
                <a:spcPts val="1200"/>
              </a:spcBef>
              <a:spcAft>
                <a:spcPts val="0"/>
              </a:spcAft>
              <a:buClr>
                <a:schemeClr val="dk2"/>
              </a:buClr>
              <a:buSzPts val="1800"/>
              <a:buChar char="●"/>
            </a:pPr>
            <a:r>
              <a:rPr lang="en" sz="1800">
                <a:solidFill>
                  <a:schemeClr val="dk2"/>
                </a:solidFill>
              </a:rPr>
              <a:t>3 columns</a:t>
            </a:r>
            <a:endParaRPr sz="1800">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Labels</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Text</a:t>
            </a:r>
            <a:endParaRPr>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Text_Tag</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Distribution of Labels (Multi-class Data)</a:t>
            </a:r>
            <a:endParaRPr b="1"/>
          </a:p>
        </p:txBody>
      </p:sp>
      <p:pic>
        <p:nvPicPr>
          <p:cNvPr id="127" name="Google Shape;127;p22" title="label_distribution_multiclass_frequencies.png"/>
          <p:cNvPicPr preferRelativeResize="0"/>
          <p:nvPr/>
        </p:nvPicPr>
        <p:blipFill>
          <a:blip r:embed="rId3">
            <a:alphaModFix/>
          </a:blip>
          <a:stretch>
            <a:fillRect/>
          </a:stretch>
        </p:blipFill>
        <p:spPr>
          <a:xfrm>
            <a:off x="1893913" y="1177800"/>
            <a:ext cx="5356165" cy="3820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Distribution of Labels (Binary-class Data)</a:t>
            </a:r>
            <a:endParaRPr/>
          </a:p>
        </p:txBody>
      </p:sp>
      <p:pic>
        <p:nvPicPr>
          <p:cNvPr id="133" name="Google Shape;133;p23" title="label_distribution_binary.png"/>
          <p:cNvPicPr preferRelativeResize="0"/>
          <p:nvPr/>
        </p:nvPicPr>
        <p:blipFill>
          <a:blip r:embed="rId3">
            <a:alphaModFix/>
          </a:blip>
          <a:stretch>
            <a:fillRect/>
          </a:stretch>
        </p:blipFill>
        <p:spPr>
          <a:xfrm>
            <a:off x="2024688" y="1200875"/>
            <a:ext cx="5094630" cy="38209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Text Length Analysis </a:t>
            </a:r>
            <a:r>
              <a:rPr b="1" lang="en"/>
              <a:t>(Multi-class Data)</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lang="en" sz="2000"/>
              <a:t>T</a:t>
            </a:r>
            <a:r>
              <a:rPr lang="en" sz="1550"/>
              <a:t>ext Length Distribution </a:t>
            </a:r>
            <a:endParaRPr sz="1550"/>
          </a:p>
          <a:p>
            <a:pPr indent="0" lvl="0" marL="0" rtl="0" algn="l">
              <a:spcBef>
                <a:spcPts val="0"/>
              </a:spcBef>
              <a:spcAft>
                <a:spcPts val="0"/>
              </a:spcAft>
              <a:buNone/>
            </a:pPr>
            <a:r>
              <a:rPr lang="en" sz="1550"/>
              <a:t>in multi-class Data </a:t>
            </a:r>
            <a:endParaRPr sz="1550"/>
          </a:p>
          <a:p>
            <a:pPr indent="0" lvl="0" marL="0" rtl="0" algn="l">
              <a:spcBef>
                <a:spcPts val="0"/>
              </a:spcBef>
              <a:spcAft>
                <a:spcPts val="0"/>
              </a:spcAft>
              <a:buClr>
                <a:schemeClr val="dk1"/>
              </a:buClr>
              <a:buSzPct val="70967"/>
              <a:buFont typeface="Arial"/>
              <a:buNone/>
            </a:pPr>
            <a:r>
              <a:rPr lang="en" sz="1550"/>
              <a:t>(≤ 1000 Characters)</a:t>
            </a:r>
            <a:endParaRPr sz="1550"/>
          </a:p>
        </p:txBody>
      </p:sp>
      <p:pic>
        <p:nvPicPr>
          <p:cNvPr id="139" name="Google Shape;139;p24" title="Text_Length_Distribution_multiclass_Data.png"/>
          <p:cNvPicPr preferRelativeResize="0"/>
          <p:nvPr/>
        </p:nvPicPr>
        <p:blipFill>
          <a:blip r:embed="rId3">
            <a:alphaModFix/>
          </a:blip>
          <a:stretch>
            <a:fillRect/>
          </a:stretch>
        </p:blipFill>
        <p:spPr>
          <a:xfrm>
            <a:off x="2748713" y="1186875"/>
            <a:ext cx="5445622" cy="38209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5" title="Text_Length_by_Label.png"/>
          <p:cNvPicPr preferRelativeResize="0"/>
          <p:nvPr/>
        </p:nvPicPr>
        <p:blipFill>
          <a:blip r:embed="rId3">
            <a:alphaModFix/>
          </a:blip>
          <a:stretch>
            <a:fillRect/>
          </a:stretch>
        </p:blipFill>
        <p:spPr>
          <a:xfrm>
            <a:off x="0" y="285750"/>
            <a:ext cx="9144003" cy="45720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Text Length Analysis (Binary-class Data)</a:t>
            </a:r>
            <a:endParaRPr/>
          </a:p>
        </p:txBody>
      </p:sp>
      <p:sp>
        <p:nvSpPr>
          <p:cNvPr id="150" name="Google Shape;150;p26"/>
          <p:cNvSpPr txBox="1"/>
          <p:nvPr>
            <p:ph idx="1" type="body"/>
          </p:nvPr>
        </p:nvSpPr>
        <p:spPr>
          <a:xfrm>
            <a:off x="311700" y="1294475"/>
            <a:ext cx="288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Compared to the multiclass dataset, the binary class texts are generally longer. Some samples are extremely large, and we might consider treating them as outliers.</a:t>
            </a:r>
            <a:endParaRPr/>
          </a:p>
        </p:txBody>
      </p:sp>
      <p:pic>
        <p:nvPicPr>
          <p:cNvPr id="151" name="Google Shape;151;p26" title="Text_Length_Distribution_Binary_Data_All_Range.png"/>
          <p:cNvPicPr preferRelativeResize="0"/>
          <p:nvPr/>
        </p:nvPicPr>
        <p:blipFill>
          <a:blip r:embed="rId3">
            <a:alphaModFix/>
          </a:blip>
          <a:stretch>
            <a:fillRect/>
          </a:stretch>
        </p:blipFill>
        <p:spPr>
          <a:xfrm>
            <a:off x="3381322" y="1017725"/>
            <a:ext cx="5450977" cy="3824752"/>
          </a:xfrm>
          <a:prstGeom prst="rect">
            <a:avLst/>
          </a:prstGeom>
          <a:noFill/>
          <a:ln>
            <a:noFill/>
          </a:ln>
        </p:spPr>
      </p:pic>
      <p:pic>
        <p:nvPicPr>
          <p:cNvPr id="152" name="Google Shape;152;p26" title="Text_Length_Distribution_Binary_Data.png"/>
          <p:cNvPicPr preferRelativeResize="0"/>
          <p:nvPr/>
        </p:nvPicPr>
        <p:blipFill>
          <a:blip r:embed="rId4">
            <a:alphaModFix/>
          </a:blip>
          <a:stretch>
            <a:fillRect/>
          </a:stretch>
        </p:blipFill>
        <p:spPr>
          <a:xfrm>
            <a:off x="5748325" y="1294475"/>
            <a:ext cx="2812524" cy="2109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7" title="Text_Length_by_Label_Binary.png"/>
          <p:cNvPicPr preferRelativeResize="0"/>
          <p:nvPr/>
        </p:nvPicPr>
        <p:blipFill>
          <a:blip r:embed="rId3">
            <a:alphaModFix/>
          </a:blip>
          <a:stretch>
            <a:fillRect/>
          </a:stretch>
        </p:blipFill>
        <p:spPr>
          <a:xfrm>
            <a:off x="152400" y="361950"/>
            <a:ext cx="8839204" cy="44196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What about the “Third” column</a:t>
            </a:r>
            <a:endParaRPr b="1"/>
          </a:p>
        </p:txBody>
      </p:sp>
      <p:sp>
        <p:nvSpPr>
          <p:cNvPr id="163" name="Google Shape;163;p28"/>
          <p:cNvSpPr txBox="1"/>
          <p:nvPr>
            <p:ph idx="1" type="body"/>
          </p:nvPr>
        </p:nvSpPr>
        <p:spPr>
          <a:xfrm>
            <a:off x="311700" y="1229350"/>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1200"/>
              </a:spcBef>
              <a:spcAft>
                <a:spcPts val="0"/>
              </a:spcAft>
              <a:buSzPts val="1800"/>
              <a:buChar char="●"/>
            </a:pPr>
            <a:r>
              <a:rPr lang="en"/>
              <a:t>In the Naive Bayes modeling approach, we focused solely on the main Text and Labels, excluding other features like the news title or text_tag.</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While this approach simplifies the model, it may overlook valuable contextual cues.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More complex models, such as Neural Networks, could potentially leverage these additional features to improve classification accuracy by capturing deeper semantic relationships.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Distribution of Ne</a:t>
            </a:r>
            <a:r>
              <a:rPr b="1" lang="en"/>
              <a:t>ws</a:t>
            </a:r>
            <a:r>
              <a:rPr b="1" lang="en"/>
              <a:t> Tags in Multi-class data</a:t>
            </a:r>
            <a:endParaRPr b="1"/>
          </a:p>
        </p:txBody>
      </p:sp>
      <p:pic>
        <p:nvPicPr>
          <p:cNvPr id="169" name="Google Shape;169;p29" title="Text_Tag_Distribution.png"/>
          <p:cNvPicPr preferRelativeResize="0"/>
          <p:nvPr/>
        </p:nvPicPr>
        <p:blipFill>
          <a:blip r:embed="rId3">
            <a:alphaModFix/>
          </a:blip>
          <a:stretch>
            <a:fillRect/>
          </a:stretch>
        </p:blipFill>
        <p:spPr>
          <a:xfrm>
            <a:off x="152400" y="1170125"/>
            <a:ext cx="8839204" cy="3375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Top 15 News Tags in Multi-class data</a:t>
            </a:r>
            <a:endParaRPr b="1"/>
          </a:p>
        </p:txBody>
      </p:sp>
      <p:pic>
        <p:nvPicPr>
          <p:cNvPr id="175" name="Google Shape;175;p30" title="Text_Tag_Distribution_Top15.png"/>
          <p:cNvPicPr preferRelativeResize="0"/>
          <p:nvPr/>
        </p:nvPicPr>
        <p:blipFill>
          <a:blip r:embed="rId3">
            <a:alphaModFix/>
          </a:blip>
          <a:stretch>
            <a:fillRect/>
          </a:stretch>
        </p:blipFill>
        <p:spPr>
          <a:xfrm>
            <a:off x="152400" y="1170125"/>
            <a:ext cx="8839204" cy="33621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Label Distribution per Category (Text_Tag) - Top 10</a:t>
            </a:r>
            <a:endParaRPr b="1"/>
          </a:p>
        </p:txBody>
      </p:sp>
      <p:pic>
        <p:nvPicPr>
          <p:cNvPr id="181" name="Google Shape;181;p31" title="Label_Distribution_per_Category.png"/>
          <p:cNvPicPr preferRelativeResize="0"/>
          <p:nvPr/>
        </p:nvPicPr>
        <p:blipFill>
          <a:blip r:embed="rId3">
            <a:alphaModFix/>
          </a:blip>
          <a:stretch>
            <a:fillRect/>
          </a:stretch>
        </p:blipFill>
        <p:spPr>
          <a:xfrm>
            <a:off x="0" y="1111933"/>
            <a:ext cx="9143997" cy="349151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2500"/>
              <a:t>Label Distribution per Top 10 Category - </a:t>
            </a:r>
            <a:r>
              <a:rPr b="1" lang="en" sz="2500">
                <a:highlight>
                  <a:srgbClr val="FFFFFF"/>
                </a:highlight>
              </a:rPr>
              <a:t>Faceted Plots</a:t>
            </a:r>
            <a:endParaRPr b="1" sz="2500"/>
          </a:p>
        </p:txBody>
      </p:sp>
      <p:pic>
        <p:nvPicPr>
          <p:cNvPr id="187" name="Google Shape;187;p32" title="Label_Distribution_by_Top10_Tags.png"/>
          <p:cNvPicPr preferRelativeResize="0"/>
          <p:nvPr/>
        </p:nvPicPr>
        <p:blipFill>
          <a:blip r:embed="rId3">
            <a:alphaModFix/>
          </a:blip>
          <a:stretch>
            <a:fillRect/>
          </a:stretch>
        </p:blipFill>
        <p:spPr>
          <a:xfrm>
            <a:off x="152400" y="1170125"/>
            <a:ext cx="8839204" cy="339670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Train-validation Split &amp; Preprocessing</a:t>
            </a:r>
            <a:endParaRPr b="1"/>
          </a:p>
        </p:txBody>
      </p:sp>
      <p:sp>
        <p:nvSpPr>
          <p:cNvPr id="193" name="Google Shape;193;p33"/>
          <p:cNvSpPr txBox="1"/>
          <p:nvPr/>
        </p:nvSpPr>
        <p:spPr>
          <a:xfrm>
            <a:off x="4565425" y="1179200"/>
            <a:ext cx="4266900" cy="10497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2"/>
              </a:buClr>
              <a:buSzPts val="1400"/>
              <a:buChar char="●"/>
            </a:pPr>
            <a:r>
              <a:rPr lang="en">
                <a:solidFill>
                  <a:schemeClr val="dk2"/>
                </a:solidFill>
              </a:rPr>
              <a:t>Text Preprocessing &amp; Encoding:</a:t>
            </a:r>
            <a:endParaRPr>
              <a:solidFill>
                <a:schemeClr val="dk2"/>
              </a:solidFill>
            </a:endParaRPr>
          </a:p>
          <a:p>
            <a:pPr indent="0" lvl="0" marL="0" rtl="0" algn="l">
              <a:lnSpc>
                <a:spcPct val="115000"/>
              </a:lnSpc>
              <a:spcBef>
                <a:spcPts val="1200"/>
              </a:spcBef>
              <a:spcAft>
                <a:spcPts val="1200"/>
              </a:spcAft>
              <a:buNone/>
            </a:pPr>
            <a:r>
              <a:rPr lang="en">
                <a:solidFill>
                  <a:schemeClr val="dk2"/>
                </a:solidFill>
              </a:rPr>
              <a:t>Clean and standardize text, then convert to numeric format for compatibility with Naive Bayes.</a:t>
            </a:r>
            <a:endParaRPr/>
          </a:p>
        </p:txBody>
      </p:sp>
      <p:sp>
        <p:nvSpPr>
          <p:cNvPr id="194" name="Google Shape;194;p33"/>
          <p:cNvSpPr txBox="1"/>
          <p:nvPr/>
        </p:nvSpPr>
        <p:spPr>
          <a:xfrm>
            <a:off x="311700" y="1179200"/>
            <a:ext cx="3962400" cy="10497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2"/>
              </a:buClr>
              <a:buSzPts val="1400"/>
              <a:buChar char="●"/>
            </a:pPr>
            <a:r>
              <a:rPr lang="en">
                <a:solidFill>
                  <a:schemeClr val="dk2"/>
                </a:solidFill>
              </a:rPr>
              <a:t>Stratified Sampling (caret):</a:t>
            </a:r>
            <a:endParaRPr>
              <a:solidFill>
                <a:schemeClr val="dk2"/>
              </a:solidFill>
            </a:endParaRPr>
          </a:p>
          <a:p>
            <a:pPr indent="0" lvl="0" marL="0" rtl="0" algn="l">
              <a:lnSpc>
                <a:spcPct val="115000"/>
              </a:lnSpc>
              <a:spcBef>
                <a:spcPts val="1200"/>
              </a:spcBef>
              <a:spcAft>
                <a:spcPts val="1200"/>
              </a:spcAft>
              <a:buNone/>
            </a:pPr>
            <a:r>
              <a:rPr lang="en">
                <a:solidFill>
                  <a:schemeClr val="dk2"/>
                </a:solidFill>
              </a:rPr>
              <a:t>Ensures balanced class distribution in train-validation split.</a:t>
            </a:r>
            <a:endParaRPr/>
          </a:p>
        </p:txBody>
      </p:sp>
      <p:pic>
        <p:nvPicPr>
          <p:cNvPr id="195" name="Google Shape;195;p33" title="Train_Validation_Split.png"/>
          <p:cNvPicPr preferRelativeResize="0"/>
          <p:nvPr/>
        </p:nvPicPr>
        <p:blipFill>
          <a:blip r:embed="rId3">
            <a:alphaModFix/>
          </a:blip>
          <a:stretch>
            <a:fillRect/>
          </a:stretch>
        </p:blipFill>
        <p:spPr>
          <a:xfrm>
            <a:off x="152400" y="2381300"/>
            <a:ext cx="8705004" cy="26098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How can we prepare text sequences for classification</a:t>
            </a:r>
            <a:r>
              <a:rPr b="1" lang="en"/>
              <a:t>?</a:t>
            </a:r>
            <a:endParaRPr b="1"/>
          </a:p>
        </p:txBody>
      </p:sp>
      <p:sp>
        <p:nvSpPr>
          <p:cNvPr id="201" name="Google Shape;20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defined 4 different preprocessing steps and NLP techniques on our data and tried to compare their results and performances.</a:t>
            </a:r>
            <a:endParaRPr/>
          </a:p>
          <a:p>
            <a:pPr indent="-342900" lvl="0" marL="457200" rtl="0" algn="l">
              <a:spcBef>
                <a:spcPts val="1200"/>
              </a:spcBef>
              <a:spcAft>
                <a:spcPts val="0"/>
              </a:spcAft>
              <a:buSzPts val="1800"/>
              <a:buChar char="●"/>
            </a:pPr>
            <a:r>
              <a:rPr lang="en"/>
              <a:t>Basic processing</a:t>
            </a:r>
            <a:endParaRPr/>
          </a:p>
          <a:p>
            <a:pPr indent="-342900" lvl="0" marL="457200" rtl="0" algn="l">
              <a:spcBef>
                <a:spcPts val="0"/>
              </a:spcBef>
              <a:spcAft>
                <a:spcPts val="0"/>
              </a:spcAft>
              <a:buSzPts val="1800"/>
              <a:buChar char="●"/>
            </a:pPr>
            <a:r>
              <a:rPr lang="en"/>
              <a:t>Stopword removal</a:t>
            </a:r>
            <a:endParaRPr/>
          </a:p>
          <a:p>
            <a:pPr indent="-342900" lvl="0" marL="457200" rtl="0" algn="l">
              <a:spcBef>
                <a:spcPts val="0"/>
              </a:spcBef>
              <a:spcAft>
                <a:spcPts val="0"/>
              </a:spcAft>
              <a:buSzPts val="1800"/>
              <a:buChar char="●"/>
            </a:pPr>
            <a:r>
              <a:rPr lang="en"/>
              <a:t>S</a:t>
            </a:r>
            <a:r>
              <a:rPr lang="en"/>
              <a:t>temming</a:t>
            </a:r>
            <a:endParaRPr/>
          </a:p>
          <a:p>
            <a:pPr indent="-342900" lvl="0" marL="457200" rtl="0" algn="l">
              <a:spcBef>
                <a:spcPts val="0"/>
              </a:spcBef>
              <a:spcAft>
                <a:spcPts val="0"/>
              </a:spcAft>
              <a:buSzPts val="1800"/>
              <a:buChar char="●"/>
            </a:pPr>
            <a:r>
              <a:rPr lang="en"/>
              <a:t>Lemmatization</a:t>
            </a:r>
            <a:endParaRPr/>
          </a:p>
        </p:txBody>
      </p:sp>
      <p:sp>
        <p:nvSpPr>
          <p:cNvPr id="202" name="Google Shape;202;p34"/>
          <p:cNvSpPr txBox="1"/>
          <p:nvPr/>
        </p:nvSpPr>
        <p:spPr>
          <a:xfrm>
            <a:off x="4057100" y="2266025"/>
            <a:ext cx="4905900" cy="1856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2"/>
              </a:buClr>
              <a:buSzPts val="1200"/>
              <a:buChar char="●"/>
            </a:pPr>
            <a:r>
              <a:rPr lang="en" sz="1200">
                <a:solidFill>
                  <a:schemeClr val="dk2"/>
                </a:solidFill>
              </a:rPr>
              <a:t>Clean &amp; Tokenizing:</a:t>
            </a:r>
            <a:endParaRPr sz="1200">
              <a:solidFill>
                <a:schemeClr val="dk2"/>
              </a:solidFill>
            </a:endParaRPr>
          </a:p>
          <a:p>
            <a:pPr indent="-304800" lvl="1" marL="914400" rtl="0" algn="l">
              <a:lnSpc>
                <a:spcPct val="115000"/>
              </a:lnSpc>
              <a:spcBef>
                <a:spcPts val="0"/>
              </a:spcBef>
              <a:spcAft>
                <a:spcPts val="0"/>
              </a:spcAft>
              <a:buClr>
                <a:schemeClr val="dk2"/>
              </a:buClr>
              <a:buSzPts val="1200"/>
              <a:buChar char="○"/>
            </a:pPr>
            <a:r>
              <a:rPr lang="en" sz="1200">
                <a:solidFill>
                  <a:schemeClr val="dk2"/>
                </a:solidFill>
              </a:rPr>
              <a:t>Removing punctuation</a:t>
            </a:r>
            <a:endParaRPr sz="1200">
              <a:solidFill>
                <a:schemeClr val="dk2"/>
              </a:solidFill>
            </a:endParaRPr>
          </a:p>
          <a:p>
            <a:pPr indent="-304800" lvl="1" marL="914400" rtl="0" algn="l">
              <a:lnSpc>
                <a:spcPct val="115000"/>
              </a:lnSpc>
              <a:spcBef>
                <a:spcPts val="0"/>
              </a:spcBef>
              <a:spcAft>
                <a:spcPts val="0"/>
              </a:spcAft>
              <a:buClr>
                <a:schemeClr val="dk2"/>
              </a:buClr>
              <a:buSzPts val="1200"/>
              <a:buChar char="○"/>
            </a:pPr>
            <a:r>
              <a:rPr lang="en" sz="1200">
                <a:solidFill>
                  <a:schemeClr val="dk2"/>
                </a:solidFill>
              </a:rPr>
              <a:t>Replacing multiple spaces with a single space</a:t>
            </a:r>
            <a:endParaRPr sz="1200">
              <a:solidFill>
                <a:schemeClr val="dk2"/>
              </a:solidFill>
            </a:endParaRPr>
          </a:p>
          <a:p>
            <a:pPr indent="-304800" lvl="1" marL="914400" rtl="0" algn="l">
              <a:lnSpc>
                <a:spcPct val="115000"/>
              </a:lnSpc>
              <a:spcBef>
                <a:spcPts val="0"/>
              </a:spcBef>
              <a:spcAft>
                <a:spcPts val="0"/>
              </a:spcAft>
              <a:buClr>
                <a:schemeClr val="dk2"/>
              </a:buClr>
              <a:buSzPts val="1200"/>
              <a:buChar char="○"/>
            </a:pPr>
            <a:r>
              <a:rPr lang="en" sz="1200">
                <a:solidFill>
                  <a:schemeClr val="dk2"/>
                </a:solidFill>
              </a:rPr>
              <a:t>Converting all text to lowercase</a:t>
            </a:r>
            <a:endParaRPr sz="1200">
              <a:solidFill>
                <a:schemeClr val="dk2"/>
              </a:solidFill>
            </a:endParaRPr>
          </a:p>
          <a:p>
            <a:pPr indent="-304800" lvl="1" marL="914400" rtl="0" algn="l">
              <a:lnSpc>
                <a:spcPct val="115000"/>
              </a:lnSpc>
              <a:spcBef>
                <a:spcPts val="0"/>
              </a:spcBef>
              <a:spcAft>
                <a:spcPts val="0"/>
              </a:spcAft>
              <a:buClr>
                <a:schemeClr val="dk2"/>
              </a:buClr>
              <a:buSzPts val="1200"/>
              <a:buChar char="○"/>
            </a:pPr>
            <a:r>
              <a:rPr lang="en" sz="1200">
                <a:solidFill>
                  <a:schemeClr val="dk2"/>
                </a:solidFill>
              </a:rPr>
              <a:t>Splitting the text into individual word tokens</a:t>
            </a:r>
            <a:endParaRPr sz="1200">
              <a:solidFill>
                <a:schemeClr val="dk2"/>
              </a:solidFill>
            </a:endParaRPr>
          </a:p>
          <a:p>
            <a:pPr indent="-304800" lvl="0" marL="457200" rtl="0" algn="l">
              <a:lnSpc>
                <a:spcPct val="115000"/>
              </a:lnSpc>
              <a:spcBef>
                <a:spcPts val="0"/>
              </a:spcBef>
              <a:spcAft>
                <a:spcPts val="0"/>
              </a:spcAft>
              <a:buClr>
                <a:schemeClr val="dk2"/>
              </a:buClr>
              <a:buSzPts val="1200"/>
              <a:buChar char="●"/>
            </a:pPr>
            <a:r>
              <a:rPr lang="en" sz="1200">
                <a:solidFill>
                  <a:schemeClr val="dk2"/>
                </a:solidFill>
              </a:rPr>
              <a:t>Numerical Representation</a:t>
            </a:r>
            <a:endParaRPr sz="1200">
              <a:solidFill>
                <a:schemeClr val="dk2"/>
              </a:solidFill>
            </a:endParaRPr>
          </a:p>
          <a:p>
            <a:pPr indent="-304800" lvl="1" marL="914400" rtl="0" algn="l">
              <a:lnSpc>
                <a:spcPct val="115000"/>
              </a:lnSpc>
              <a:spcBef>
                <a:spcPts val="0"/>
              </a:spcBef>
              <a:spcAft>
                <a:spcPts val="0"/>
              </a:spcAft>
              <a:buClr>
                <a:schemeClr val="dk2"/>
              </a:buClr>
              <a:buSzPts val="1200"/>
              <a:buChar char="○"/>
            </a:pPr>
            <a:r>
              <a:rPr lang="en" sz="1200">
                <a:solidFill>
                  <a:schemeClr val="dk2"/>
                </a:solidFill>
              </a:rPr>
              <a:t>Identifies unique terms</a:t>
            </a:r>
            <a:endParaRPr sz="1200">
              <a:solidFill>
                <a:schemeClr val="dk2"/>
              </a:solidFill>
            </a:endParaRPr>
          </a:p>
          <a:p>
            <a:pPr indent="-304800" lvl="1" marL="914400" rtl="0" algn="l">
              <a:lnSpc>
                <a:spcPct val="115000"/>
              </a:lnSpc>
              <a:spcBef>
                <a:spcPts val="0"/>
              </a:spcBef>
              <a:spcAft>
                <a:spcPts val="0"/>
              </a:spcAft>
              <a:buClr>
                <a:schemeClr val="dk2"/>
              </a:buClr>
              <a:buSzPts val="1200"/>
              <a:buChar char="○"/>
            </a:pPr>
            <a:r>
              <a:rPr lang="en" sz="1200">
                <a:solidFill>
                  <a:schemeClr val="dk2"/>
                </a:solidFill>
              </a:rPr>
              <a:t>Assigns each term a unique numeric ID starting from 1</a:t>
            </a:r>
            <a:endParaRPr/>
          </a:p>
        </p:txBody>
      </p:sp>
      <p:cxnSp>
        <p:nvCxnSpPr>
          <p:cNvPr id="203" name="Google Shape;203;p34"/>
          <p:cNvCxnSpPr/>
          <p:nvPr/>
        </p:nvCxnSpPr>
        <p:spPr>
          <a:xfrm>
            <a:off x="2934600" y="2266025"/>
            <a:ext cx="991800" cy="945600"/>
          </a:xfrm>
          <a:prstGeom prst="curvedConnector3">
            <a:avLst>
              <a:gd fmla="val 50000" name="adj1"/>
            </a:avLst>
          </a:prstGeom>
          <a:noFill/>
          <a:ln cap="flat" cmpd="sng" w="9525">
            <a:solidFill>
              <a:schemeClr val="dk2"/>
            </a:solidFill>
            <a:prstDash val="solid"/>
            <a:round/>
            <a:headEnd len="med" w="med" type="none"/>
            <a:tailEnd len="med" w="med" type="none"/>
          </a:ln>
        </p:spPr>
      </p:cxnSp>
      <p:pic>
        <p:nvPicPr>
          <p:cNvPr id="204" name="Google Shape;204;p34"/>
          <p:cNvPicPr preferRelativeResize="0"/>
          <p:nvPr/>
        </p:nvPicPr>
        <p:blipFill>
          <a:blip r:embed="rId3">
            <a:alphaModFix/>
          </a:blip>
          <a:stretch>
            <a:fillRect/>
          </a:stretch>
        </p:blipFill>
        <p:spPr>
          <a:xfrm>
            <a:off x="390275" y="3650800"/>
            <a:ext cx="3666826" cy="1010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Developing More Advanced Text Processing</a:t>
            </a:r>
            <a:endParaRPr b="1"/>
          </a:p>
        </p:txBody>
      </p:sp>
      <p:sp>
        <p:nvSpPr>
          <p:cNvPr id="210" name="Google Shape;210;p35"/>
          <p:cNvSpPr txBox="1"/>
          <p:nvPr>
            <p:ph idx="1" type="body"/>
          </p:nvPr>
        </p:nvSpPr>
        <p:spPr>
          <a:xfrm>
            <a:off x="311700" y="1152475"/>
            <a:ext cx="7206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a:t>
            </a:r>
            <a:r>
              <a:rPr b="1" lang="en"/>
              <a:t>topword Removal:</a:t>
            </a:r>
            <a:endParaRPr b="1"/>
          </a:p>
          <a:p>
            <a:pPr indent="0" lvl="0" marL="0" rtl="0" algn="l">
              <a:spcBef>
                <a:spcPts val="1200"/>
              </a:spcBef>
              <a:spcAft>
                <a:spcPts val="1200"/>
              </a:spcAft>
              <a:buNone/>
            </a:pPr>
            <a:r>
              <a:rPr lang="en" sz="1400"/>
              <a:t>Performs basic preprocessing and removes short, common stopwords (under 4 characters), targeting high-frequency function words such as “the”, “and”, and “not”.</a:t>
            </a:r>
            <a:endParaRPr sz="1400"/>
          </a:p>
        </p:txBody>
      </p:sp>
      <p:pic>
        <p:nvPicPr>
          <p:cNvPr id="211" name="Google Shape;211;p35"/>
          <p:cNvPicPr preferRelativeResize="0"/>
          <p:nvPr/>
        </p:nvPicPr>
        <p:blipFill>
          <a:blip r:embed="rId3">
            <a:alphaModFix/>
          </a:blip>
          <a:stretch>
            <a:fillRect/>
          </a:stretch>
        </p:blipFill>
        <p:spPr>
          <a:xfrm>
            <a:off x="238125" y="2492400"/>
            <a:ext cx="8667750" cy="2019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Developing More Advanced Text Processing</a:t>
            </a:r>
            <a:endParaRPr/>
          </a:p>
        </p:txBody>
      </p:sp>
      <p:sp>
        <p:nvSpPr>
          <p:cNvPr id="217" name="Google Shape;217;p36"/>
          <p:cNvSpPr txBox="1"/>
          <p:nvPr>
            <p:ph idx="1" type="body"/>
          </p:nvPr>
        </p:nvSpPr>
        <p:spPr>
          <a:xfrm>
            <a:off x="311700" y="1152475"/>
            <a:ext cx="8520600" cy="2051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Stemming</a:t>
            </a:r>
            <a:endParaRPr b="1"/>
          </a:p>
          <a:p>
            <a:pPr indent="0" lvl="0" marL="0" rtl="0" algn="l">
              <a:spcBef>
                <a:spcPts val="1200"/>
              </a:spcBef>
              <a:spcAft>
                <a:spcPts val="0"/>
              </a:spcAft>
              <a:buNone/>
            </a:pPr>
            <a:r>
              <a:rPr lang="en" sz="1400"/>
              <a:t>In addition to basic preprocessing, we applied stemming to reduce words to their root form.</a:t>
            </a:r>
            <a:endParaRPr sz="1400"/>
          </a:p>
          <a:p>
            <a:pPr indent="0" lvl="0" marL="0" rtl="0" algn="l">
              <a:spcBef>
                <a:spcPts val="1200"/>
              </a:spcBef>
              <a:spcAft>
                <a:spcPts val="0"/>
              </a:spcAft>
              <a:buNone/>
            </a:pPr>
            <a:r>
              <a:rPr lang="en" sz="1400"/>
              <a:t>This helps unify word variants, reducing feature space sparsity. While effective for general meaning, it may produce non-standard word forms.</a:t>
            </a:r>
            <a:endParaRPr sz="1400"/>
          </a:p>
          <a:p>
            <a:pPr indent="0" lvl="0" marL="0" rtl="0" algn="l">
              <a:spcBef>
                <a:spcPts val="1200"/>
              </a:spcBef>
              <a:spcAft>
                <a:spcPts val="1200"/>
              </a:spcAft>
              <a:buNone/>
            </a:pPr>
            <a:r>
              <a:t/>
            </a:r>
            <a:endParaRPr/>
          </a:p>
        </p:txBody>
      </p:sp>
      <p:sp>
        <p:nvSpPr>
          <p:cNvPr id="218" name="Google Shape;218;p36"/>
          <p:cNvSpPr txBox="1"/>
          <p:nvPr/>
        </p:nvSpPr>
        <p:spPr>
          <a:xfrm>
            <a:off x="311700" y="2788825"/>
            <a:ext cx="2440200" cy="160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rPr>
              <a:t>"running" → "run"</a:t>
            </a:r>
            <a:endParaRPr>
              <a:solidFill>
                <a:schemeClr val="dk2"/>
              </a:solidFill>
            </a:endParaRPr>
          </a:p>
          <a:p>
            <a:pPr indent="0" lvl="0" marL="0" rtl="0" algn="l">
              <a:lnSpc>
                <a:spcPct val="115000"/>
              </a:lnSpc>
              <a:spcBef>
                <a:spcPts val="1200"/>
              </a:spcBef>
              <a:spcAft>
                <a:spcPts val="0"/>
              </a:spcAft>
              <a:buNone/>
            </a:pPr>
            <a:r>
              <a:rPr lang="en">
                <a:solidFill>
                  <a:schemeClr val="dk2"/>
                </a:solidFill>
              </a:rPr>
              <a:t>"better" → "better"</a:t>
            </a:r>
            <a:endParaRPr>
              <a:solidFill>
                <a:schemeClr val="dk2"/>
              </a:solidFill>
            </a:endParaRPr>
          </a:p>
          <a:p>
            <a:pPr indent="0" lvl="0" marL="0" rtl="0" algn="l">
              <a:lnSpc>
                <a:spcPct val="115000"/>
              </a:lnSpc>
              <a:spcBef>
                <a:spcPts val="1200"/>
              </a:spcBef>
              <a:spcAft>
                <a:spcPts val="0"/>
              </a:spcAft>
              <a:buNone/>
            </a:pPr>
            <a:r>
              <a:rPr lang="en">
                <a:solidFill>
                  <a:schemeClr val="dk2"/>
                </a:solidFill>
              </a:rPr>
              <a:t>"played" → "play"</a:t>
            </a:r>
            <a:endParaRPr>
              <a:solidFill>
                <a:schemeClr val="dk2"/>
              </a:solidFill>
            </a:endParaRPr>
          </a:p>
          <a:p>
            <a:pPr indent="0" lvl="0" marL="0" rtl="0" algn="l">
              <a:lnSpc>
                <a:spcPct val="115000"/>
              </a:lnSpc>
              <a:spcBef>
                <a:spcPts val="1200"/>
              </a:spcBef>
              <a:spcAft>
                <a:spcPts val="1200"/>
              </a:spcAft>
              <a:buNone/>
            </a:pPr>
            <a:r>
              <a:rPr lang="en">
                <a:solidFill>
                  <a:schemeClr val="dk2"/>
                </a:solidFill>
              </a:rPr>
              <a:t>"connection" → "connect"</a:t>
            </a:r>
            <a:endParaRPr/>
          </a:p>
        </p:txBody>
      </p:sp>
      <p:sp>
        <p:nvSpPr>
          <p:cNvPr id="219" name="Google Shape;219;p36"/>
          <p:cNvSpPr txBox="1"/>
          <p:nvPr/>
        </p:nvSpPr>
        <p:spPr>
          <a:xfrm>
            <a:off x="4651450" y="2788825"/>
            <a:ext cx="3000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note: not always a real word</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"flies" → "fli"</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"studies" → "studi"</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"says" → "sai"</a:t>
            </a:r>
            <a:endParaRPr>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500">
                <a:solidFill>
                  <a:schemeClr val="dk2"/>
                </a:solidFill>
              </a:rPr>
              <a:t>Stemming</a:t>
            </a:r>
            <a:endParaRPr b="1" sz="2500"/>
          </a:p>
        </p:txBody>
      </p:sp>
      <p:sp>
        <p:nvSpPr>
          <p:cNvPr id="225" name="Google Shape;225;p37"/>
          <p:cNvSpPr txBox="1"/>
          <p:nvPr>
            <p:ph idx="1" type="body"/>
          </p:nvPr>
        </p:nvSpPr>
        <p:spPr>
          <a:xfrm>
            <a:off x="311700" y="1152475"/>
            <a:ext cx="8520600" cy="15369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en" sz="1400"/>
              <a:t>Purpose:</a:t>
            </a:r>
            <a:endParaRPr b="1" sz="1400"/>
          </a:p>
          <a:p>
            <a:pPr indent="-317500" lvl="1" marL="914400" rtl="0" algn="l">
              <a:spcBef>
                <a:spcPts val="0"/>
              </a:spcBef>
              <a:spcAft>
                <a:spcPts val="0"/>
              </a:spcAft>
              <a:buSzPts val="1400"/>
              <a:buChar char="○"/>
            </a:pPr>
            <a:r>
              <a:rPr lang="en"/>
              <a:t>Groups different forms of a word (e.g., "run", "running", "runs") into a single token.</a:t>
            </a:r>
            <a:endParaRPr/>
          </a:p>
          <a:p>
            <a:pPr indent="-317500" lvl="1" marL="914400" rtl="0" algn="l">
              <a:spcBef>
                <a:spcPts val="0"/>
              </a:spcBef>
              <a:spcAft>
                <a:spcPts val="0"/>
              </a:spcAft>
              <a:buSzPts val="1400"/>
              <a:buChar char="○"/>
            </a:pPr>
            <a:r>
              <a:rPr lang="en"/>
              <a:t>Reduces vocabulary size.</a:t>
            </a:r>
            <a:endParaRPr/>
          </a:p>
          <a:p>
            <a:pPr indent="-317500" lvl="1" marL="914400" rtl="0" algn="l">
              <a:spcBef>
                <a:spcPts val="0"/>
              </a:spcBef>
              <a:spcAft>
                <a:spcPts val="0"/>
              </a:spcAft>
              <a:buSzPts val="1400"/>
              <a:buChar char="○"/>
            </a:pPr>
            <a:r>
              <a:rPr lang="en"/>
              <a:t>Helps machine learning models treat related words as the same feature.</a:t>
            </a:r>
            <a:endParaRPr/>
          </a:p>
        </p:txBody>
      </p:sp>
      <p:sp>
        <p:nvSpPr>
          <p:cNvPr id="226" name="Google Shape;226;p37"/>
          <p:cNvSpPr txBox="1"/>
          <p:nvPr/>
        </p:nvSpPr>
        <p:spPr>
          <a:xfrm>
            <a:off x="311700" y="3581225"/>
            <a:ext cx="2698500" cy="1011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Char char="●"/>
            </a:pPr>
            <a:r>
              <a:rPr b="1" lang="en" sz="1800">
                <a:solidFill>
                  <a:schemeClr val="dk2"/>
                </a:solidFill>
              </a:rPr>
              <a:t> </a:t>
            </a:r>
            <a:r>
              <a:rPr b="1" lang="en" sz="1000">
                <a:solidFill>
                  <a:schemeClr val="dk2"/>
                </a:solidFill>
              </a:rPr>
              <a:t>Common Algorithms:</a:t>
            </a:r>
            <a:endParaRPr b="1" sz="1000">
              <a:solidFill>
                <a:schemeClr val="dk2"/>
              </a:solidFill>
            </a:endParaRPr>
          </a:p>
          <a:p>
            <a:pPr indent="-292100" lvl="1" marL="914400" rtl="0" algn="l">
              <a:lnSpc>
                <a:spcPct val="115000"/>
              </a:lnSpc>
              <a:spcBef>
                <a:spcPts val="0"/>
              </a:spcBef>
              <a:spcAft>
                <a:spcPts val="0"/>
              </a:spcAft>
              <a:buClr>
                <a:schemeClr val="dk2"/>
              </a:buClr>
              <a:buSzPts val="1000"/>
              <a:buChar char="○"/>
            </a:pPr>
            <a:r>
              <a:rPr lang="en" sz="1000">
                <a:solidFill>
                  <a:schemeClr val="dk2"/>
                </a:solidFill>
              </a:rPr>
              <a:t>Snowball Stemmer</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lang="en" sz="1000">
                <a:solidFill>
                  <a:schemeClr val="dk2"/>
                </a:solidFill>
              </a:rPr>
              <a:t>Porter Stemmer</a:t>
            </a:r>
            <a:endParaRPr sz="1000">
              <a:solidFill>
                <a:schemeClr val="dk2"/>
              </a:solidFill>
            </a:endParaRPr>
          </a:p>
          <a:p>
            <a:pPr indent="-292100" lvl="1" marL="914400" rtl="0" algn="l">
              <a:lnSpc>
                <a:spcPct val="115000"/>
              </a:lnSpc>
              <a:spcBef>
                <a:spcPts val="0"/>
              </a:spcBef>
              <a:spcAft>
                <a:spcPts val="0"/>
              </a:spcAft>
              <a:buClr>
                <a:schemeClr val="dk2"/>
              </a:buClr>
              <a:buSzPts val="1000"/>
              <a:buChar char="○"/>
            </a:pPr>
            <a:r>
              <a:rPr lang="en" sz="1000">
                <a:solidFill>
                  <a:schemeClr val="dk2"/>
                </a:solidFill>
              </a:rPr>
              <a:t>Lancaster Stemmer</a:t>
            </a:r>
            <a:endParaRPr sz="1000"/>
          </a:p>
        </p:txBody>
      </p:sp>
      <p:sp>
        <p:nvSpPr>
          <p:cNvPr id="227" name="Google Shape;227;p37"/>
          <p:cNvSpPr txBox="1"/>
          <p:nvPr/>
        </p:nvSpPr>
        <p:spPr>
          <a:xfrm>
            <a:off x="311700" y="2301500"/>
            <a:ext cx="8152800" cy="8019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Char char="●"/>
            </a:pPr>
            <a:r>
              <a:rPr b="1" lang="en">
                <a:solidFill>
                  <a:schemeClr val="dk2"/>
                </a:solidFill>
              </a:rPr>
              <a:t> Limitation:</a:t>
            </a:r>
            <a:endParaRPr b="1">
              <a:solidFill>
                <a:schemeClr val="dk2"/>
              </a:solidFill>
            </a:endParaRPr>
          </a:p>
          <a:p>
            <a:pPr indent="0" lvl="0" marL="0" rtl="0" algn="l">
              <a:lnSpc>
                <a:spcPct val="115000"/>
              </a:lnSpc>
              <a:spcBef>
                <a:spcPts val="1200"/>
              </a:spcBef>
              <a:spcAft>
                <a:spcPts val="1200"/>
              </a:spcAft>
              <a:buNone/>
            </a:pPr>
            <a:r>
              <a:rPr lang="en">
                <a:solidFill>
                  <a:schemeClr val="dk2"/>
                </a:solidFill>
              </a:rPr>
              <a:t>Stemming can be aggressive and may produce non-dictionary forms (e.g., "studies" → "studi").</a:t>
            </a:r>
            <a:endParaRPr/>
          </a:p>
        </p:txBody>
      </p:sp>
      <p:pic>
        <p:nvPicPr>
          <p:cNvPr id="228" name="Google Shape;228;p37"/>
          <p:cNvPicPr preferRelativeResize="0"/>
          <p:nvPr/>
        </p:nvPicPr>
        <p:blipFill>
          <a:blip r:embed="rId3">
            <a:alphaModFix/>
          </a:blip>
          <a:stretch>
            <a:fillRect/>
          </a:stretch>
        </p:blipFill>
        <p:spPr>
          <a:xfrm>
            <a:off x="2834122" y="3356113"/>
            <a:ext cx="5853175" cy="14615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Developing More Advanced Text Processing</a:t>
            </a:r>
            <a:endParaRPr/>
          </a:p>
        </p:txBody>
      </p:sp>
      <p:sp>
        <p:nvSpPr>
          <p:cNvPr id="234" name="Google Shape;234;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b="1" lang="en"/>
              <a:t>Lemmatization</a:t>
            </a:r>
            <a:endParaRPr/>
          </a:p>
          <a:p>
            <a:pPr indent="0" lvl="0" marL="0" rtl="0" algn="l">
              <a:spcBef>
                <a:spcPts val="1200"/>
              </a:spcBef>
              <a:spcAft>
                <a:spcPts val="0"/>
              </a:spcAft>
              <a:buNone/>
            </a:pPr>
            <a:r>
              <a:rPr lang="en" sz="1400"/>
              <a:t>is the process of reducing words to their base or dictionary form, known as the lemma.</a:t>
            </a:r>
            <a:endParaRPr sz="1400"/>
          </a:p>
          <a:p>
            <a:pPr indent="0" lvl="0" marL="0" rtl="0" algn="l">
              <a:spcBef>
                <a:spcPts val="1200"/>
              </a:spcBef>
              <a:spcAft>
                <a:spcPts val="0"/>
              </a:spcAft>
              <a:buClr>
                <a:schemeClr val="dk1"/>
              </a:buClr>
              <a:buSzPts val="1100"/>
              <a:buFont typeface="Arial"/>
              <a:buNone/>
            </a:pPr>
            <a:r>
              <a:rPr lang="en" sz="1400"/>
              <a:t>Unlike stemming, lemmatization considers the context and grammar of the word, ensuring the resulting form is a valid word.</a:t>
            </a:r>
            <a:endParaRPr sz="1400"/>
          </a:p>
          <a:p>
            <a:pPr indent="0" lvl="0" marL="0" rtl="0" algn="l">
              <a:spcBef>
                <a:spcPts val="1200"/>
              </a:spcBef>
              <a:spcAft>
                <a:spcPts val="1200"/>
              </a:spcAft>
              <a:buNone/>
            </a:pPr>
            <a:r>
              <a:t/>
            </a:r>
            <a:endParaRPr/>
          </a:p>
        </p:txBody>
      </p:sp>
      <p:sp>
        <p:nvSpPr>
          <p:cNvPr id="235" name="Google Shape;235;p38"/>
          <p:cNvSpPr txBox="1"/>
          <p:nvPr/>
        </p:nvSpPr>
        <p:spPr>
          <a:xfrm>
            <a:off x="503900" y="3365275"/>
            <a:ext cx="1997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a:solidFill>
                <a:schemeClr val="dk2"/>
              </a:solidFill>
            </a:endParaRPr>
          </a:p>
        </p:txBody>
      </p:sp>
      <p:sp>
        <p:nvSpPr>
          <p:cNvPr id="236" name="Google Shape;236;p38"/>
          <p:cNvSpPr txBox="1"/>
          <p:nvPr/>
        </p:nvSpPr>
        <p:spPr>
          <a:xfrm>
            <a:off x="2929275" y="3365275"/>
            <a:ext cx="146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pic>
        <p:nvPicPr>
          <p:cNvPr id="237" name="Google Shape;237;p38"/>
          <p:cNvPicPr preferRelativeResize="0"/>
          <p:nvPr/>
        </p:nvPicPr>
        <p:blipFill>
          <a:blip r:embed="rId3">
            <a:alphaModFix/>
          </a:blip>
          <a:stretch>
            <a:fillRect/>
          </a:stretch>
        </p:blipFill>
        <p:spPr>
          <a:xfrm>
            <a:off x="522063" y="2927200"/>
            <a:ext cx="8099875" cy="1996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2500">
                <a:solidFill>
                  <a:schemeClr val="dk2"/>
                </a:solidFill>
              </a:rPr>
              <a:t>Lemmatization</a:t>
            </a:r>
            <a:endParaRPr b="1" sz="2500"/>
          </a:p>
        </p:txBody>
      </p:sp>
      <p:sp>
        <p:nvSpPr>
          <p:cNvPr id="243" name="Google Shape;243;p39"/>
          <p:cNvSpPr txBox="1"/>
          <p:nvPr/>
        </p:nvSpPr>
        <p:spPr>
          <a:xfrm>
            <a:off x="311700" y="1017725"/>
            <a:ext cx="6188700" cy="1391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1"/>
              </a:buClr>
              <a:buSzPts val="1400"/>
              <a:buChar char="●"/>
            </a:pPr>
            <a:r>
              <a:rPr lang="en">
                <a:solidFill>
                  <a:schemeClr val="dk1"/>
                </a:solidFill>
              </a:rPr>
              <a:t>Pros:</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Linguistically accurate: Returns real words</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Context-aware: Considers part of speech and grammar.</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Reduces noise: Improves consistency in features for text models.</a:t>
            </a:r>
            <a:endParaRPr/>
          </a:p>
        </p:txBody>
      </p:sp>
      <p:sp>
        <p:nvSpPr>
          <p:cNvPr id="244" name="Google Shape;244;p39"/>
          <p:cNvSpPr txBox="1"/>
          <p:nvPr/>
        </p:nvSpPr>
        <p:spPr>
          <a:xfrm>
            <a:off x="311700" y="2409125"/>
            <a:ext cx="67227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1"/>
              </a:buClr>
              <a:buSzPts val="1400"/>
              <a:buChar char="●"/>
            </a:pPr>
            <a:r>
              <a:rPr lang="en">
                <a:solidFill>
                  <a:schemeClr val="dk1"/>
                </a:solidFill>
              </a:rPr>
              <a:t>Cons:</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More complex and Slower</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Language-dependent: Requires a lemmatizer for each language.</a:t>
            </a:r>
            <a:endParaRPr/>
          </a:p>
        </p:txBody>
      </p:sp>
      <p:sp>
        <p:nvSpPr>
          <p:cNvPr id="245" name="Google Shape;245;p39"/>
          <p:cNvSpPr txBox="1"/>
          <p:nvPr/>
        </p:nvSpPr>
        <p:spPr>
          <a:xfrm>
            <a:off x="1128650" y="3683400"/>
            <a:ext cx="3000000" cy="12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dk2"/>
                </a:solidFill>
              </a:rPr>
              <a:t>"running" → "run"</a:t>
            </a:r>
            <a:endParaRPr>
              <a:solidFill>
                <a:schemeClr val="dk2"/>
              </a:solidFill>
            </a:endParaRPr>
          </a:p>
          <a:p>
            <a:pPr indent="0" lvl="0" marL="0" rtl="0" algn="l">
              <a:lnSpc>
                <a:spcPct val="115000"/>
              </a:lnSpc>
              <a:spcBef>
                <a:spcPts val="1200"/>
              </a:spcBef>
              <a:spcAft>
                <a:spcPts val="0"/>
              </a:spcAft>
              <a:buNone/>
            </a:pPr>
            <a:r>
              <a:rPr lang="en">
                <a:solidFill>
                  <a:schemeClr val="dk2"/>
                </a:solidFill>
              </a:rPr>
              <a:t>"studies" → "study"</a:t>
            </a:r>
            <a:endParaRPr>
              <a:solidFill>
                <a:schemeClr val="dk2"/>
              </a:solidFill>
            </a:endParaRPr>
          </a:p>
          <a:p>
            <a:pPr indent="0" lvl="0" marL="0" rtl="0" algn="l">
              <a:lnSpc>
                <a:spcPct val="115000"/>
              </a:lnSpc>
              <a:spcBef>
                <a:spcPts val="1200"/>
              </a:spcBef>
              <a:spcAft>
                <a:spcPts val="1200"/>
              </a:spcAft>
              <a:buNone/>
            </a:pPr>
            <a:r>
              <a:rPr lang="en">
                <a:solidFill>
                  <a:schemeClr val="dk2"/>
                </a:solidFill>
              </a:rPr>
              <a:t>"better" → "good"</a:t>
            </a:r>
            <a:endParaRPr/>
          </a:p>
        </p:txBody>
      </p:sp>
      <p:sp>
        <p:nvSpPr>
          <p:cNvPr id="246" name="Google Shape;246;p39"/>
          <p:cNvSpPr txBox="1"/>
          <p:nvPr/>
        </p:nvSpPr>
        <p:spPr>
          <a:xfrm>
            <a:off x="4128650" y="3668700"/>
            <a:ext cx="3000000" cy="123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dk2"/>
                </a:solidFill>
              </a:rPr>
              <a:t>"was" → "be"</a:t>
            </a:r>
            <a:endParaRPr>
              <a:solidFill>
                <a:schemeClr val="dk2"/>
              </a:solidFill>
            </a:endParaRPr>
          </a:p>
          <a:p>
            <a:pPr indent="0" lvl="0" marL="0" rtl="0" algn="l">
              <a:spcBef>
                <a:spcPts val="1200"/>
              </a:spcBef>
              <a:spcAft>
                <a:spcPts val="0"/>
              </a:spcAft>
              <a:buNone/>
            </a:pPr>
            <a:r>
              <a:rPr lang="en">
                <a:solidFill>
                  <a:schemeClr val="dk2"/>
                </a:solidFill>
              </a:rPr>
              <a:t>"flies" → "fly"</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"says" → "say"</a:t>
            </a:r>
            <a:endParaRPr/>
          </a:p>
        </p:txBody>
      </p:sp>
      <p:sp>
        <p:nvSpPr>
          <p:cNvPr id="247" name="Google Shape;247;p39"/>
          <p:cNvSpPr txBox="1"/>
          <p:nvPr/>
        </p:nvSpPr>
        <p:spPr>
          <a:xfrm>
            <a:off x="6096850" y="3668700"/>
            <a:ext cx="3000000" cy="12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dk2"/>
                </a:solidFill>
              </a:rPr>
              <a:t>"children" → "child"</a:t>
            </a:r>
            <a:endParaRPr>
              <a:solidFill>
                <a:schemeClr val="dk2"/>
              </a:solidFill>
            </a:endParaRPr>
          </a:p>
          <a:p>
            <a:pPr indent="0" lvl="0" marL="0" rtl="0" algn="l">
              <a:lnSpc>
                <a:spcPct val="115000"/>
              </a:lnSpc>
              <a:spcBef>
                <a:spcPts val="1200"/>
              </a:spcBef>
              <a:spcAft>
                <a:spcPts val="0"/>
              </a:spcAft>
              <a:buNone/>
            </a:pPr>
            <a:r>
              <a:rPr lang="en">
                <a:solidFill>
                  <a:schemeClr val="dk2"/>
                </a:solidFill>
              </a:rPr>
              <a:t>"driven" → "drive"</a:t>
            </a:r>
            <a:endParaRPr>
              <a:solidFill>
                <a:schemeClr val="dk2"/>
              </a:solidFill>
            </a:endParaRPr>
          </a:p>
          <a:p>
            <a:pPr indent="0" lvl="0" marL="0" rtl="0" algn="l">
              <a:lnSpc>
                <a:spcPct val="115000"/>
              </a:lnSpc>
              <a:spcBef>
                <a:spcPts val="1200"/>
              </a:spcBef>
              <a:spcAft>
                <a:spcPts val="1200"/>
              </a:spcAft>
              <a:buNone/>
            </a:pPr>
            <a:r>
              <a:rPr lang="en">
                <a:solidFill>
                  <a:schemeClr val="dk2"/>
                </a:solidFill>
              </a:rPr>
              <a:t>"happiest" → "happy"</a:t>
            </a:r>
            <a:endParaRPr>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Building </a:t>
            </a:r>
            <a:r>
              <a:rPr b="1" lang="en"/>
              <a:t>V</a:t>
            </a:r>
            <a:r>
              <a:rPr b="1" lang="en"/>
              <a:t>ocabulary &amp; feature selection</a:t>
            </a:r>
            <a:endParaRPr b="1"/>
          </a:p>
        </p:txBody>
      </p:sp>
      <p:sp>
        <p:nvSpPr>
          <p:cNvPr id="253" name="Google Shape;253;p40"/>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4 different preprocessing </a:t>
            </a:r>
            <a:r>
              <a:rPr lang="en"/>
              <a:t>pipeline</a:t>
            </a:r>
            <a:r>
              <a:rPr lang="en"/>
              <a:t>:</a:t>
            </a:r>
            <a:endParaRPr/>
          </a:p>
          <a:p>
            <a:pPr indent="-342900" lvl="0" marL="457200" rtl="0" algn="l">
              <a:spcBef>
                <a:spcPts val="1200"/>
              </a:spcBef>
              <a:spcAft>
                <a:spcPts val="0"/>
              </a:spcAft>
              <a:buSzPts val="1800"/>
              <a:buChar char="●"/>
            </a:pPr>
            <a:r>
              <a:rPr lang="en"/>
              <a:t>Basic (punctuation, multi-space, lowercase, tokenizing)</a:t>
            </a:r>
            <a:endParaRPr/>
          </a:p>
          <a:p>
            <a:pPr indent="-342900" lvl="0" marL="457200" rtl="0" algn="l">
              <a:spcBef>
                <a:spcPts val="0"/>
              </a:spcBef>
              <a:spcAft>
                <a:spcPts val="0"/>
              </a:spcAft>
              <a:buSzPts val="1800"/>
              <a:buChar char="●"/>
            </a:pPr>
            <a:r>
              <a:rPr lang="en"/>
              <a:t>Basic + stopword removal (“the”, “and”, “not”)</a:t>
            </a:r>
            <a:endParaRPr/>
          </a:p>
          <a:p>
            <a:pPr indent="-342900" lvl="0" marL="457200" rtl="0" algn="l">
              <a:spcBef>
                <a:spcPts val="0"/>
              </a:spcBef>
              <a:spcAft>
                <a:spcPts val="0"/>
              </a:spcAft>
              <a:buSzPts val="1800"/>
              <a:buChar char="●"/>
            </a:pPr>
            <a:r>
              <a:rPr lang="en"/>
              <a:t>Basic + stopword removal + Stemming</a:t>
            </a:r>
            <a:endParaRPr/>
          </a:p>
          <a:p>
            <a:pPr indent="-342900" lvl="0" marL="457200" rtl="0" algn="l">
              <a:spcBef>
                <a:spcPts val="0"/>
              </a:spcBef>
              <a:spcAft>
                <a:spcPts val="0"/>
              </a:spcAft>
              <a:buSzPts val="1800"/>
              <a:buChar char="●"/>
            </a:pPr>
            <a:r>
              <a:rPr lang="en"/>
              <a:t>Basic + stopword removal + Lemmatization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Number of unique vocabularies(tokens):</a:t>
            </a:r>
            <a:endParaRPr/>
          </a:p>
          <a:p>
            <a:pPr indent="-342900" lvl="0" marL="914400" rtl="0" algn="l">
              <a:lnSpc>
                <a:spcPct val="130770"/>
              </a:lnSpc>
              <a:spcBef>
                <a:spcPts val="1200"/>
              </a:spcBef>
              <a:spcAft>
                <a:spcPts val="0"/>
              </a:spcAft>
              <a:buSzPts val="1800"/>
              <a:buChar char="●"/>
            </a:pPr>
            <a:r>
              <a:rPr lang="en" sz="1000">
                <a:solidFill>
                  <a:schemeClr val="dk1"/>
                </a:solidFill>
                <a:highlight>
                  <a:srgbClr val="EFEFEF"/>
                </a:highlight>
                <a:latin typeface="Courier New"/>
                <a:ea typeface="Courier New"/>
                <a:cs typeface="Courier New"/>
                <a:sym typeface="Courier New"/>
              </a:rPr>
              <a:t>Vocabulary Size (Basic Processing): 11164</a:t>
            </a:r>
            <a:endParaRPr sz="1000">
              <a:solidFill>
                <a:schemeClr val="dk1"/>
              </a:solidFill>
              <a:highlight>
                <a:srgbClr val="EFEFEF"/>
              </a:highlight>
              <a:latin typeface="Courier New"/>
              <a:ea typeface="Courier New"/>
              <a:cs typeface="Courier New"/>
              <a:sym typeface="Courier New"/>
            </a:endParaRPr>
          </a:p>
          <a:p>
            <a:pPr indent="-342900" lvl="0" marL="914400" rtl="0" algn="l">
              <a:lnSpc>
                <a:spcPct val="130770"/>
              </a:lnSpc>
              <a:spcBef>
                <a:spcPts val="0"/>
              </a:spcBef>
              <a:spcAft>
                <a:spcPts val="0"/>
              </a:spcAft>
              <a:buSzPts val="1800"/>
              <a:buChar char="●"/>
            </a:pPr>
            <a:r>
              <a:rPr lang="en" sz="1000">
                <a:solidFill>
                  <a:schemeClr val="dk1"/>
                </a:solidFill>
                <a:highlight>
                  <a:srgbClr val="EFEFEF"/>
                </a:highlight>
                <a:latin typeface="Courier New"/>
                <a:ea typeface="Courier New"/>
                <a:cs typeface="Courier New"/>
                <a:sym typeface="Courier New"/>
              </a:rPr>
              <a:t>Vocabulary Size (Basic + Stopword removal): 11044</a:t>
            </a:r>
            <a:endParaRPr sz="1000">
              <a:solidFill>
                <a:schemeClr val="dk1"/>
              </a:solidFill>
              <a:highlight>
                <a:srgbClr val="EFEFEF"/>
              </a:highlight>
              <a:latin typeface="Courier New"/>
              <a:ea typeface="Courier New"/>
              <a:cs typeface="Courier New"/>
              <a:sym typeface="Courier New"/>
            </a:endParaRPr>
          </a:p>
          <a:p>
            <a:pPr indent="-342900" lvl="0" marL="914400" rtl="0" algn="l">
              <a:lnSpc>
                <a:spcPct val="130770"/>
              </a:lnSpc>
              <a:spcBef>
                <a:spcPts val="0"/>
              </a:spcBef>
              <a:spcAft>
                <a:spcPts val="0"/>
              </a:spcAft>
              <a:buSzPts val="1800"/>
              <a:buChar char="●"/>
            </a:pPr>
            <a:r>
              <a:rPr lang="en" sz="1000">
                <a:solidFill>
                  <a:schemeClr val="dk1"/>
                </a:solidFill>
                <a:highlight>
                  <a:srgbClr val="EFEFEF"/>
                </a:highlight>
                <a:latin typeface="Courier New"/>
                <a:ea typeface="Courier New"/>
                <a:cs typeface="Courier New"/>
                <a:sym typeface="Courier New"/>
              </a:rPr>
              <a:t>Vocabulary Size (Basic + Stopword removal + stemming): 7617</a:t>
            </a:r>
            <a:endParaRPr sz="1000">
              <a:solidFill>
                <a:schemeClr val="dk1"/>
              </a:solidFill>
              <a:highlight>
                <a:srgbClr val="EFEFEF"/>
              </a:highlight>
              <a:latin typeface="Courier New"/>
              <a:ea typeface="Courier New"/>
              <a:cs typeface="Courier New"/>
              <a:sym typeface="Courier New"/>
            </a:endParaRPr>
          </a:p>
          <a:p>
            <a:pPr indent="-342900" lvl="0" marL="914400" rtl="0" algn="l">
              <a:lnSpc>
                <a:spcPct val="130770"/>
              </a:lnSpc>
              <a:spcBef>
                <a:spcPts val="0"/>
              </a:spcBef>
              <a:spcAft>
                <a:spcPts val="0"/>
              </a:spcAft>
              <a:buSzPts val="1800"/>
              <a:buChar char="●"/>
            </a:pPr>
            <a:r>
              <a:rPr lang="en" sz="1000">
                <a:solidFill>
                  <a:schemeClr val="dk1"/>
                </a:solidFill>
                <a:highlight>
                  <a:srgbClr val="EFEFEF"/>
                </a:highlight>
                <a:latin typeface="Courier New"/>
                <a:ea typeface="Courier New"/>
                <a:cs typeface="Courier New"/>
                <a:sym typeface="Courier New"/>
              </a:rPr>
              <a:t>Vocabulary Size (Basic + Stopword removal + lemmatization): 8317</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Naive Bayes method for text classification</a:t>
            </a:r>
            <a:endParaRPr b="1"/>
          </a:p>
        </p:txBody>
      </p:sp>
      <p:sp>
        <p:nvSpPr>
          <p:cNvPr id="259" name="Google Shape;259;p41"/>
          <p:cNvSpPr txBox="1"/>
          <p:nvPr>
            <p:ph idx="1" type="body"/>
          </p:nvPr>
        </p:nvSpPr>
        <p:spPr>
          <a:xfrm>
            <a:off x="311700" y="1152475"/>
            <a:ext cx="8520600" cy="14175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One way to identify fake news is to rephrase the problem in terms of </a:t>
            </a:r>
            <a:r>
              <a:rPr b="1" lang="en"/>
              <a:t>text classification</a:t>
            </a:r>
            <a:r>
              <a:rPr lang="en"/>
              <a:t>:</a:t>
            </a:r>
            <a:endParaRPr/>
          </a:p>
          <a:p>
            <a:pPr indent="-342900" lvl="1" marL="914400" rtl="0" algn="l">
              <a:spcBef>
                <a:spcPts val="0"/>
              </a:spcBef>
              <a:spcAft>
                <a:spcPts val="0"/>
              </a:spcAft>
              <a:buSzPts val="1800"/>
              <a:buChar char="○"/>
            </a:pPr>
            <a:r>
              <a:rPr lang="en" sz="1800"/>
              <a:t>We are given some text             , where     is our </a:t>
            </a:r>
            <a:r>
              <a:rPr i="1" lang="en" sz="1800"/>
              <a:t>input space</a:t>
            </a:r>
            <a:r>
              <a:rPr lang="en" sz="1800"/>
              <a:t>, and a fixed set of classes                                       . </a:t>
            </a:r>
            <a:endParaRPr sz="1800"/>
          </a:p>
        </p:txBody>
      </p:sp>
      <p:pic>
        <p:nvPicPr>
          <p:cNvPr descr="{&quot;backgroundColorModified&quot;:false,&quot;backgroundColor&quot;:&quot;#FFFFFF&quot;,&quot;id&quot;:&quot;2&quot;,&quot;font&quot;:{&quot;color&quot;:&quot;#595959&quot;,&quot;size&quot;:20.5,&quot;family&quot;:&quot;Arial&quot;},&quot;code&quot;:&quot;$$x\\in\\mathbb{X}$$&quot;,&quot;type&quot;:&quot;$$&quot;,&quot;aid&quot;:null,&quot;ts&quot;:1748540643570,&quot;cs&quot;:&quot;044O+enpKDeX2DFNzXg6pQ==&quot;,&quot;size&quot;:{&quot;width&quot;:79.79792992125988,&quot;height&quot;:23.538067716535448}}" id="260" name="Google Shape;260;p41"/>
          <p:cNvPicPr preferRelativeResize="0"/>
          <p:nvPr/>
        </p:nvPicPr>
        <p:blipFill>
          <a:blip r:embed="rId3">
            <a:alphaModFix/>
          </a:blip>
          <a:stretch>
            <a:fillRect/>
          </a:stretch>
        </p:blipFill>
        <p:spPr>
          <a:xfrm>
            <a:off x="3811925" y="1910275"/>
            <a:ext cx="698775" cy="206125"/>
          </a:xfrm>
          <a:prstGeom prst="rect">
            <a:avLst/>
          </a:prstGeom>
          <a:noFill/>
          <a:ln>
            <a:noFill/>
          </a:ln>
        </p:spPr>
      </p:pic>
      <p:pic>
        <p:nvPicPr>
          <p:cNvPr descr="{&quot;aid&quot;:null,&quot;backgroundColor&quot;:&quot;#FFFFFF&quot;,&quot;backgroundColorModified&quot;:false,&quot;id&quot;:&quot;3&quot;,&quot;font&quot;:{&quot;color&quot;:&quot;#595959&quot;,&quot;size&quot;:18,&quot;family&quot;:&quot;Arial&quot;},&quot;type&quot;:&quot;$$&quot;,&quot;code&quot;:&quot;$$\\mathbb{X}$$&quot;,&quot;ts&quot;:1748540701215,&quot;cs&quot;:&quot;cEJwpn6pQfxbykZD//kAzg==&quot;,&quot;size&quot;:{&quot;width&quot;:19.666666666666668,&quot;height&quot;:19.333333333333332}}" id="261" name="Google Shape;261;p41"/>
          <p:cNvPicPr preferRelativeResize="0"/>
          <p:nvPr/>
        </p:nvPicPr>
        <p:blipFill>
          <a:blip r:embed="rId4">
            <a:alphaModFix/>
          </a:blip>
          <a:stretch>
            <a:fillRect/>
          </a:stretch>
        </p:blipFill>
        <p:spPr>
          <a:xfrm>
            <a:off x="5363475" y="1921250"/>
            <a:ext cx="187325" cy="184150"/>
          </a:xfrm>
          <a:prstGeom prst="rect">
            <a:avLst/>
          </a:prstGeom>
          <a:noFill/>
          <a:ln>
            <a:noFill/>
          </a:ln>
        </p:spPr>
      </p:pic>
      <p:pic>
        <p:nvPicPr>
          <p:cNvPr descr="{&quot;code&quot;:&quot;$$\\mathbb{C}=\\left\\{c_{1},\\,c_{2},\\,...,\\,c_{j}\\right\\}$$&quot;,&quot;aid&quot;:null,&quot;id&quot;:&quot;4&quot;,&quot;backgroundColor&quot;:&quot;#FFFFFF&quot;,&quot;backgroundColorModified&quot;:false,&quot;type&quot;:&quot;$$&quot;,&quot;font&quot;:{&quot;color&quot;:&quot;#595959&quot;,&quot;family&quot;:&quot;Arial&quot;,&quot;size&quot;:18},&quot;ts&quot;:1748540818193,&quot;cs&quot;:&quot;UzkwmzkGiLTuR1imR8iNWA==&quot;,&quot;size&quot;:{&quot;width&quot;:244,&quot;height&quot;:29.600000000000012}}" id="262" name="Google Shape;262;p41"/>
          <p:cNvPicPr preferRelativeResize="0"/>
          <p:nvPr/>
        </p:nvPicPr>
        <p:blipFill>
          <a:blip r:embed="rId5">
            <a:alphaModFix/>
          </a:blip>
          <a:stretch>
            <a:fillRect/>
          </a:stretch>
        </p:blipFill>
        <p:spPr>
          <a:xfrm>
            <a:off x="2821300" y="2220425"/>
            <a:ext cx="2324100" cy="28194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Naive Bayes method for text classification</a:t>
            </a:r>
            <a:endParaRPr b="1"/>
          </a:p>
        </p:txBody>
      </p:sp>
      <p:sp>
        <p:nvSpPr>
          <p:cNvPr id="268" name="Google Shape;268;p42"/>
          <p:cNvSpPr txBox="1"/>
          <p:nvPr>
            <p:ph idx="1" type="body"/>
          </p:nvPr>
        </p:nvSpPr>
        <p:spPr>
          <a:xfrm>
            <a:off x="311700" y="1152475"/>
            <a:ext cx="8520600" cy="17361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One way to identify fake news is to rephrase the problem in terms of </a:t>
            </a:r>
            <a:r>
              <a:rPr b="1" lang="en"/>
              <a:t>text classification</a:t>
            </a:r>
            <a:r>
              <a:rPr lang="en"/>
              <a:t>:</a:t>
            </a:r>
            <a:endParaRPr/>
          </a:p>
          <a:p>
            <a:pPr indent="-342900" lvl="1" marL="914400" rtl="0" algn="l">
              <a:spcBef>
                <a:spcPts val="0"/>
              </a:spcBef>
              <a:spcAft>
                <a:spcPts val="0"/>
              </a:spcAft>
              <a:buSzPts val="1800"/>
              <a:buChar char="○"/>
            </a:pPr>
            <a:r>
              <a:rPr lang="en" sz="1800"/>
              <a:t>We are given some text             , where     is our </a:t>
            </a:r>
            <a:r>
              <a:rPr i="1" lang="en" sz="1800"/>
              <a:t>input space</a:t>
            </a:r>
            <a:r>
              <a:rPr lang="en" sz="1800"/>
              <a:t>, and a fixed set of classes                                       . </a:t>
            </a:r>
            <a:endParaRPr sz="1800"/>
          </a:p>
          <a:p>
            <a:pPr indent="-342900" lvl="1" marL="914400" rtl="0" algn="l">
              <a:spcBef>
                <a:spcPts val="0"/>
              </a:spcBef>
              <a:spcAft>
                <a:spcPts val="0"/>
              </a:spcAft>
              <a:buSzPts val="1800"/>
              <a:buChar char="○"/>
            </a:pPr>
            <a:r>
              <a:rPr lang="en" sz="1800"/>
              <a:t>For instance, the classes may represent different levels of truthfulness.</a:t>
            </a:r>
            <a:endParaRPr sz="1800"/>
          </a:p>
        </p:txBody>
      </p:sp>
      <p:pic>
        <p:nvPicPr>
          <p:cNvPr descr="{&quot;backgroundColorModified&quot;:false,&quot;backgroundColor&quot;:&quot;#FFFFFF&quot;,&quot;id&quot;:&quot;2&quot;,&quot;font&quot;:{&quot;color&quot;:&quot;#595959&quot;,&quot;size&quot;:20.5,&quot;family&quot;:&quot;Arial&quot;},&quot;code&quot;:&quot;$$x\\in\\mathbb{X}$$&quot;,&quot;type&quot;:&quot;$$&quot;,&quot;aid&quot;:null,&quot;ts&quot;:1748540643570,&quot;cs&quot;:&quot;044O+enpKDeX2DFNzXg6pQ==&quot;,&quot;size&quot;:{&quot;width&quot;:79.79792992125988,&quot;height&quot;:23.538067716535448}}" id="269" name="Google Shape;269;p42"/>
          <p:cNvPicPr preferRelativeResize="0"/>
          <p:nvPr/>
        </p:nvPicPr>
        <p:blipFill>
          <a:blip r:embed="rId3">
            <a:alphaModFix/>
          </a:blip>
          <a:stretch>
            <a:fillRect/>
          </a:stretch>
        </p:blipFill>
        <p:spPr>
          <a:xfrm>
            <a:off x="3811925" y="1910275"/>
            <a:ext cx="698775" cy="206125"/>
          </a:xfrm>
          <a:prstGeom prst="rect">
            <a:avLst/>
          </a:prstGeom>
          <a:noFill/>
          <a:ln>
            <a:noFill/>
          </a:ln>
        </p:spPr>
      </p:pic>
      <p:pic>
        <p:nvPicPr>
          <p:cNvPr descr="{&quot;aid&quot;:null,&quot;backgroundColor&quot;:&quot;#FFFFFF&quot;,&quot;backgroundColorModified&quot;:false,&quot;id&quot;:&quot;3&quot;,&quot;font&quot;:{&quot;color&quot;:&quot;#595959&quot;,&quot;size&quot;:18,&quot;family&quot;:&quot;Arial&quot;},&quot;type&quot;:&quot;$$&quot;,&quot;code&quot;:&quot;$$\\mathbb{X}$$&quot;,&quot;ts&quot;:1748540701215,&quot;cs&quot;:&quot;cEJwpn6pQfxbykZD//kAzg==&quot;,&quot;size&quot;:{&quot;width&quot;:19.666666666666668,&quot;height&quot;:19.333333333333332}}" id="270" name="Google Shape;270;p42"/>
          <p:cNvPicPr preferRelativeResize="0"/>
          <p:nvPr/>
        </p:nvPicPr>
        <p:blipFill>
          <a:blip r:embed="rId4">
            <a:alphaModFix/>
          </a:blip>
          <a:stretch>
            <a:fillRect/>
          </a:stretch>
        </p:blipFill>
        <p:spPr>
          <a:xfrm>
            <a:off x="5363475" y="1921250"/>
            <a:ext cx="187325" cy="184150"/>
          </a:xfrm>
          <a:prstGeom prst="rect">
            <a:avLst/>
          </a:prstGeom>
          <a:noFill/>
          <a:ln>
            <a:noFill/>
          </a:ln>
        </p:spPr>
      </p:pic>
      <p:pic>
        <p:nvPicPr>
          <p:cNvPr descr="{&quot;code&quot;:&quot;$$\\mathbb{C}=\\left\\{c_{1},\\,c_{2},\\,...,\\,c_{j}\\right\\}$$&quot;,&quot;aid&quot;:null,&quot;id&quot;:&quot;4&quot;,&quot;backgroundColor&quot;:&quot;#FFFFFF&quot;,&quot;backgroundColorModified&quot;:false,&quot;type&quot;:&quot;$$&quot;,&quot;font&quot;:{&quot;color&quot;:&quot;#595959&quot;,&quot;family&quot;:&quot;Arial&quot;,&quot;size&quot;:18},&quot;ts&quot;:1748540818193,&quot;cs&quot;:&quot;UzkwmzkGiLTuR1imR8iNWA==&quot;,&quot;size&quot;:{&quot;width&quot;:244,&quot;height&quot;:29.600000000000012}}" id="271" name="Google Shape;271;p42"/>
          <p:cNvPicPr preferRelativeResize="0"/>
          <p:nvPr/>
        </p:nvPicPr>
        <p:blipFill>
          <a:blip r:embed="rId5">
            <a:alphaModFix/>
          </a:blip>
          <a:stretch>
            <a:fillRect/>
          </a:stretch>
        </p:blipFill>
        <p:spPr>
          <a:xfrm>
            <a:off x="2821300" y="2220425"/>
            <a:ext cx="2324100" cy="28194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Naive Bayes method for text classification</a:t>
            </a:r>
            <a:endParaRPr b="1"/>
          </a:p>
        </p:txBody>
      </p:sp>
      <p:sp>
        <p:nvSpPr>
          <p:cNvPr id="277" name="Google Shape;277;p43"/>
          <p:cNvSpPr txBox="1"/>
          <p:nvPr>
            <p:ph idx="1" type="body"/>
          </p:nvPr>
        </p:nvSpPr>
        <p:spPr>
          <a:xfrm>
            <a:off x="311700" y="1152475"/>
            <a:ext cx="8520600" cy="23736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One way to identify fake news is to rephrase the problem in terms of </a:t>
            </a:r>
            <a:r>
              <a:rPr b="1" lang="en"/>
              <a:t>text classification</a:t>
            </a:r>
            <a:r>
              <a:rPr lang="en"/>
              <a:t>:</a:t>
            </a:r>
            <a:endParaRPr/>
          </a:p>
          <a:p>
            <a:pPr indent="-342900" lvl="1" marL="914400" rtl="0" algn="l">
              <a:spcBef>
                <a:spcPts val="0"/>
              </a:spcBef>
              <a:spcAft>
                <a:spcPts val="0"/>
              </a:spcAft>
              <a:buSzPts val="1800"/>
              <a:buChar char="○"/>
            </a:pPr>
            <a:r>
              <a:rPr lang="en" sz="1800"/>
              <a:t>We are given some text             , where     is our </a:t>
            </a:r>
            <a:r>
              <a:rPr i="1" lang="en" sz="1800"/>
              <a:t>input space</a:t>
            </a:r>
            <a:r>
              <a:rPr lang="en" sz="1800"/>
              <a:t>, and a fixed set of classes                                       . </a:t>
            </a:r>
            <a:endParaRPr sz="1800"/>
          </a:p>
          <a:p>
            <a:pPr indent="-342900" lvl="1" marL="914400" rtl="0" algn="l">
              <a:spcBef>
                <a:spcPts val="0"/>
              </a:spcBef>
              <a:spcAft>
                <a:spcPts val="0"/>
              </a:spcAft>
              <a:buSzPts val="1800"/>
              <a:buChar char="○"/>
            </a:pPr>
            <a:r>
              <a:rPr lang="en" sz="1800"/>
              <a:t>For instance, the classes may represent different levels of truthfulness.</a:t>
            </a:r>
            <a:endParaRPr sz="1800"/>
          </a:p>
          <a:p>
            <a:pPr indent="-342900" lvl="1" marL="914400" rtl="0" algn="l">
              <a:spcBef>
                <a:spcPts val="0"/>
              </a:spcBef>
              <a:spcAft>
                <a:spcPts val="0"/>
              </a:spcAft>
              <a:buSzPts val="1800"/>
              <a:buChar char="○"/>
            </a:pPr>
            <a:r>
              <a:rPr lang="en" sz="1800"/>
              <a:t>We have a training dataset                      , that consists of labeled text examples           .</a:t>
            </a:r>
            <a:endParaRPr sz="1800"/>
          </a:p>
        </p:txBody>
      </p:sp>
      <p:pic>
        <p:nvPicPr>
          <p:cNvPr descr="{&quot;backgroundColorModified&quot;:false,&quot;backgroundColor&quot;:&quot;#FFFFFF&quot;,&quot;id&quot;:&quot;2&quot;,&quot;font&quot;:{&quot;color&quot;:&quot;#595959&quot;,&quot;size&quot;:20.5,&quot;family&quot;:&quot;Arial&quot;},&quot;code&quot;:&quot;$$x\\in\\mathbb{X}$$&quot;,&quot;type&quot;:&quot;$$&quot;,&quot;aid&quot;:null,&quot;ts&quot;:1748540643570,&quot;cs&quot;:&quot;044O+enpKDeX2DFNzXg6pQ==&quot;,&quot;size&quot;:{&quot;width&quot;:79.79792992125988,&quot;height&quot;:23.538067716535448}}" id="278" name="Google Shape;278;p43"/>
          <p:cNvPicPr preferRelativeResize="0"/>
          <p:nvPr/>
        </p:nvPicPr>
        <p:blipFill>
          <a:blip r:embed="rId3">
            <a:alphaModFix/>
          </a:blip>
          <a:stretch>
            <a:fillRect/>
          </a:stretch>
        </p:blipFill>
        <p:spPr>
          <a:xfrm>
            <a:off x="3811925" y="1910275"/>
            <a:ext cx="698775" cy="206125"/>
          </a:xfrm>
          <a:prstGeom prst="rect">
            <a:avLst/>
          </a:prstGeom>
          <a:noFill/>
          <a:ln>
            <a:noFill/>
          </a:ln>
        </p:spPr>
      </p:pic>
      <p:pic>
        <p:nvPicPr>
          <p:cNvPr descr="{&quot;aid&quot;:null,&quot;backgroundColor&quot;:&quot;#FFFFFF&quot;,&quot;backgroundColorModified&quot;:false,&quot;id&quot;:&quot;3&quot;,&quot;font&quot;:{&quot;color&quot;:&quot;#595959&quot;,&quot;size&quot;:18,&quot;family&quot;:&quot;Arial&quot;},&quot;type&quot;:&quot;$$&quot;,&quot;code&quot;:&quot;$$\\mathbb{X}$$&quot;,&quot;ts&quot;:1748540701215,&quot;cs&quot;:&quot;cEJwpn6pQfxbykZD//kAzg==&quot;,&quot;size&quot;:{&quot;width&quot;:19.666666666666668,&quot;height&quot;:19.333333333333332}}" id="279" name="Google Shape;279;p43"/>
          <p:cNvPicPr preferRelativeResize="0"/>
          <p:nvPr/>
        </p:nvPicPr>
        <p:blipFill>
          <a:blip r:embed="rId4">
            <a:alphaModFix/>
          </a:blip>
          <a:stretch>
            <a:fillRect/>
          </a:stretch>
        </p:blipFill>
        <p:spPr>
          <a:xfrm>
            <a:off x="5363475" y="1921250"/>
            <a:ext cx="187325" cy="184150"/>
          </a:xfrm>
          <a:prstGeom prst="rect">
            <a:avLst/>
          </a:prstGeom>
          <a:noFill/>
          <a:ln>
            <a:noFill/>
          </a:ln>
        </p:spPr>
      </p:pic>
      <p:pic>
        <p:nvPicPr>
          <p:cNvPr descr="{&quot;code&quot;:&quot;$$\\mathbb{C}=\\left\\{c_{1},\\,c_{2},\\,...,\\,c_{j}\\right\\}$$&quot;,&quot;aid&quot;:null,&quot;id&quot;:&quot;4&quot;,&quot;backgroundColor&quot;:&quot;#FFFFFF&quot;,&quot;backgroundColorModified&quot;:false,&quot;type&quot;:&quot;$$&quot;,&quot;font&quot;:{&quot;color&quot;:&quot;#595959&quot;,&quot;family&quot;:&quot;Arial&quot;,&quot;size&quot;:18},&quot;ts&quot;:1748540818193,&quot;cs&quot;:&quot;UzkwmzkGiLTuR1imR8iNWA==&quot;,&quot;size&quot;:{&quot;width&quot;:244,&quot;height&quot;:29.600000000000012}}" id="280" name="Google Shape;280;p43"/>
          <p:cNvPicPr preferRelativeResize="0"/>
          <p:nvPr/>
        </p:nvPicPr>
        <p:blipFill>
          <a:blip r:embed="rId5">
            <a:alphaModFix/>
          </a:blip>
          <a:stretch>
            <a:fillRect/>
          </a:stretch>
        </p:blipFill>
        <p:spPr>
          <a:xfrm>
            <a:off x="2821300" y="2220425"/>
            <a:ext cx="2324100" cy="281940"/>
          </a:xfrm>
          <a:prstGeom prst="rect">
            <a:avLst/>
          </a:prstGeom>
          <a:noFill/>
          <a:ln>
            <a:noFill/>
          </a:ln>
        </p:spPr>
      </p:pic>
      <p:pic>
        <p:nvPicPr>
          <p:cNvPr descr="{&quot;code&quot;:&quot;$$\\mathbb{D\\subset}\\mathbb{X}\\times\\mathbb{C}$$&quot;,&quot;id&quot;:&quot;5&quot;,&quot;type&quot;:&quot;$$&quot;,&quot;aid&quot;:null,&quot;backgroundColorModified&quot;:false,&quot;font&quot;:{&quot;family&quot;:&quot;Arial&quot;,&quot;size&quot;:18,&quot;color&quot;:&quot;#595959&quot;},&quot;backgroundColor&quot;:&quot;#FFFFFF&quot;,&quot;ts&quot;:1748541120356,&quot;cs&quot;:&quot;I7KqsnGPaKQCM+fRM6OKeg==&quot;,&quot;size&quot;:{&quot;width&quot;:131.5,&quot;height&quot;:21.166666666666668}}" id="281" name="Google Shape;281;p43"/>
          <p:cNvPicPr preferRelativeResize="0"/>
          <p:nvPr/>
        </p:nvPicPr>
        <p:blipFill>
          <a:blip r:embed="rId6">
            <a:alphaModFix/>
          </a:blip>
          <a:stretch>
            <a:fillRect/>
          </a:stretch>
        </p:blipFill>
        <p:spPr>
          <a:xfrm>
            <a:off x="4152800" y="2875275"/>
            <a:ext cx="1252538" cy="201613"/>
          </a:xfrm>
          <a:prstGeom prst="rect">
            <a:avLst/>
          </a:prstGeom>
          <a:noFill/>
          <a:ln>
            <a:noFill/>
          </a:ln>
        </p:spPr>
      </p:pic>
      <p:pic>
        <p:nvPicPr>
          <p:cNvPr descr="{&quot;font&quot;:{&quot;family&quot;:&quot;Arial&quot;,&quot;color&quot;:&quot;#595959&quot;,&quot;size&quot;:18},&quot;aid&quot;:null,&quot;type&quot;:&quot;$$&quot;,&quot;backgroundColor&quot;:&quot;#FFFFFF&quot;,&quot;id&quot;:&quot;6&quot;,&quot;code&quot;:&quot;$$\\langle x,\\,c\\rangle $$&quot;,&quot;backgroundColorModified&quot;:false,&quot;ts&quot;:1748541933141,&quot;cs&quot;:&quot;7rotB5/3hgVdyI6LqcE9eA==&quot;,&quot;size&quot;:{&quot;width&quot;:61.333333333333336,&quot;height&quot;:28.333333333333332}}" id="282" name="Google Shape;282;p43"/>
          <p:cNvPicPr preferRelativeResize="0"/>
          <p:nvPr/>
        </p:nvPicPr>
        <p:blipFill>
          <a:blip r:embed="rId7">
            <a:alphaModFix/>
          </a:blip>
          <a:stretch>
            <a:fillRect/>
          </a:stretch>
        </p:blipFill>
        <p:spPr>
          <a:xfrm>
            <a:off x="2384375" y="3157900"/>
            <a:ext cx="584200" cy="2698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Naive Bayes method for text classification</a:t>
            </a:r>
            <a:endParaRPr b="1"/>
          </a:p>
        </p:txBody>
      </p:sp>
      <p:sp>
        <p:nvSpPr>
          <p:cNvPr id="288" name="Google Shape;288;p44"/>
          <p:cNvSpPr txBox="1"/>
          <p:nvPr>
            <p:ph idx="1" type="body"/>
          </p:nvPr>
        </p:nvSpPr>
        <p:spPr>
          <a:xfrm>
            <a:off x="311700" y="1152475"/>
            <a:ext cx="8520600" cy="26922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One way to identify fake news is to rephrase the problem in terms of </a:t>
            </a:r>
            <a:r>
              <a:rPr b="1" lang="en"/>
              <a:t>text classification</a:t>
            </a:r>
            <a:r>
              <a:rPr lang="en"/>
              <a:t>:</a:t>
            </a:r>
            <a:endParaRPr/>
          </a:p>
          <a:p>
            <a:pPr indent="-342900" lvl="1" marL="914400" rtl="0" algn="l">
              <a:spcBef>
                <a:spcPts val="0"/>
              </a:spcBef>
              <a:spcAft>
                <a:spcPts val="0"/>
              </a:spcAft>
              <a:buSzPts val="1800"/>
              <a:buChar char="○"/>
            </a:pPr>
            <a:r>
              <a:rPr lang="en" sz="1800"/>
              <a:t>We are given some text             , where     is our </a:t>
            </a:r>
            <a:r>
              <a:rPr i="1" lang="en" sz="1800"/>
              <a:t>input space</a:t>
            </a:r>
            <a:r>
              <a:rPr lang="en" sz="1800"/>
              <a:t>, and a fixed set of classes                                       . </a:t>
            </a:r>
            <a:endParaRPr sz="1800"/>
          </a:p>
          <a:p>
            <a:pPr indent="-342900" lvl="1" marL="914400" rtl="0" algn="l">
              <a:spcBef>
                <a:spcPts val="0"/>
              </a:spcBef>
              <a:spcAft>
                <a:spcPts val="0"/>
              </a:spcAft>
              <a:buSzPts val="1800"/>
              <a:buChar char="○"/>
            </a:pPr>
            <a:r>
              <a:rPr lang="en" sz="1800"/>
              <a:t>For instance, the classes may represent different levels of truthfulness.</a:t>
            </a:r>
            <a:endParaRPr sz="1800"/>
          </a:p>
          <a:p>
            <a:pPr indent="-342900" lvl="1" marL="914400" rtl="0" algn="l">
              <a:spcBef>
                <a:spcPts val="0"/>
              </a:spcBef>
              <a:spcAft>
                <a:spcPts val="0"/>
              </a:spcAft>
              <a:buSzPts val="1800"/>
              <a:buChar char="○"/>
            </a:pPr>
            <a:r>
              <a:rPr lang="en" sz="1800"/>
              <a:t>We have a training dataset                      , that consists of labeled text examples           .</a:t>
            </a:r>
            <a:endParaRPr sz="1800"/>
          </a:p>
          <a:p>
            <a:pPr indent="-342900" lvl="1" marL="914400" rtl="0" algn="l">
              <a:spcBef>
                <a:spcPts val="0"/>
              </a:spcBef>
              <a:spcAft>
                <a:spcPts val="0"/>
              </a:spcAft>
              <a:buSzPts val="1800"/>
              <a:buChar char="○"/>
            </a:pPr>
            <a:r>
              <a:rPr lang="en" sz="1800"/>
              <a:t>Our task is to learn, from the training data, a </a:t>
            </a:r>
            <a:r>
              <a:rPr b="1" lang="en" sz="1800"/>
              <a:t>classification function</a:t>
            </a:r>
            <a:r>
              <a:rPr lang="en" sz="1800"/>
              <a:t>:</a:t>
            </a:r>
            <a:endParaRPr sz="1800"/>
          </a:p>
        </p:txBody>
      </p:sp>
      <p:pic>
        <p:nvPicPr>
          <p:cNvPr descr="{&quot;backgroundColorModified&quot;:false,&quot;backgroundColor&quot;:&quot;#FFFFFF&quot;,&quot;id&quot;:&quot;2&quot;,&quot;font&quot;:{&quot;color&quot;:&quot;#595959&quot;,&quot;size&quot;:20.5,&quot;family&quot;:&quot;Arial&quot;},&quot;code&quot;:&quot;$$x\\in\\mathbb{X}$$&quot;,&quot;type&quot;:&quot;$$&quot;,&quot;aid&quot;:null,&quot;ts&quot;:1748540643570,&quot;cs&quot;:&quot;044O+enpKDeX2DFNzXg6pQ==&quot;,&quot;size&quot;:{&quot;width&quot;:79.79792992125988,&quot;height&quot;:23.538067716535448}}" id="289" name="Google Shape;289;p44"/>
          <p:cNvPicPr preferRelativeResize="0"/>
          <p:nvPr/>
        </p:nvPicPr>
        <p:blipFill>
          <a:blip r:embed="rId3">
            <a:alphaModFix/>
          </a:blip>
          <a:stretch>
            <a:fillRect/>
          </a:stretch>
        </p:blipFill>
        <p:spPr>
          <a:xfrm>
            <a:off x="3811925" y="1910275"/>
            <a:ext cx="698775" cy="206125"/>
          </a:xfrm>
          <a:prstGeom prst="rect">
            <a:avLst/>
          </a:prstGeom>
          <a:noFill/>
          <a:ln>
            <a:noFill/>
          </a:ln>
        </p:spPr>
      </p:pic>
      <p:pic>
        <p:nvPicPr>
          <p:cNvPr descr="{&quot;aid&quot;:null,&quot;backgroundColor&quot;:&quot;#FFFFFF&quot;,&quot;backgroundColorModified&quot;:false,&quot;id&quot;:&quot;3&quot;,&quot;font&quot;:{&quot;color&quot;:&quot;#595959&quot;,&quot;size&quot;:18,&quot;family&quot;:&quot;Arial&quot;},&quot;type&quot;:&quot;$$&quot;,&quot;code&quot;:&quot;$$\\mathbb{X}$$&quot;,&quot;ts&quot;:1748540701215,&quot;cs&quot;:&quot;cEJwpn6pQfxbykZD//kAzg==&quot;,&quot;size&quot;:{&quot;width&quot;:19.666666666666668,&quot;height&quot;:19.333333333333332}}" id="290" name="Google Shape;290;p44"/>
          <p:cNvPicPr preferRelativeResize="0"/>
          <p:nvPr/>
        </p:nvPicPr>
        <p:blipFill>
          <a:blip r:embed="rId4">
            <a:alphaModFix/>
          </a:blip>
          <a:stretch>
            <a:fillRect/>
          </a:stretch>
        </p:blipFill>
        <p:spPr>
          <a:xfrm>
            <a:off x="5363475" y="1921250"/>
            <a:ext cx="187325" cy="184150"/>
          </a:xfrm>
          <a:prstGeom prst="rect">
            <a:avLst/>
          </a:prstGeom>
          <a:noFill/>
          <a:ln>
            <a:noFill/>
          </a:ln>
        </p:spPr>
      </p:pic>
      <p:pic>
        <p:nvPicPr>
          <p:cNvPr descr="{&quot;code&quot;:&quot;$$\\mathbb{C}=\\left\\{c_{1},\\,c_{2},\\,...,\\,c_{j}\\right\\}$$&quot;,&quot;aid&quot;:null,&quot;id&quot;:&quot;4&quot;,&quot;backgroundColor&quot;:&quot;#FFFFFF&quot;,&quot;backgroundColorModified&quot;:false,&quot;type&quot;:&quot;$$&quot;,&quot;font&quot;:{&quot;color&quot;:&quot;#595959&quot;,&quot;family&quot;:&quot;Arial&quot;,&quot;size&quot;:18},&quot;ts&quot;:1748540818193,&quot;cs&quot;:&quot;UzkwmzkGiLTuR1imR8iNWA==&quot;,&quot;size&quot;:{&quot;width&quot;:244,&quot;height&quot;:29.600000000000012}}" id="291" name="Google Shape;291;p44"/>
          <p:cNvPicPr preferRelativeResize="0"/>
          <p:nvPr/>
        </p:nvPicPr>
        <p:blipFill>
          <a:blip r:embed="rId5">
            <a:alphaModFix/>
          </a:blip>
          <a:stretch>
            <a:fillRect/>
          </a:stretch>
        </p:blipFill>
        <p:spPr>
          <a:xfrm>
            <a:off x="2821300" y="2220425"/>
            <a:ext cx="2324100" cy="281940"/>
          </a:xfrm>
          <a:prstGeom prst="rect">
            <a:avLst/>
          </a:prstGeom>
          <a:noFill/>
          <a:ln>
            <a:noFill/>
          </a:ln>
        </p:spPr>
      </p:pic>
      <p:pic>
        <p:nvPicPr>
          <p:cNvPr descr="{&quot;code&quot;:&quot;$$\\mathbb{D\\subset}\\mathbb{X}\\times\\mathbb{C}$$&quot;,&quot;id&quot;:&quot;5&quot;,&quot;type&quot;:&quot;$$&quot;,&quot;aid&quot;:null,&quot;backgroundColorModified&quot;:false,&quot;font&quot;:{&quot;family&quot;:&quot;Arial&quot;,&quot;size&quot;:18,&quot;color&quot;:&quot;#595959&quot;},&quot;backgroundColor&quot;:&quot;#FFFFFF&quot;,&quot;ts&quot;:1748541120356,&quot;cs&quot;:&quot;I7KqsnGPaKQCM+fRM6OKeg==&quot;,&quot;size&quot;:{&quot;width&quot;:131.5,&quot;height&quot;:21.166666666666668}}" id="292" name="Google Shape;292;p44"/>
          <p:cNvPicPr preferRelativeResize="0"/>
          <p:nvPr/>
        </p:nvPicPr>
        <p:blipFill>
          <a:blip r:embed="rId6">
            <a:alphaModFix/>
          </a:blip>
          <a:stretch>
            <a:fillRect/>
          </a:stretch>
        </p:blipFill>
        <p:spPr>
          <a:xfrm>
            <a:off x="4152800" y="2875275"/>
            <a:ext cx="1252538" cy="201613"/>
          </a:xfrm>
          <a:prstGeom prst="rect">
            <a:avLst/>
          </a:prstGeom>
          <a:noFill/>
          <a:ln>
            <a:noFill/>
          </a:ln>
        </p:spPr>
      </p:pic>
      <p:pic>
        <p:nvPicPr>
          <p:cNvPr descr="{&quot;font&quot;:{&quot;family&quot;:&quot;Arial&quot;,&quot;color&quot;:&quot;#595959&quot;,&quot;size&quot;:18},&quot;aid&quot;:null,&quot;type&quot;:&quot;$$&quot;,&quot;backgroundColor&quot;:&quot;#FFFFFF&quot;,&quot;id&quot;:&quot;6&quot;,&quot;code&quot;:&quot;$$\\langle x,\\,c\\rangle $$&quot;,&quot;backgroundColorModified&quot;:false,&quot;ts&quot;:1748541933141,&quot;cs&quot;:&quot;7rotB5/3hgVdyI6LqcE9eA==&quot;,&quot;size&quot;:{&quot;width&quot;:61.333333333333336,&quot;height&quot;:28.333333333333332}}" id="293" name="Google Shape;293;p44"/>
          <p:cNvPicPr preferRelativeResize="0"/>
          <p:nvPr/>
        </p:nvPicPr>
        <p:blipFill>
          <a:blip r:embed="rId7">
            <a:alphaModFix/>
          </a:blip>
          <a:stretch>
            <a:fillRect/>
          </a:stretch>
        </p:blipFill>
        <p:spPr>
          <a:xfrm>
            <a:off x="2384375" y="3157900"/>
            <a:ext cx="584200" cy="269875"/>
          </a:xfrm>
          <a:prstGeom prst="rect">
            <a:avLst/>
          </a:prstGeom>
          <a:noFill/>
          <a:ln>
            <a:noFill/>
          </a:ln>
        </p:spPr>
      </p:pic>
      <p:pic>
        <p:nvPicPr>
          <p:cNvPr descr="{&quot;type&quot;:&quot;$$&quot;,&quot;font&quot;:{&quot;size&quot;:20,&quot;family&quot;:&quot;Arial&quot;,&quot;color&quot;:&quot;#595959&quot;},&quot;id&quot;:&quot;7&quot;,&quot;code&quot;:&quot;$$\\gamma:\\mathbb{X}\\to\\mathbb{C}$$&quot;,&quot;backgroundColor&quot;:&quot;#FFFFFF&quot;,&quot;aid&quot;:null,&quot;backgroundColorModified&quot;:false,&quot;ts&quot;:1748542059301,&quot;cs&quot;:&quot;ooxyY/kPFnGCVMti1qbvYQ==&quot;,&quot;size&quot;:{&quot;width&quot;:138.7060028871391,&quot;height&quot;:29.60106141732285}}" id="294" name="Google Shape;294;p44"/>
          <p:cNvPicPr preferRelativeResize="0"/>
          <p:nvPr/>
        </p:nvPicPr>
        <p:blipFill>
          <a:blip r:embed="rId8">
            <a:alphaModFix/>
          </a:blip>
          <a:stretch>
            <a:fillRect/>
          </a:stretch>
        </p:blipFill>
        <p:spPr>
          <a:xfrm>
            <a:off x="3911415" y="3911975"/>
            <a:ext cx="1321175" cy="2819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5"/>
          <p:cNvSpPr/>
          <p:nvPr/>
        </p:nvSpPr>
        <p:spPr>
          <a:xfrm>
            <a:off x="6114025" y="1789150"/>
            <a:ext cx="2780400" cy="82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Naive Bayes method for text classification</a:t>
            </a:r>
            <a:endParaRPr b="1"/>
          </a:p>
        </p:txBody>
      </p:sp>
      <p:sp>
        <p:nvSpPr>
          <p:cNvPr id="301" name="Google Shape;301;p45"/>
          <p:cNvSpPr txBox="1"/>
          <p:nvPr>
            <p:ph idx="1" type="body"/>
          </p:nvPr>
        </p:nvSpPr>
        <p:spPr>
          <a:xfrm>
            <a:off x="311700" y="1152475"/>
            <a:ext cx="8520600" cy="12528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In the </a:t>
            </a:r>
            <a:r>
              <a:rPr b="1" lang="en"/>
              <a:t>Naive Bayes </a:t>
            </a:r>
            <a:r>
              <a:rPr lang="en"/>
              <a:t>method, we learn the probability of a document </a:t>
            </a:r>
            <a:r>
              <a:rPr lang="en"/>
              <a:t>    being in class    :</a:t>
            </a:r>
            <a:endParaRPr/>
          </a:p>
          <a:p>
            <a:pPr indent="0" lvl="0" marL="0" rtl="0" algn="l">
              <a:lnSpc>
                <a:spcPct val="100000"/>
              </a:lnSpc>
              <a:spcBef>
                <a:spcPts val="1200"/>
              </a:spcBef>
              <a:spcAft>
                <a:spcPts val="1200"/>
              </a:spcAft>
              <a:buNone/>
            </a:pPr>
            <a:r>
              <a:t/>
            </a:r>
            <a:endParaRPr/>
          </a:p>
        </p:txBody>
      </p:sp>
      <p:pic>
        <p:nvPicPr>
          <p:cNvPr descr="{&quot;code&quot;:&quot;$$x$$&quot;,&quot;aid&quot;:null,&quot;type&quot;:&quot;$$&quot;,&quot;font&quot;:{&quot;size&quot;:19.5,&quot;color&quot;:&quot;#595959&quot;,&quot;family&quot;:&quot;Arial&quot;},&quot;backgroundColorModified&quot;:false,&quot;backgroundColor&quot;:&quot;#FFFFFF&quot;,&quot;id&quot;:&quot;8&quot;,&quot;ts&quot;:1748542966685,&quot;cs&quot;:&quot;l/6ORvPdFmjXITfwmWz3dg==&quot;,&quot;size&quot;:{&quot;width&quot;:15.230979265091792,&quot;height&quot;:14.128610761154848}}" id="302" name="Google Shape;302;p45"/>
          <p:cNvPicPr preferRelativeResize="0"/>
          <p:nvPr/>
        </p:nvPicPr>
        <p:blipFill>
          <a:blip r:embed="rId3">
            <a:alphaModFix/>
          </a:blip>
          <a:stretch>
            <a:fillRect/>
          </a:stretch>
        </p:blipFill>
        <p:spPr>
          <a:xfrm>
            <a:off x="7765026" y="1329313"/>
            <a:ext cx="145075" cy="134575"/>
          </a:xfrm>
          <a:prstGeom prst="rect">
            <a:avLst/>
          </a:prstGeom>
          <a:noFill/>
          <a:ln>
            <a:noFill/>
          </a:ln>
        </p:spPr>
      </p:pic>
      <p:pic>
        <p:nvPicPr>
          <p:cNvPr descr="{&quot;type&quot;:&quot;$$&quot;,&quot;aid&quot;:null,&quot;backgroundColorModified&quot;:false,&quot;backgroundColor&quot;:&quot;#FFFFFF&quot;,&quot;code&quot;:&quot;$$c$$&quot;,&quot;font&quot;:{&quot;family&quot;:&quot;Arial&quot;,&quot;size&quot;:19.5,&quot;color&quot;:&quot;#595959&quot;},&quot;id&quot;:&quot;8&quot;,&quot;ts&quot;:1748543020805,&quot;cs&quot;:&quot;eCybjRyzYDpF2Q9ItRN2LQ==&quot;,&quot;size&quot;:{&quot;width&quot;:12.166666666666666,&quot;height&quot;:14}}" id="303" name="Google Shape;303;p45"/>
          <p:cNvPicPr preferRelativeResize="0"/>
          <p:nvPr/>
        </p:nvPicPr>
        <p:blipFill>
          <a:blip r:embed="rId4">
            <a:alphaModFix/>
          </a:blip>
          <a:stretch>
            <a:fillRect/>
          </a:stretch>
        </p:blipFill>
        <p:spPr>
          <a:xfrm>
            <a:off x="1729563" y="1647138"/>
            <a:ext cx="115888" cy="133350"/>
          </a:xfrm>
          <a:prstGeom prst="rect">
            <a:avLst/>
          </a:prstGeom>
          <a:noFill/>
          <a:ln>
            <a:noFill/>
          </a:ln>
        </p:spPr>
      </p:pic>
      <p:pic>
        <p:nvPicPr>
          <p:cNvPr descr="{&quot;code&quot;:&quot;$$\\hat{P}\\left(\\giventhat{c}{x}\\right)\\propto \\hat{P}\\left(c\\right)\\prod_{k=1}^{n_{x}}\\hat{P}\\left(\\giventhat{t_{k}}{c}\\right)$$&quot;,&quot;id&quot;:&quot;9&quot;,&quot;font&quot;:{&quot;family&quot;:&quot;Arial&quot;,&quot;color&quot;:&quot;#000000&quot;,&quot;size&quot;:18},&quot;type&quot;:&quot;$$&quot;,&quot;backgroundColorModified&quot;:false,&quot;aid&quot;:null,&quot;backgroundColor&quot;:&quot;#FFFFFF&quot;,&quot;ts&quot;:1748545920687,&quot;cs&quot;:&quot;1DAaLladFfU1XJiAQidGAg==&quot;,&quot;size&quot;:{&quot;width&quot;:332.75,&quot;height&quot;:73.5}}" id="304" name="Google Shape;304;p45"/>
          <p:cNvPicPr preferRelativeResize="0"/>
          <p:nvPr/>
        </p:nvPicPr>
        <p:blipFill>
          <a:blip r:embed="rId5">
            <a:alphaModFix/>
          </a:blip>
          <a:stretch>
            <a:fillRect/>
          </a:stretch>
        </p:blipFill>
        <p:spPr>
          <a:xfrm>
            <a:off x="2530078" y="1718925"/>
            <a:ext cx="3169444" cy="700088"/>
          </a:xfrm>
          <a:prstGeom prst="rect">
            <a:avLst/>
          </a:prstGeom>
          <a:noFill/>
          <a:ln>
            <a:noFill/>
          </a:ln>
        </p:spPr>
      </p:pic>
      <p:pic>
        <p:nvPicPr>
          <p:cNvPr descr="{&quot;code&quot;:&quot;$$\\}$$&quot;,&quot;aid&quot;:null,&quot;id&quot;:&quot;10&quot;,&quot;backgroundColorModified&quot;:false,&quot;type&quot;:&quot;$$&quot;,&quot;backgroundColor&quot;:&quot;#FFFFFF&quot;,&quot;font&quot;:{&quot;color&quot;:&quot;#000000&quot;,&quot;size&quot;:40,&quot;family&quot;:&quot;Arial&quot;},&quot;ts&quot;:1748544932583,&quot;cs&quot;:&quot;/97Clzpue5qj8GamsJbhAw==&quot;,&quot;size&quot;:{&quot;width&quot;:23.761152755905528,&quot;height&quot;:63.92650236220471}}" id="305" name="Google Shape;305;p45"/>
          <p:cNvPicPr preferRelativeResize="0"/>
          <p:nvPr/>
        </p:nvPicPr>
        <p:blipFill>
          <a:blip r:embed="rId6">
            <a:alphaModFix/>
          </a:blip>
          <a:stretch>
            <a:fillRect/>
          </a:stretch>
        </p:blipFill>
        <p:spPr>
          <a:xfrm rot="5400000">
            <a:off x="3928963" y="2267300"/>
            <a:ext cx="226325" cy="608900"/>
          </a:xfrm>
          <a:prstGeom prst="rect">
            <a:avLst/>
          </a:prstGeom>
          <a:noFill/>
          <a:ln>
            <a:noFill/>
          </a:ln>
        </p:spPr>
      </p:pic>
      <p:grpSp>
        <p:nvGrpSpPr>
          <p:cNvPr id="306" name="Google Shape;306;p45"/>
          <p:cNvGrpSpPr/>
          <p:nvPr/>
        </p:nvGrpSpPr>
        <p:grpSpPr>
          <a:xfrm>
            <a:off x="5657525" y="1718925"/>
            <a:ext cx="3130039" cy="892800"/>
            <a:chOff x="311700" y="2875350"/>
            <a:chExt cx="3130039" cy="892800"/>
          </a:xfrm>
        </p:grpSpPr>
        <p:pic>
          <p:nvPicPr>
            <p:cNvPr descr="{&quot;backgroundColorModified&quot;:false,&quot;id&quot;:&quot;8&quot;,&quot;code&quot;:&quot;$$n_{x}$$&quot;,&quot;aid&quot;:null,&quot;backgroundColor&quot;:&quot;#FFFFFF&quot;,&quot;type&quot;:&quot;$$&quot;,&quot;font&quot;:{&quot;family&quot;:&quot;Arial&quot;,&quot;color&quot;:&quot;#595959&quot;,&quot;size&quot;:19.5},&quot;ts&quot;:1748543424617,&quot;cs&quot;:&quot;9qqpGzRAXeBCjQ99CHm0uw==&quot;,&quot;size&quot;:{&quot;width&quot;:30,&quot;height&quot;:18.5}}" id="307" name="Google Shape;307;p45"/>
            <p:cNvPicPr preferRelativeResize="0"/>
            <p:nvPr/>
          </p:nvPicPr>
          <p:blipFill>
            <a:blip r:embed="rId7">
              <a:alphaModFix/>
            </a:blip>
            <a:stretch>
              <a:fillRect/>
            </a:stretch>
          </p:blipFill>
          <p:spPr>
            <a:xfrm>
              <a:off x="816513" y="3040956"/>
              <a:ext cx="285750" cy="176213"/>
            </a:xfrm>
            <a:prstGeom prst="rect">
              <a:avLst/>
            </a:prstGeom>
            <a:noFill/>
            <a:ln>
              <a:noFill/>
            </a:ln>
          </p:spPr>
        </p:pic>
        <p:pic>
          <p:nvPicPr>
            <p:cNvPr descr="{&quot;code&quot;:&quot;$$x$$&quot;,&quot;aid&quot;:null,&quot;type&quot;:&quot;$$&quot;,&quot;font&quot;:{&quot;size&quot;:19.5,&quot;color&quot;:&quot;#595959&quot;,&quot;family&quot;:&quot;Arial&quot;},&quot;backgroundColorModified&quot;:false,&quot;backgroundColor&quot;:&quot;#FFFFFF&quot;,&quot;id&quot;:&quot;8&quot;,&quot;ts&quot;:1748542966685,&quot;cs&quot;:&quot;l/6ORvPdFmjXITfwmWz3dg==&quot;,&quot;size&quot;:{&quot;width&quot;:15.230979265091792,&quot;height&quot;:14.128610761154848}}" id="308" name="Google Shape;308;p45"/>
            <p:cNvPicPr preferRelativeResize="0"/>
            <p:nvPr/>
          </p:nvPicPr>
          <p:blipFill>
            <a:blip r:embed="rId3">
              <a:alphaModFix/>
            </a:blip>
            <a:stretch>
              <a:fillRect/>
            </a:stretch>
          </p:blipFill>
          <p:spPr>
            <a:xfrm>
              <a:off x="3296664" y="3061763"/>
              <a:ext cx="145075" cy="134575"/>
            </a:xfrm>
            <a:prstGeom prst="rect">
              <a:avLst/>
            </a:prstGeom>
            <a:noFill/>
            <a:ln>
              <a:noFill/>
            </a:ln>
          </p:spPr>
        </p:pic>
        <p:pic>
          <p:nvPicPr>
            <p:cNvPr descr="{&quot;backgroundColor&quot;:&quot;#FFFFFF&quot;,&quot;code&quot;:&quot;$$t_{k}$$&quot;,&quot;backgroundColorModified&quot;:false,&quot;font&quot;:{&quot;size&quot;:19.5,&quot;family&quot;:&quot;Arial&quot;,&quot;color&quot;:&quot;#595959&quot;},&quot;type&quot;:&quot;$$&quot;,&quot;aid&quot;:null,&quot;id&quot;:&quot;8&quot;,&quot;ts&quot;:1748543493182,&quot;cs&quot;:&quot;8M10V6pwwQ93oZG/3SXdEw==&quot;,&quot;size&quot;:{&quot;width&quot;:22.333333333333332,&quot;height&quot;:24.166666666666668}}" id="309" name="Google Shape;309;p45"/>
            <p:cNvPicPr preferRelativeResize="0"/>
            <p:nvPr/>
          </p:nvPicPr>
          <p:blipFill>
            <a:blip r:embed="rId8">
              <a:alphaModFix/>
            </a:blip>
            <a:stretch>
              <a:fillRect/>
            </a:stretch>
          </p:blipFill>
          <p:spPr>
            <a:xfrm>
              <a:off x="816518" y="3422188"/>
              <a:ext cx="212725" cy="230188"/>
            </a:xfrm>
            <a:prstGeom prst="rect">
              <a:avLst/>
            </a:prstGeom>
            <a:noFill/>
            <a:ln>
              <a:noFill/>
            </a:ln>
          </p:spPr>
        </p:pic>
        <p:pic>
          <p:nvPicPr>
            <p:cNvPr descr="{&quot;code&quot;:&quot;$$x$$&quot;,&quot;aid&quot;:null,&quot;type&quot;:&quot;$$&quot;,&quot;font&quot;:{&quot;size&quot;:19.5,&quot;color&quot;:&quot;#595959&quot;,&quot;family&quot;:&quot;Arial&quot;},&quot;backgroundColorModified&quot;:false,&quot;backgroundColor&quot;:&quot;#FFFFFF&quot;,&quot;id&quot;:&quot;8&quot;,&quot;ts&quot;:1748542966685,&quot;cs&quot;:&quot;l/6ORvPdFmjXITfwmWz3dg==&quot;,&quot;size&quot;:{&quot;width&quot;:15.230979265091792,&quot;height&quot;:14.128610761154848}}" id="310" name="Google Shape;310;p45"/>
            <p:cNvPicPr preferRelativeResize="0"/>
            <p:nvPr/>
          </p:nvPicPr>
          <p:blipFill>
            <a:blip r:embed="rId3">
              <a:alphaModFix/>
            </a:blip>
            <a:stretch>
              <a:fillRect/>
            </a:stretch>
          </p:blipFill>
          <p:spPr>
            <a:xfrm>
              <a:off x="2457689" y="3469988"/>
              <a:ext cx="145075" cy="134575"/>
            </a:xfrm>
            <a:prstGeom prst="rect">
              <a:avLst/>
            </a:prstGeom>
            <a:noFill/>
            <a:ln>
              <a:noFill/>
            </a:ln>
          </p:spPr>
        </p:pic>
        <p:sp>
          <p:nvSpPr>
            <p:cNvPr id="311" name="Google Shape;311;p45"/>
            <p:cNvSpPr txBox="1"/>
            <p:nvPr/>
          </p:nvSpPr>
          <p:spPr>
            <a:xfrm>
              <a:off x="311700" y="2875350"/>
              <a:ext cx="3000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 number of terms in     </a:t>
              </a:r>
              <a:endParaRPr sz="1800">
                <a:solidFill>
                  <a:schemeClr val="dk2"/>
                </a:solidFill>
              </a:endParaRPr>
            </a:p>
            <a:p>
              <a:pPr indent="0" lvl="0" marL="0" rtl="0" algn="l">
                <a:spcBef>
                  <a:spcPts val="1200"/>
                </a:spcBef>
                <a:spcAft>
                  <a:spcPts val="1200"/>
                </a:spcAft>
                <a:buNone/>
              </a:pPr>
              <a:r>
                <a:rPr lang="en" sz="1800">
                  <a:solidFill>
                    <a:schemeClr val="dk2"/>
                  </a:solidFill>
                </a:rPr>
                <a:t>           : </a:t>
              </a:r>
              <a:r>
                <a:rPr i="1" lang="en" sz="1800">
                  <a:solidFill>
                    <a:schemeClr val="dk2"/>
                  </a:solidFill>
                </a:rPr>
                <a:t>k</a:t>
              </a:r>
              <a:r>
                <a:rPr lang="en" sz="1800">
                  <a:solidFill>
                    <a:schemeClr val="dk2"/>
                  </a:solidFill>
                </a:rPr>
                <a:t>-th term in    </a:t>
              </a:r>
              <a:endParaRPr/>
            </a:p>
          </p:txBody>
        </p:sp>
      </p:grpSp>
      <p:pic>
        <p:nvPicPr>
          <p:cNvPr descr="{&quot;code&quot;:&quot;$$\\}$$&quot;,&quot;aid&quot;:null,&quot;id&quot;:&quot;10&quot;,&quot;backgroundColorModified&quot;:false,&quot;type&quot;:&quot;$$&quot;,&quot;backgroundColor&quot;:&quot;#FFFFFF&quot;,&quot;font&quot;:{&quot;color&quot;:&quot;#000000&quot;,&quot;size&quot;:40,&quot;family&quot;:&quot;Arial&quot;},&quot;ts&quot;:1748544932583,&quot;cs&quot;:&quot;/97Clzpue5qj8GamsJbhAw==&quot;,&quot;size&quot;:{&quot;width&quot;:23.761152755905528,&quot;height&quot;:63.92650236220471}}" id="312" name="Google Shape;312;p45"/>
          <p:cNvPicPr preferRelativeResize="0"/>
          <p:nvPr/>
        </p:nvPicPr>
        <p:blipFill>
          <a:blip r:embed="rId6">
            <a:alphaModFix/>
          </a:blip>
          <a:stretch>
            <a:fillRect/>
          </a:stretch>
        </p:blipFill>
        <p:spPr>
          <a:xfrm rot="5400000">
            <a:off x="4958212" y="1898987"/>
            <a:ext cx="226325" cy="1345550"/>
          </a:xfrm>
          <a:prstGeom prst="rect">
            <a:avLst/>
          </a:prstGeom>
          <a:noFill/>
          <a:ln>
            <a:noFill/>
          </a:ln>
        </p:spPr>
      </p:pic>
      <p:sp>
        <p:nvSpPr>
          <p:cNvPr id="313" name="Google Shape;313;p45"/>
          <p:cNvSpPr txBox="1"/>
          <p:nvPr/>
        </p:nvSpPr>
        <p:spPr>
          <a:xfrm>
            <a:off x="3692475" y="2648250"/>
            <a:ext cx="69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i="1" lang="en" sz="1800">
                <a:solidFill>
                  <a:schemeClr val="dk2"/>
                </a:solidFill>
              </a:rPr>
              <a:t>Prior</a:t>
            </a:r>
            <a:endParaRPr i="1"/>
          </a:p>
        </p:txBody>
      </p:sp>
      <p:sp>
        <p:nvSpPr>
          <p:cNvPr id="314" name="Google Shape;314;p45"/>
          <p:cNvSpPr txBox="1"/>
          <p:nvPr/>
        </p:nvSpPr>
        <p:spPr>
          <a:xfrm>
            <a:off x="4398625" y="2648250"/>
            <a:ext cx="134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i="1" lang="en" sz="1800">
                <a:solidFill>
                  <a:schemeClr val="dk2"/>
                </a:solidFill>
              </a:rPr>
              <a:t>Likelihood</a:t>
            </a:r>
            <a:endParaRPr i="1"/>
          </a:p>
        </p:txBody>
      </p:sp>
      <p:pic>
        <p:nvPicPr>
          <p:cNvPr descr="{&quot;code&quot;:&quot;$$\\}$$&quot;,&quot;aid&quot;:null,&quot;id&quot;:&quot;10&quot;,&quot;backgroundColorModified&quot;:false,&quot;type&quot;:&quot;$$&quot;,&quot;backgroundColor&quot;:&quot;#FFFFFF&quot;,&quot;font&quot;:{&quot;color&quot;:&quot;#000000&quot;,&quot;size&quot;:50.5,&quot;family&quot;:&quot;Arial&quot;},&quot;ts&quot;:1748545980929,&quot;cs&quot;:&quot;90oXkzFvv+Sb0E7giAaC+g==&quot;,&quot;size&quot;:{&quot;width&quot;:23.761152755905528,&quot;height&quot;:81.22048503937008}}" id="315" name="Google Shape;315;p45"/>
          <p:cNvPicPr preferRelativeResize="0"/>
          <p:nvPr/>
        </p:nvPicPr>
        <p:blipFill>
          <a:blip r:embed="rId6">
            <a:alphaModFix/>
          </a:blip>
          <a:stretch>
            <a:fillRect/>
          </a:stretch>
        </p:blipFill>
        <p:spPr>
          <a:xfrm rot="5400000">
            <a:off x="2842300" y="2146375"/>
            <a:ext cx="226325" cy="850775"/>
          </a:xfrm>
          <a:prstGeom prst="rect">
            <a:avLst/>
          </a:prstGeom>
          <a:noFill/>
          <a:ln>
            <a:noFill/>
          </a:ln>
        </p:spPr>
      </p:pic>
      <p:sp>
        <p:nvSpPr>
          <p:cNvPr id="316" name="Google Shape;316;p45"/>
          <p:cNvSpPr txBox="1"/>
          <p:nvPr/>
        </p:nvSpPr>
        <p:spPr>
          <a:xfrm>
            <a:off x="2392175" y="2648250"/>
            <a:ext cx="134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i="1" lang="en" sz="1800">
                <a:solidFill>
                  <a:schemeClr val="dk2"/>
                </a:solidFill>
              </a:rPr>
              <a:t>Posterior</a:t>
            </a:r>
            <a:endParaRPr i="1"/>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6"/>
          <p:cNvSpPr/>
          <p:nvPr/>
        </p:nvSpPr>
        <p:spPr>
          <a:xfrm>
            <a:off x="6114025" y="1789150"/>
            <a:ext cx="2780400" cy="82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Naive Bayes method for text classification</a:t>
            </a:r>
            <a:endParaRPr b="1"/>
          </a:p>
        </p:txBody>
      </p:sp>
      <p:sp>
        <p:nvSpPr>
          <p:cNvPr id="323" name="Google Shape;323;p46"/>
          <p:cNvSpPr txBox="1"/>
          <p:nvPr>
            <p:ph idx="1" type="body"/>
          </p:nvPr>
        </p:nvSpPr>
        <p:spPr>
          <a:xfrm>
            <a:off x="311700" y="1152475"/>
            <a:ext cx="8520600" cy="12528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In the </a:t>
            </a:r>
            <a:r>
              <a:rPr b="1" lang="en"/>
              <a:t>Naive Bayes </a:t>
            </a:r>
            <a:r>
              <a:rPr lang="en"/>
              <a:t>method, we learn the probability of a document     being in class    :</a:t>
            </a:r>
            <a:endParaRPr/>
          </a:p>
          <a:p>
            <a:pPr indent="0" lvl="0" marL="0" rtl="0" algn="l">
              <a:lnSpc>
                <a:spcPct val="100000"/>
              </a:lnSpc>
              <a:spcBef>
                <a:spcPts val="1200"/>
              </a:spcBef>
              <a:spcAft>
                <a:spcPts val="1200"/>
              </a:spcAft>
              <a:buNone/>
            </a:pPr>
            <a:r>
              <a:t/>
            </a:r>
            <a:endParaRPr/>
          </a:p>
        </p:txBody>
      </p:sp>
      <p:pic>
        <p:nvPicPr>
          <p:cNvPr descr="{&quot;code&quot;:&quot;$$x$$&quot;,&quot;aid&quot;:null,&quot;type&quot;:&quot;$$&quot;,&quot;font&quot;:{&quot;size&quot;:19.5,&quot;color&quot;:&quot;#595959&quot;,&quot;family&quot;:&quot;Arial&quot;},&quot;backgroundColorModified&quot;:false,&quot;backgroundColor&quot;:&quot;#FFFFFF&quot;,&quot;id&quot;:&quot;8&quot;,&quot;ts&quot;:1748542966685,&quot;cs&quot;:&quot;l/6ORvPdFmjXITfwmWz3dg==&quot;,&quot;size&quot;:{&quot;width&quot;:15.230979265091792,&quot;height&quot;:14.128610761154848}}" id="324" name="Google Shape;324;p46"/>
          <p:cNvPicPr preferRelativeResize="0"/>
          <p:nvPr/>
        </p:nvPicPr>
        <p:blipFill>
          <a:blip r:embed="rId3">
            <a:alphaModFix/>
          </a:blip>
          <a:stretch>
            <a:fillRect/>
          </a:stretch>
        </p:blipFill>
        <p:spPr>
          <a:xfrm>
            <a:off x="7765026" y="1329313"/>
            <a:ext cx="145075" cy="134575"/>
          </a:xfrm>
          <a:prstGeom prst="rect">
            <a:avLst/>
          </a:prstGeom>
          <a:noFill/>
          <a:ln>
            <a:noFill/>
          </a:ln>
        </p:spPr>
      </p:pic>
      <p:pic>
        <p:nvPicPr>
          <p:cNvPr descr="{&quot;type&quot;:&quot;$$&quot;,&quot;aid&quot;:null,&quot;backgroundColorModified&quot;:false,&quot;backgroundColor&quot;:&quot;#FFFFFF&quot;,&quot;code&quot;:&quot;$$c$$&quot;,&quot;font&quot;:{&quot;family&quot;:&quot;Arial&quot;,&quot;size&quot;:19.5,&quot;color&quot;:&quot;#595959&quot;},&quot;id&quot;:&quot;8&quot;,&quot;ts&quot;:1748543020805,&quot;cs&quot;:&quot;eCybjRyzYDpF2Q9ItRN2LQ==&quot;,&quot;size&quot;:{&quot;width&quot;:12.166666666666666,&quot;height&quot;:14}}" id="325" name="Google Shape;325;p46"/>
          <p:cNvPicPr preferRelativeResize="0"/>
          <p:nvPr/>
        </p:nvPicPr>
        <p:blipFill>
          <a:blip r:embed="rId4">
            <a:alphaModFix/>
          </a:blip>
          <a:stretch>
            <a:fillRect/>
          </a:stretch>
        </p:blipFill>
        <p:spPr>
          <a:xfrm>
            <a:off x="1729563" y="1647138"/>
            <a:ext cx="115888" cy="133350"/>
          </a:xfrm>
          <a:prstGeom prst="rect">
            <a:avLst/>
          </a:prstGeom>
          <a:noFill/>
          <a:ln>
            <a:noFill/>
          </a:ln>
        </p:spPr>
      </p:pic>
      <p:pic>
        <p:nvPicPr>
          <p:cNvPr descr="{&quot;code&quot;:&quot;$$\\hat{P}\\left(\\giventhat{c}{x}\\right)\\propto \\hat{P}\\left(c\\right)\\prod_{k=1}^{n_{x}}\\hat{P}\\left(\\giventhat{t_{k}}{c}\\right)$$&quot;,&quot;id&quot;:&quot;9&quot;,&quot;font&quot;:{&quot;family&quot;:&quot;Arial&quot;,&quot;color&quot;:&quot;#000000&quot;,&quot;size&quot;:18},&quot;type&quot;:&quot;$$&quot;,&quot;backgroundColorModified&quot;:false,&quot;aid&quot;:null,&quot;backgroundColor&quot;:&quot;#FFFFFF&quot;,&quot;ts&quot;:1748545920687,&quot;cs&quot;:&quot;1DAaLladFfU1XJiAQidGAg==&quot;,&quot;size&quot;:{&quot;width&quot;:332.75,&quot;height&quot;:73.5}}" id="326" name="Google Shape;326;p46"/>
          <p:cNvPicPr preferRelativeResize="0"/>
          <p:nvPr/>
        </p:nvPicPr>
        <p:blipFill>
          <a:blip r:embed="rId5">
            <a:alphaModFix/>
          </a:blip>
          <a:stretch>
            <a:fillRect/>
          </a:stretch>
        </p:blipFill>
        <p:spPr>
          <a:xfrm>
            <a:off x="2530078" y="1718925"/>
            <a:ext cx="3169444" cy="700088"/>
          </a:xfrm>
          <a:prstGeom prst="rect">
            <a:avLst/>
          </a:prstGeom>
          <a:noFill/>
          <a:ln>
            <a:noFill/>
          </a:ln>
        </p:spPr>
      </p:pic>
      <p:pic>
        <p:nvPicPr>
          <p:cNvPr descr="{&quot;code&quot;:&quot;$$\\}$$&quot;,&quot;aid&quot;:null,&quot;id&quot;:&quot;10&quot;,&quot;backgroundColorModified&quot;:false,&quot;type&quot;:&quot;$$&quot;,&quot;backgroundColor&quot;:&quot;#FFFFFF&quot;,&quot;font&quot;:{&quot;color&quot;:&quot;#000000&quot;,&quot;size&quot;:40,&quot;family&quot;:&quot;Arial&quot;},&quot;ts&quot;:1748544932583,&quot;cs&quot;:&quot;/97Clzpue5qj8GamsJbhAw==&quot;,&quot;size&quot;:{&quot;width&quot;:23.761152755905528,&quot;height&quot;:63.92650236220471}}" id="327" name="Google Shape;327;p46"/>
          <p:cNvPicPr preferRelativeResize="0"/>
          <p:nvPr/>
        </p:nvPicPr>
        <p:blipFill>
          <a:blip r:embed="rId6">
            <a:alphaModFix/>
          </a:blip>
          <a:stretch>
            <a:fillRect/>
          </a:stretch>
        </p:blipFill>
        <p:spPr>
          <a:xfrm rot="5400000">
            <a:off x="3928963" y="2267300"/>
            <a:ext cx="226325" cy="608900"/>
          </a:xfrm>
          <a:prstGeom prst="rect">
            <a:avLst/>
          </a:prstGeom>
          <a:noFill/>
          <a:ln>
            <a:noFill/>
          </a:ln>
        </p:spPr>
      </p:pic>
      <p:grpSp>
        <p:nvGrpSpPr>
          <p:cNvPr id="328" name="Google Shape;328;p46"/>
          <p:cNvGrpSpPr/>
          <p:nvPr/>
        </p:nvGrpSpPr>
        <p:grpSpPr>
          <a:xfrm>
            <a:off x="5657525" y="1718925"/>
            <a:ext cx="3130039" cy="892800"/>
            <a:chOff x="311700" y="2875350"/>
            <a:chExt cx="3130039" cy="892800"/>
          </a:xfrm>
        </p:grpSpPr>
        <p:pic>
          <p:nvPicPr>
            <p:cNvPr descr="{&quot;backgroundColorModified&quot;:false,&quot;id&quot;:&quot;8&quot;,&quot;code&quot;:&quot;$$n_{x}$$&quot;,&quot;aid&quot;:null,&quot;backgroundColor&quot;:&quot;#FFFFFF&quot;,&quot;type&quot;:&quot;$$&quot;,&quot;font&quot;:{&quot;family&quot;:&quot;Arial&quot;,&quot;color&quot;:&quot;#595959&quot;,&quot;size&quot;:19.5},&quot;ts&quot;:1748543424617,&quot;cs&quot;:&quot;9qqpGzRAXeBCjQ99CHm0uw==&quot;,&quot;size&quot;:{&quot;width&quot;:30,&quot;height&quot;:18.5}}" id="329" name="Google Shape;329;p46"/>
            <p:cNvPicPr preferRelativeResize="0"/>
            <p:nvPr/>
          </p:nvPicPr>
          <p:blipFill>
            <a:blip r:embed="rId7">
              <a:alphaModFix/>
            </a:blip>
            <a:stretch>
              <a:fillRect/>
            </a:stretch>
          </p:blipFill>
          <p:spPr>
            <a:xfrm>
              <a:off x="816513" y="3040956"/>
              <a:ext cx="285750" cy="176213"/>
            </a:xfrm>
            <a:prstGeom prst="rect">
              <a:avLst/>
            </a:prstGeom>
            <a:noFill/>
            <a:ln>
              <a:noFill/>
            </a:ln>
          </p:spPr>
        </p:pic>
        <p:pic>
          <p:nvPicPr>
            <p:cNvPr descr="{&quot;code&quot;:&quot;$$x$$&quot;,&quot;aid&quot;:null,&quot;type&quot;:&quot;$$&quot;,&quot;font&quot;:{&quot;size&quot;:19.5,&quot;color&quot;:&quot;#595959&quot;,&quot;family&quot;:&quot;Arial&quot;},&quot;backgroundColorModified&quot;:false,&quot;backgroundColor&quot;:&quot;#FFFFFF&quot;,&quot;id&quot;:&quot;8&quot;,&quot;ts&quot;:1748542966685,&quot;cs&quot;:&quot;l/6ORvPdFmjXITfwmWz3dg==&quot;,&quot;size&quot;:{&quot;width&quot;:15.230979265091792,&quot;height&quot;:14.128610761154848}}" id="330" name="Google Shape;330;p46"/>
            <p:cNvPicPr preferRelativeResize="0"/>
            <p:nvPr/>
          </p:nvPicPr>
          <p:blipFill>
            <a:blip r:embed="rId3">
              <a:alphaModFix/>
            </a:blip>
            <a:stretch>
              <a:fillRect/>
            </a:stretch>
          </p:blipFill>
          <p:spPr>
            <a:xfrm>
              <a:off x="3296664" y="3061763"/>
              <a:ext cx="145075" cy="134575"/>
            </a:xfrm>
            <a:prstGeom prst="rect">
              <a:avLst/>
            </a:prstGeom>
            <a:noFill/>
            <a:ln>
              <a:noFill/>
            </a:ln>
          </p:spPr>
        </p:pic>
        <p:pic>
          <p:nvPicPr>
            <p:cNvPr descr="{&quot;backgroundColor&quot;:&quot;#FFFFFF&quot;,&quot;code&quot;:&quot;$$t_{k}$$&quot;,&quot;backgroundColorModified&quot;:false,&quot;font&quot;:{&quot;size&quot;:19.5,&quot;family&quot;:&quot;Arial&quot;,&quot;color&quot;:&quot;#595959&quot;},&quot;type&quot;:&quot;$$&quot;,&quot;aid&quot;:null,&quot;id&quot;:&quot;8&quot;,&quot;ts&quot;:1748543493182,&quot;cs&quot;:&quot;8M10V6pwwQ93oZG/3SXdEw==&quot;,&quot;size&quot;:{&quot;width&quot;:22.333333333333332,&quot;height&quot;:24.166666666666668}}" id="331" name="Google Shape;331;p46"/>
            <p:cNvPicPr preferRelativeResize="0"/>
            <p:nvPr/>
          </p:nvPicPr>
          <p:blipFill>
            <a:blip r:embed="rId8">
              <a:alphaModFix/>
            </a:blip>
            <a:stretch>
              <a:fillRect/>
            </a:stretch>
          </p:blipFill>
          <p:spPr>
            <a:xfrm>
              <a:off x="816518" y="3422188"/>
              <a:ext cx="212725" cy="230188"/>
            </a:xfrm>
            <a:prstGeom prst="rect">
              <a:avLst/>
            </a:prstGeom>
            <a:noFill/>
            <a:ln>
              <a:noFill/>
            </a:ln>
          </p:spPr>
        </p:pic>
        <p:pic>
          <p:nvPicPr>
            <p:cNvPr descr="{&quot;code&quot;:&quot;$$x$$&quot;,&quot;aid&quot;:null,&quot;type&quot;:&quot;$$&quot;,&quot;font&quot;:{&quot;size&quot;:19.5,&quot;color&quot;:&quot;#595959&quot;,&quot;family&quot;:&quot;Arial&quot;},&quot;backgroundColorModified&quot;:false,&quot;backgroundColor&quot;:&quot;#FFFFFF&quot;,&quot;id&quot;:&quot;8&quot;,&quot;ts&quot;:1748542966685,&quot;cs&quot;:&quot;l/6ORvPdFmjXITfwmWz3dg==&quot;,&quot;size&quot;:{&quot;width&quot;:15.230979265091792,&quot;height&quot;:14.128610761154848}}" id="332" name="Google Shape;332;p46"/>
            <p:cNvPicPr preferRelativeResize="0"/>
            <p:nvPr/>
          </p:nvPicPr>
          <p:blipFill>
            <a:blip r:embed="rId3">
              <a:alphaModFix/>
            </a:blip>
            <a:stretch>
              <a:fillRect/>
            </a:stretch>
          </p:blipFill>
          <p:spPr>
            <a:xfrm>
              <a:off x="2457689" y="3469988"/>
              <a:ext cx="145075" cy="134575"/>
            </a:xfrm>
            <a:prstGeom prst="rect">
              <a:avLst/>
            </a:prstGeom>
            <a:noFill/>
            <a:ln>
              <a:noFill/>
            </a:ln>
          </p:spPr>
        </p:pic>
        <p:sp>
          <p:nvSpPr>
            <p:cNvPr id="333" name="Google Shape;333;p46"/>
            <p:cNvSpPr txBox="1"/>
            <p:nvPr/>
          </p:nvSpPr>
          <p:spPr>
            <a:xfrm>
              <a:off x="311700" y="2875350"/>
              <a:ext cx="3000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 number of terms in     </a:t>
              </a:r>
              <a:endParaRPr sz="1800">
                <a:solidFill>
                  <a:schemeClr val="dk2"/>
                </a:solidFill>
              </a:endParaRPr>
            </a:p>
            <a:p>
              <a:pPr indent="0" lvl="0" marL="0" rtl="0" algn="l">
                <a:spcBef>
                  <a:spcPts val="1200"/>
                </a:spcBef>
                <a:spcAft>
                  <a:spcPts val="1200"/>
                </a:spcAft>
                <a:buNone/>
              </a:pPr>
              <a:r>
                <a:rPr lang="en" sz="1800">
                  <a:solidFill>
                    <a:schemeClr val="dk2"/>
                  </a:solidFill>
                </a:rPr>
                <a:t>           : </a:t>
              </a:r>
              <a:r>
                <a:rPr i="1" lang="en" sz="1800">
                  <a:solidFill>
                    <a:schemeClr val="dk2"/>
                  </a:solidFill>
                </a:rPr>
                <a:t>k</a:t>
              </a:r>
              <a:r>
                <a:rPr lang="en" sz="1800">
                  <a:solidFill>
                    <a:schemeClr val="dk2"/>
                  </a:solidFill>
                </a:rPr>
                <a:t>-th term in    </a:t>
              </a:r>
              <a:endParaRPr/>
            </a:p>
          </p:txBody>
        </p:sp>
      </p:grpSp>
      <p:pic>
        <p:nvPicPr>
          <p:cNvPr descr="{&quot;code&quot;:&quot;$$\\}$$&quot;,&quot;aid&quot;:null,&quot;id&quot;:&quot;10&quot;,&quot;backgroundColorModified&quot;:false,&quot;type&quot;:&quot;$$&quot;,&quot;backgroundColor&quot;:&quot;#FFFFFF&quot;,&quot;font&quot;:{&quot;color&quot;:&quot;#000000&quot;,&quot;size&quot;:40,&quot;family&quot;:&quot;Arial&quot;},&quot;ts&quot;:1748544932583,&quot;cs&quot;:&quot;/97Clzpue5qj8GamsJbhAw==&quot;,&quot;size&quot;:{&quot;width&quot;:23.761152755905528,&quot;height&quot;:63.92650236220471}}" id="334" name="Google Shape;334;p46"/>
          <p:cNvPicPr preferRelativeResize="0"/>
          <p:nvPr/>
        </p:nvPicPr>
        <p:blipFill>
          <a:blip r:embed="rId6">
            <a:alphaModFix/>
          </a:blip>
          <a:stretch>
            <a:fillRect/>
          </a:stretch>
        </p:blipFill>
        <p:spPr>
          <a:xfrm rot="5400000">
            <a:off x="4958212" y="1898987"/>
            <a:ext cx="226325" cy="1345550"/>
          </a:xfrm>
          <a:prstGeom prst="rect">
            <a:avLst/>
          </a:prstGeom>
          <a:noFill/>
          <a:ln>
            <a:noFill/>
          </a:ln>
        </p:spPr>
      </p:pic>
      <p:sp>
        <p:nvSpPr>
          <p:cNvPr id="335" name="Google Shape;335;p46"/>
          <p:cNvSpPr txBox="1"/>
          <p:nvPr/>
        </p:nvSpPr>
        <p:spPr>
          <a:xfrm>
            <a:off x="3692475" y="2648250"/>
            <a:ext cx="69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i="1" lang="en" sz="1800">
                <a:solidFill>
                  <a:schemeClr val="dk2"/>
                </a:solidFill>
              </a:rPr>
              <a:t>Prior</a:t>
            </a:r>
            <a:endParaRPr i="1"/>
          </a:p>
        </p:txBody>
      </p:sp>
      <p:sp>
        <p:nvSpPr>
          <p:cNvPr id="336" name="Google Shape;336;p46"/>
          <p:cNvSpPr txBox="1"/>
          <p:nvPr/>
        </p:nvSpPr>
        <p:spPr>
          <a:xfrm>
            <a:off x="4398625" y="2648250"/>
            <a:ext cx="134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i="1" lang="en" sz="1800">
                <a:solidFill>
                  <a:schemeClr val="dk2"/>
                </a:solidFill>
              </a:rPr>
              <a:t>Likelihood</a:t>
            </a:r>
            <a:endParaRPr i="1"/>
          </a:p>
        </p:txBody>
      </p:sp>
      <p:sp>
        <p:nvSpPr>
          <p:cNvPr id="337" name="Google Shape;337;p46"/>
          <p:cNvSpPr txBox="1"/>
          <p:nvPr>
            <p:ph idx="1" type="body"/>
          </p:nvPr>
        </p:nvSpPr>
        <p:spPr>
          <a:xfrm>
            <a:off x="311700" y="3183025"/>
            <a:ext cx="8520600" cy="7803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Since we are interested in predicting the most likely class, we use the </a:t>
            </a:r>
            <a:r>
              <a:rPr i="1" lang="en"/>
              <a:t>maximum a posteriori </a:t>
            </a:r>
            <a:r>
              <a:rPr lang="en"/>
              <a:t>(MAP) estimator:</a:t>
            </a:r>
            <a:endParaRPr/>
          </a:p>
        </p:txBody>
      </p:sp>
      <p:pic>
        <p:nvPicPr>
          <p:cNvPr descr="{&quot;backgroundColorModified&quot;:false,&quot;font&quot;:{&quot;family&quot;:&quot;Arial&quot;,&quot;size&quot;:18,&quot;color&quot;:&quot;#000000&quot;},&quot;code&quot;:&quot;$$c_{map}=\\arg\\max_{c\\in \\mathbb{C}}\\left(\\log_{}\\hat{P}\\left(\\giventhat{c}{x}\\right)\\right)$$&quot;,&quot;aid&quot;:null,&quot;backgroundColor&quot;:&quot;#FFFFFF&quot;,&quot;type&quot;:&quot;$$&quot;,&quot;id&quot;:&quot;11&quot;,&quot;ts&quot;:1748546036131,&quot;cs&quot;:&quot;SZF8es+414z05HyGstGsuQ==&quot;,&quot;size&quot;:{&quot;width&quot;:355.3333333333333,&quot;height&quot;:52.333333333333336}}" id="338" name="Google Shape;338;p46"/>
          <p:cNvPicPr preferRelativeResize="0"/>
          <p:nvPr/>
        </p:nvPicPr>
        <p:blipFill>
          <a:blip r:embed="rId9">
            <a:alphaModFix/>
          </a:blip>
          <a:stretch>
            <a:fillRect/>
          </a:stretch>
        </p:blipFill>
        <p:spPr>
          <a:xfrm>
            <a:off x="3084900" y="4066223"/>
            <a:ext cx="3384550" cy="498475"/>
          </a:xfrm>
          <a:prstGeom prst="rect">
            <a:avLst/>
          </a:prstGeom>
          <a:noFill/>
          <a:ln>
            <a:noFill/>
          </a:ln>
        </p:spPr>
      </p:pic>
      <p:pic>
        <p:nvPicPr>
          <p:cNvPr descr="{&quot;code&quot;:&quot;$$\\}$$&quot;,&quot;aid&quot;:null,&quot;id&quot;:&quot;10&quot;,&quot;backgroundColorModified&quot;:false,&quot;type&quot;:&quot;$$&quot;,&quot;backgroundColor&quot;:&quot;#FFFFFF&quot;,&quot;font&quot;:{&quot;color&quot;:&quot;#000000&quot;,&quot;size&quot;:50.5,&quot;family&quot;:&quot;Arial&quot;},&quot;ts&quot;:1748545980929,&quot;cs&quot;:&quot;90oXkzFvv+Sb0E7giAaC+g==&quot;,&quot;size&quot;:{&quot;width&quot;:23.761152755905528,&quot;height&quot;:81.22048503937008}}" id="339" name="Google Shape;339;p46"/>
          <p:cNvPicPr preferRelativeResize="0"/>
          <p:nvPr/>
        </p:nvPicPr>
        <p:blipFill>
          <a:blip r:embed="rId6">
            <a:alphaModFix/>
          </a:blip>
          <a:stretch>
            <a:fillRect/>
          </a:stretch>
        </p:blipFill>
        <p:spPr>
          <a:xfrm rot="5400000">
            <a:off x="2842300" y="2146375"/>
            <a:ext cx="226325" cy="850775"/>
          </a:xfrm>
          <a:prstGeom prst="rect">
            <a:avLst/>
          </a:prstGeom>
          <a:noFill/>
          <a:ln>
            <a:noFill/>
          </a:ln>
        </p:spPr>
      </p:pic>
      <p:sp>
        <p:nvSpPr>
          <p:cNvPr id="340" name="Google Shape;340;p46"/>
          <p:cNvSpPr txBox="1"/>
          <p:nvPr/>
        </p:nvSpPr>
        <p:spPr>
          <a:xfrm>
            <a:off x="2392175" y="2648250"/>
            <a:ext cx="134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i="1" lang="en" sz="1800">
                <a:solidFill>
                  <a:schemeClr val="dk2"/>
                </a:solidFill>
              </a:rPr>
              <a:t>Posterior</a:t>
            </a:r>
            <a:endParaRPr i="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7"/>
          <p:cNvSpPr/>
          <p:nvPr/>
        </p:nvSpPr>
        <p:spPr>
          <a:xfrm>
            <a:off x="6114025" y="1789150"/>
            <a:ext cx="2780400" cy="82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Naive Bayes method for text classification</a:t>
            </a:r>
            <a:endParaRPr b="1"/>
          </a:p>
        </p:txBody>
      </p:sp>
      <p:sp>
        <p:nvSpPr>
          <p:cNvPr id="347" name="Google Shape;347;p47"/>
          <p:cNvSpPr txBox="1"/>
          <p:nvPr>
            <p:ph idx="1" type="body"/>
          </p:nvPr>
        </p:nvSpPr>
        <p:spPr>
          <a:xfrm>
            <a:off x="311700" y="1152475"/>
            <a:ext cx="8520600" cy="12528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In the </a:t>
            </a:r>
            <a:r>
              <a:rPr b="1" lang="en"/>
              <a:t>Naive Bayes </a:t>
            </a:r>
            <a:r>
              <a:rPr lang="en"/>
              <a:t>method, we learn the probability of a document     being in class    :</a:t>
            </a:r>
            <a:endParaRPr/>
          </a:p>
          <a:p>
            <a:pPr indent="0" lvl="0" marL="0" rtl="0" algn="l">
              <a:lnSpc>
                <a:spcPct val="100000"/>
              </a:lnSpc>
              <a:spcBef>
                <a:spcPts val="1200"/>
              </a:spcBef>
              <a:spcAft>
                <a:spcPts val="1200"/>
              </a:spcAft>
              <a:buNone/>
            </a:pPr>
            <a:r>
              <a:t/>
            </a:r>
            <a:endParaRPr/>
          </a:p>
        </p:txBody>
      </p:sp>
      <p:pic>
        <p:nvPicPr>
          <p:cNvPr descr="{&quot;code&quot;:&quot;$$x$$&quot;,&quot;aid&quot;:null,&quot;type&quot;:&quot;$$&quot;,&quot;font&quot;:{&quot;size&quot;:19.5,&quot;color&quot;:&quot;#595959&quot;,&quot;family&quot;:&quot;Arial&quot;},&quot;backgroundColorModified&quot;:false,&quot;backgroundColor&quot;:&quot;#FFFFFF&quot;,&quot;id&quot;:&quot;8&quot;,&quot;ts&quot;:1748542966685,&quot;cs&quot;:&quot;l/6ORvPdFmjXITfwmWz3dg==&quot;,&quot;size&quot;:{&quot;width&quot;:15.230979265091792,&quot;height&quot;:14.128610761154848}}" id="348" name="Google Shape;348;p47"/>
          <p:cNvPicPr preferRelativeResize="0"/>
          <p:nvPr/>
        </p:nvPicPr>
        <p:blipFill>
          <a:blip r:embed="rId3">
            <a:alphaModFix/>
          </a:blip>
          <a:stretch>
            <a:fillRect/>
          </a:stretch>
        </p:blipFill>
        <p:spPr>
          <a:xfrm>
            <a:off x="7765026" y="1329313"/>
            <a:ext cx="145075" cy="134575"/>
          </a:xfrm>
          <a:prstGeom prst="rect">
            <a:avLst/>
          </a:prstGeom>
          <a:noFill/>
          <a:ln>
            <a:noFill/>
          </a:ln>
        </p:spPr>
      </p:pic>
      <p:pic>
        <p:nvPicPr>
          <p:cNvPr descr="{&quot;type&quot;:&quot;$$&quot;,&quot;aid&quot;:null,&quot;backgroundColorModified&quot;:false,&quot;backgroundColor&quot;:&quot;#FFFFFF&quot;,&quot;code&quot;:&quot;$$c$$&quot;,&quot;font&quot;:{&quot;family&quot;:&quot;Arial&quot;,&quot;size&quot;:19.5,&quot;color&quot;:&quot;#595959&quot;},&quot;id&quot;:&quot;8&quot;,&quot;ts&quot;:1748543020805,&quot;cs&quot;:&quot;eCybjRyzYDpF2Q9ItRN2LQ==&quot;,&quot;size&quot;:{&quot;width&quot;:12.166666666666666,&quot;height&quot;:14}}" id="349" name="Google Shape;349;p47"/>
          <p:cNvPicPr preferRelativeResize="0"/>
          <p:nvPr/>
        </p:nvPicPr>
        <p:blipFill>
          <a:blip r:embed="rId4">
            <a:alphaModFix/>
          </a:blip>
          <a:stretch>
            <a:fillRect/>
          </a:stretch>
        </p:blipFill>
        <p:spPr>
          <a:xfrm>
            <a:off x="1729563" y="1647138"/>
            <a:ext cx="115888" cy="133350"/>
          </a:xfrm>
          <a:prstGeom prst="rect">
            <a:avLst/>
          </a:prstGeom>
          <a:noFill/>
          <a:ln>
            <a:noFill/>
          </a:ln>
        </p:spPr>
      </p:pic>
      <p:pic>
        <p:nvPicPr>
          <p:cNvPr descr="{&quot;code&quot;:&quot;$$\\hat{P}\\left(\\giventhat{c}{x}\\right)\\propto \\hat{P}\\left(c\\right)\\prod_{k=1}^{n_{x}}\\hat{P}\\left(\\giventhat{t_{k}}{c}\\right)$$&quot;,&quot;id&quot;:&quot;9&quot;,&quot;font&quot;:{&quot;family&quot;:&quot;Arial&quot;,&quot;color&quot;:&quot;#000000&quot;,&quot;size&quot;:18},&quot;type&quot;:&quot;$$&quot;,&quot;backgroundColorModified&quot;:false,&quot;aid&quot;:null,&quot;backgroundColor&quot;:&quot;#FFFFFF&quot;,&quot;ts&quot;:1748545920687,&quot;cs&quot;:&quot;1DAaLladFfU1XJiAQidGAg==&quot;,&quot;size&quot;:{&quot;width&quot;:332.75,&quot;height&quot;:73.5}}" id="350" name="Google Shape;350;p47"/>
          <p:cNvPicPr preferRelativeResize="0"/>
          <p:nvPr/>
        </p:nvPicPr>
        <p:blipFill>
          <a:blip r:embed="rId5">
            <a:alphaModFix/>
          </a:blip>
          <a:stretch>
            <a:fillRect/>
          </a:stretch>
        </p:blipFill>
        <p:spPr>
          <a:xfrm>
            <a:off x="2530078" y="1718925"/>
            <a:ext cx="3169444" cy="700088"/>
          </a:xfrm>
          <a:prstGeom prst="rect">
            <a:avLst/>
          </a:prstGeom>
          <a:noFill/>
          <a:ln>
            <a:noFill/>
          </a:ln>
        </p:spPr>
      </p:pic>
      <p:pic>
        <p:nvPicPr>
          <p:cNvPr descr="{&quot;code&quot;:&quot;$$\\}$$&quot;,&quot;aid&quot;:null,&quot;id&quot;:&quot;10&quot;,&quot;backgroundColorModified&quot;:false,&quot;type&quot;:&quot;$$&quot;,&quot;backgroundColor&quot;:&quot;#FFFFFF&quot;,&quot;font&quot;:{&quot;color&quot;:&quot;#000000&quot;,&quot;size&quot;:40,&quot;family&quot;:&quot;Arial&quot;},&quot;ts&quot;:1748544932583,&quot;cs&quot;:&quot;/97Clzpue5qj8GamsJbhAw==&quot;,&quot;size&quot;:{&quot;width&quot;:23.761152755905528,&quot;height&quot;:63.92650236220471}}" id="351" name="Google Shape;351;p47"/>
          <p:cNvPicPr preferRelativeResize="0"/>
          <p:nvPr/>
        </p:nvPicPr>
        <p:blipFill>
          <a:blip r:embed="rId6">
            <a:alphaModFix/>
          </a:blip>
          <a:stretch>
            <a:fillRect/>
          </a:stretch>
        </p:blipFill>
        <p:spPr>
          <a:xfrm rot="5400000">
            <a:off x="3928963" y="2267300"/>
            <a:ext cx="226325" cy="608900"/>
          </a:xfrm>
          <a:prstGeom prst="rect">
            <a:avLst/>
          </a:prstGeom>
          <a:noFill/>
          <a:ln>
            <a:noFill/>
          </a:ln>
        </p:spPr>
      </p:pic>
      <p:grpSp>
        <p:nvGrpSpPr>
          <p:cNvPr id="352" name="Google Shape;352;p47"/>
          <p:cNvGrpSpPr/>
          <p:nvPr/>
        </p:nvGrpSpPr>
        <p:grpSpPr>
          <a:xfrm>
            <a:off x="5657525" y="1718925"/>
            <a:ext cx="3130039" cy="892800"/>
            <a:chOff x="311700" y="2875350"/>
            <a:chExt cx="3130039" cy="892800"/>
          </a:xfrm>
        </p:grpSpPr>
        <p:pic>
          <p:nvPicPr>
            <p:cNvPr descr="{&quot;backgroundColorModified&quot;:false,&quot;id&quot;:&quot;8&quot;,&quot;code&quot;:&quot;$$n_{x}$$&quot;,&quot;aid&quot;:null,&quot;backgroundColor&quot;:&quot;#FFFFFF&quot;,&quot;type&quot;:&quot;$$&quot;,&quot;font&quot;:{&quot;family&quot;:&quot;Arial&quot;,&quot;color&quot;:&quot;#595959&quot;,&quot;size&quot;:19.5},&quot;ts&quot;:1748543424617,&quot;cs&quot;:&quot;9qqpGzRAXeBCjQ99CHm0uw==&quot;,&quot;size&quot;:{&quot;width&quot;:30,&quot;height&quot;:18.5}}" id="353" name="Google Shape;353;p47"/>
            <p:cNvPicPr preferRelativeResize="0"/>
            <p:nvPr/>
          </p:nvPicPr>
          <p:blipFill>
            <a:blip r:embed="rId7">
              <a:alphaModFix/>
            </a:blip>
            <a:stretch>
              <a:fillRect/>
            </a:stretch>
          </p:blipFill>
          <p:spPr>
            <a:xfrm>
              <a:off x="816513" y="3040956"/>
              <a:ext cx="285750" cy="176213"/>
            </a:xfrm>
            <a:prstGeom prst="rect">
              <a:avLst/>
            </a:prstGeom>
            <a:noFill/>
            <a:ln>
              <a:noFill/>
            </a:ln>
          </p:spPr>
        </p:pic>
        <p:pic>
          <p:nvPicPr>
            <p:cNvPr descr="{&quot;code&quot;:&quot;$$x$$&quot;,&quot;aid&quot;:null,&quot;type&quot;:&quot;$$&quot;,&quot;font&quot;:{&quot;size&quot;:19.5,&quot;color&quot;:&quot;#595959&quot;,&quot;family&quot;:&quot;Arial&quot;},&quot;backgroundColorModified&quot;:false,&quot;backgroundColor&quot;:&quot;#FFFFFF&quot;,&quot;id&quot;:&quot;8&quot;,&quot;ts&quot;:1748542966685,&quot;cs&quot;:&quot;l/6ORvPdFmjXITfwmWz3dg==&quot;,&quot;size&quot;:{&quot;width&quot;:15.230979265091792,&quot;height&quot;:14.128610761154848}}" id="354" name="Google Shape;354;p47"/>
            <p:cNvPicPr preferRelativeResize="0"/>
            <p:nvPr/>
          </p:nvPicPr>
          <p:blipFill>
            <a:blip r:embed="rId3">
              <a:alphaModFix/>
            </a:blip>
            <a:stretch>
              <a:fillRect/>
            </a:stretch>
          </p:blipFill>
          <p:spPr>
            <a:xfrm>
              <a:off x="3296664" y="3061763"/>
              <a:ext cx="145075" cy="134575"/>
            </a:xfrm>
            <a:prstGeom prst="rect">
              <a:avLst/>
            </a:prstGeom>
            <a:noFill/>
            <a:ln>
              <a:noFill/>
            </a:ln>
          </p:spPr>
        </p:pic>
        <p:pic>
          <p:nvPicPr>
            <p:cNvPr descr="{&quot;backgroundColor&quot;:&quot;#FFFFFF&quot;,&quot;code&quot;:&quot;$$t_{k}$$&quot;,&quot;backgroundColorModified&quot;:false,&quot;font&quot;:{&quot;size&quot;:19.5,&quot;family&quot;:&quot;Arial&quot;,&quot;color&quot;:&quot;#595959&quot;},&quot;type&quot;:&quot;$$&quot;,&quot;aid&quot;:null,&quot;id&quot;:&quot;8&quot;,&quot;ts&quot;:1748543493182,&quot;cs&quot;:&quot;8M10V6pwwQ93oZG/3SXdEw==&quot;,&quot;size&quot;:{&quot;width&quot;:22.333333333333332,&quot;height&quot;:24.166666666666668}}" id="355" name="Google Shape;355;p47"/>
            <p:cNvPicPr preferRelativeResize="0"/>
            <p:nvPr/>
          </p:nvPicPr>
          <p:blipFill>
            <a:blip r:embed="rId8">
              <a:alphaModFix/>
            </a:blip>
            <a:stretch>
              <a:fillRect/>
            </a:stretch>
          </p:blipFill>
          <p:spPr>
            <a:xfrm>
              <a:off x="816518" y="3422188"/>
              <a:ext cx="212725" cy="230188"/>
            </a:xfrm>
            <a:prstGeom prst="rect">
              <a:avLst/>
            </a:prstGeom>
            <a:noFill/>
            <a:ln>
              <a:noFill/>
            </a:ln>
          </p:spPr>
        </p:pic>
        <p:pic>
          <p:nvPicPr>
            <p:cNvPr descr="{&quot;code&quot;:&quot;$$x$$&quot;,&quot;aid&quot;:null,&quot;type&quot;:&quot;$$&quot;,&quot;font&quot;:{&quot;size&quot;:19.5,&quot;color&quot;:&quot;#595959&quot;,&quot;family&quot;:&quot;Arial&quot;},&quot;backgroundColorModified&quot;:false,&quot;backgroundColor&quot;:&quot;#FFFFFF&quot;,&quot;id&quot;:&quot;8&quot;,&quot;ts&quot;:1748542966685,&quot;cs&quot;:&quot;l/6ORvPdFmjXITfwmWz3dg==&quot;,&quot;size&quot;:{&quot;width&quot;:15.230979265091792,&quot;height&quot;:14.128610761154848}}" id="356" name="Google Shape;356;p47"/>
            <p:cNvPicPr preferRelativeResize="0"/>
            <p:nvPr/>
          </p:nvPicPr>
          <p:blipFill>
            <a:blip r:embed="rId3">
              <a:alphaModFix/>
            </a:blip>
            <a:stretch>
              <a:fillRect/>
            </a:stretch>
          </p:blipFill>
          <p:spPr>
            <a:xfrm>
              <a:off x="2457689" y="3469988"/>
              <a:ext cx="145075" cy="134575"/>
            </a:xfrm>
            <a:prstGeom prst="rect">
              <a:avLst/>
            </a:prstGeom>
            <a:noFill/>
            <a:ln>
              <a:noFill/>
            </a:ln>
          </p:spPr>
        </p:pic>
        <p:sp>
          <p:nvSpPr>
            <p:cNvPr id="357" name="Google Shape;357;p47"/>
            <p:cNvSpPr txBox="1"/>
            <p:nvPr/>
          </p:nvSpPr>
          <p:spPr>
            <a:xfrm>
              <a:off x="311700" y="2875350"/>
              <a:ext cx="3000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 number of terms in     </a:t>
              </a:r>
              <a:endParaRPr sz="1800">
                <a:solidFill>
                  <a:schemeClr val="dk2"/>
                </a:solidFill>
              </a:endParaRPr>
            </a:p>
            <a:p>
              <a:pPr indent="0" lvl="0" marL="0" rtl="0" algn="l">
                <a:spcBef>
                  <a:spcPts val="1200"/>
                </a:spcBef>
                <a:spcAft>
                  <a:spcPts val="1200"/>
                </a:spcAft>
                <a:buNone/>
              </a:pPr>
              <a:r>
                <a:rPr lang="en" sz="1800">
                  <a:solidFill>
                    <a:schemeClr val="dk2"/>
                  </a:solidFill>
                </a:rPr>
                <a:t>           : </a:t>
              </a:r>
              <a:r>
                <a:rPr i="1" lang="en" sz="1800">
                  <a:solidFill>
                    <a:schemeClr val="dk2"/>
                  </a:solidFill>
                </a:rPr>
                <a:t>k</a:t>
              </a:r>
              <a:r>
                <a:rPr lang="en" sz="1800">
                  <a:solidFill>
                    <a:schemeClr val="dk2"/>
                  </a:solidFill>
                </a:rPr>
                <a:t>-th term in    </a:t>
              </a:r>
              <a:endParaRPr/>
            </a:p>
          </p:txBody>
        </p:sp>
      </p:grpSp>
      <p:pic>
        <p:nvPicPr>
          <p:cNvPr descr="{&quot;code&quot;:&quot;$$\\}$$&quot;,&quot;aid&quot;:null,&quot;id&quot;:&quot;10&quot;,&quot;backgroundColorModified&quot;:false,&quot;type&quot;:&quot;$$&quot;,&quot;backgroundColor&quot;:&quot;#FFFFFF&quot;,&quot;font&quot;:{&quot;color&quot;:&quot;#000000&quot;,&quot;size&quot;:40,&quot;family&quot;:&quot;Arial&quot;},&quot;ts&quot;:1748544932583,&quot;cs&quot;:&quot;/97Clzpue5qj8GamsJbhAw==&quot;,&quot;size&quot;:{&quot;width&quot;:23.761152755905528,&quot;height&quot;:63.92650236220471}}" id="358" name="Google Shape;358;p47"/>
          <p:cNvPicPr preferRelativeResize="0"/>
          <p:nvPr/>
        </p:nvPicPr>
        <p:blipFill>
          <a:blip r:embed="rId6">
            <a:alphaModFix/>
          </a:blip>
          <a:stretch>
            <a:fillRect/>
          </a:stretch>
        </p:blipFill>
        <p:spPr>
          <a:xfrm rot="5400000">
            <a:off x="4958212" y="1898987"/>
            <a:ext cx="226325" cy="1345550"/>
          </a:xfrm>
          <a:prstGeom prst="rect">
            <a:avLst/>
          </a:prstGeom>
          <a:noFill/>
          <a:ln>
            <a:noFill/>
          </a:ln>
        </p:spPr>
      </p:pic>
      <p:sp>
        <p:nvSpPr>
          <p:cNvPr id="359" name="Google Shape;359;p47"/>
          <p:cNvSpPr txBox="1"/>
          <p:nvPr/>
        </p:nvSpPr>
        <p:spPr>
          <a:xfrm>
            <a:off x="3692475" y="2648250"/>
            <a:ext cx="69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i="1" lang="en" sz="1800">
                <a:solidFill>
                  <a:schemeClr val="dk2"/>
                </a:solidFill>
              </a:rPr>
              <a:t>Prior</a:t>
            </a:r>
            <a:endParaRPr i="1"/>
          </a:p>
        </p:txBody>
      </p:sp>
      <p:sp>
        <p:nvSpPr>
          <p:cNvPr id="360" name="Google Shape;360;p47"/>
          <p:cNvSpPr txBox="1"/>
          <p:nvPr/>
        </p:nvSpPr>
        <p:spPr>
          <a:xfrm>
            <a:off x="4398625" y="2648250"/>
            <a:ext cx="134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i="1" lang="en" sz="1800">
                <a:solidFill>
                  <a:schemeClr val="dk2"/>
                </a:solidFill>
              </a:rPr>
              <a:t>Likelihood</a:t>
            </a:r>
            <a:endParaRPr i="1"/>
          </a:p>
        </p:txBody>
      </p:sp>
      <p:sp>
        <p:nvSpPr>
          <p:cNvPr id="361" name="Google Shape;361;p47"/>
          <p:cNvSpPr txBox="1"/>
          <p:nvPr>
            <p:ph idx="1" type="body"/>
          </p:nvPr>
        </p:nvSpPr>
        <p:spPr>
          <a:xfrm>
            <a:off x="311700" y="3183025"/>
            <a:ext cx="8520600" cy="7803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Since we are interested in predicting the most likely class, we use the </a:t>
            </a:r>
            <a:r>
              <a:rPr i="1" lang="en"/>
              <a:t>maximum a posteriori </a:t>
            </a:r>
            <a:r>
              <a:rPr lang="en"/>
              <a:t>(MAP) estimator:</a:t>
            </a:r>
            <a:endParaRPr/>
          </a:p>
        </p:txBody>
      </p:sp>
      <p:pic>
        <p:nvPicPr>
          <p:cNvPr descr="{&quot;backgroundColorModified&quot;:false,&quot;font&quot;:{&quot;family&quot;:&quot;Arial&quot;,&quot;size&quot;:18,&quot;color&quot;:&quot;#000000&quot;},&quot;code&quot;:&quot;$$c_{map}=\\arg\\max_{c\\in \\mathbb{C}}\\left(\\log_{}\\hat{P}\\left(\\giventhat{c}{x}\\right)\\right)$$&quot;,&quot;aid&quot;:null,&quot;backgroundColor&quot;:&quot;#FFFFFF&quot;,&quot;type&quot;:&quot;$$&quot;,&quot;id&quot;:&quot;11&quot;,&quot;ts&quot;:1748546036131,&quot;cs&quot;:&quot;SZF8es+414z05HyGstGsuQ==&quot;,&quot;size&quot;:{&quot;width&quot;:355.3333333333333,&quot;height&quot;:52.333333333333336}}" id="362" name="Google Shape;362;p47"/>
          <p:cNvPicPr preferRelativeResize="0"/>
          <p:nvPr/>
        </p:nvPicPr>
        <p:blipFill>
          <a:blip r:embed="rId9">
            <a:alphaModFix/>
          </a:blip>
          <a:stretch>
            <a:fillRect/>
          </a:stretch>
        </p:blipFill>
        <p:spPr>
          <a:xfrm>
            <a:off x="3084900" y="4066223"/>
            <a:ext cx="3384550" cy="498475"/>
          </a:xfrm>
          <a:prstGeom prst="rect">
            <a:avLst/>
          </a:prstGeom>
          <a:noFill/>
          <a:ln>
            <a:noFill/>
          </a:ln>
        </p:spPr>
      </p:pic>
      <p:pic>
        <p:nvPicPr>
          <p:cNvPr descr="{&quot;code&quot;:&quot;$$\\}$$&quot;,&quot;aid&quot;:null,&quot;id&quot;:&quot;10&quot;,&quot;backgroundColorModified&quot;:false,&quot;type&quot;:&quot;$$&quot;,&quot;backgroundColor&quot;:&quot;#FFFFFF&quot;,&quot;font&quot;:{&quot;color&quot;:&quot;#000000&quot;,&quot;size&quot;:50.5,&quot;family&quot;:&quot;Arial&quot;},&quot;ts&quot;:1748545980929,&quot;cs&quot;:&quot;90oXkzFvv+Sb0E7giAaC+g==&quot;,&quot;size&quot;:{&quot;width&quot;:23.761152755905528,&quot;height&quot;:81.22048503937008}}" id="363" name="Google Shape;363;p47"/>
          <p:cNvPicPr preferRelativeResize="0"/>
          <p:nvPr/>
        </p:nvPicPr>
        <p:blipFill>
          <a:blip r:embed="rId6">
            <a:alphaModFix/>
          </a:blip>
          <a:stretch>
            <a:fillRect/>
          </a:stretch>
        </p:blipFill>
        <p:spPr>
          <a:xfrm rot="5400000">
            <a:off x="2842300" y="2146375"/>
            <a:ext cx="226325" cy="850775"/>
          </a:xfrm>
          <a:prstGeom prst="rect">
            <a:avLst/>
          </a:prstGeom>
          <a:noFill/>
          <a:ln>
            <a:noFill/>
          </a:ln>
        </p:spPr>
      </p:pic>
      <p:sp>
        <p:nvSpPr>
          <p:cNvPr id="364" name="Google Shape;364;p47"/>
          <p:cNvSpPr txBox="1"/>
          <p:nvPr/>
        </p:nvSpPr>
        <p:spPr>
          <a:xfrm>
            <a:off x="2392175" y="2648250"/>
            <a:ext cx="134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i="1" lang="en" sz="1800">
                <a:solidFill>
                  <a:schemeClr val="dk2"/>
                </a:solidFill>
              </a:rPr>
              <a:t>Posterior</a:t>
            </a:r>
            <a:endParaRPr i="1"/>
          </a:p>
        </p:txBody>
      </p:sp>
      <p:sp>
        <p:nvSpPr>
          <p:cNvPr id="365" name="Google Shape;365;p47"/>
          <p:cNvSpPr txBox="1"/>
          <p:nvPr>
            <p:ph idx="1" type="body"/>
          </p:nvPr>
        </p:nvSpPr>
        <p:spPr>
          <a:xfrm>
            <a:off x="6789511" y="4534600"/>
            <a:ext cx="2096100" cy="461700"/>
          </a:xfrm>
          <a:prstGeom prst="rect">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200"/>
              </a:spcAft>
              <a:buNone/>
            </a:pPr>
            <a:r>
              <a:rPr lang="en"/>
              <a:t>Numerically</a:t>
            </a:r>
            <a:r>
              <a:rPr lang="en"/>
              <a:t> stable</a:t>
            </a:r>
            <a:endParaRPr/>
          </a:p>
        </p:txBody>
      </p:sp>
      <p:cxnSp>
        <p:nvCxnSpPr>
          <p:cNvPr id="366" name="Google Shape;366;p47"/>
          <p:cNvCxnSpPr>
            <a:stCxn id="365" idx="1"/>
          </p:cNvCxnSpPr>
          <p:nvPr/>
        </p:nvCxnSpPr>
        <p:spPr>
          <a:xfrm rot="10800000">
            <a:off x="5286211" y="4486450"/>
            <a:ext cx="1503300" cy="279000"/>
          </a:xfrm>
          <a:prstGeom prst="curvedConnector3">
            <a:avLst>
              <a:gd fmla="val 90485"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8"/>
          <p:cNvSpPr/>
          <p:nvPr/>
        </p:nvSpPr>
        <p:spPr>
          <a:xfrm>
            <a:off x="5547525" y="2462325"/>
            <a:ext cx="3284700" cy="97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Naive Bayes method for text classification</a:t>
            </a:r>
            <a:endParaRPr b="1"/>
          </a:p>
        </p:txBody>
      </p:sp>
      <p:sp>
        <p:nvSpPr>
          <p:cNvPr id="373" name="Google Shape;373;p48"/>
          <p:cNvSpPr txBox="1"/>
          <p:nvPr>
            <p:ph idx="1" type="body"/>
          </p:nvPr>
        </p:nvSpPr>
        <p:spPr>
          <a:xfrm>
            <a:off x="311700" y="1152475"/>
            <a:ext cx="8520600" cy="36264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Here, the prior is simply the relative frequency of the classes in the training data.</a:t>
            </a:r>
            <a:endParaRPr/>
          </a:p>
          <a:p>
            <a:pPr indent="-342900" lvl="0" marL="457200" rtl="0" algn="l">
              <a:spcBef>
                <a:spcPts val="0"/>
              </a:spcBef>
              <a:spcAft>
                <a:spcPts val="0"/>
              </a:spcAft>
              <a:buSzPts val="1800"/>
              <a:buChar char="●"/>
            </a:pPr>
            <a:r>
              <a:rPr lang="en"/>
              <a:t>The likelihood is computed as the relative frequency of the term within the class: </a:t>
            </a:r>
            <a:endParaRPr/>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We implement Laplace smoothing to avoid issues during inference, caused by terms not present in the training data.</a:t>
            </a:r>
            <a:endParaRPr/>
          </a:p>
          <a:p>
            <a:pPr indent="0" lvl="0" marL="0" rtl="0" algn="l">
              <a:lnSpc>
                <a:spcPct val="100000"/>
              </a:lnSpc>
              <a:spcBef>
                <a:spcPts val="1200"/>
              </a:spcBef>
              <a:spcAft>
                <a:spcPts val="1200"/>
              </a:spcAft>
              <a:buNone/>
            </a:pPr>
            <a:r>
              <a:t/>
            </a:r>
            <a:endParaRPr/>
          </a:p>
        </p:txBody>
      </p:sp>
      <p:pic>
        <p:nvPicPr>
          <p:cNvPr descr="{&quot;font&quot;:{&quot;color&quot;:&quot;#000000&quot;,&quot;size&quot;:18,&quot;family&quot;:&quot;Arial&quot;},&quot;id&quot;:&quot;12&quot;,&quot;code&quot;:&quot;$$\\hat{P}\\left(\\giventhat{t}{c}\\right)=\\frac{T_{ct}+1}{\\sum_{t^{\\prime}\\in V}^{}T_{ct^{\\prime}}+1}$$&quot;,&quot;aid&quot;:null,&quot;backgroundColorModified&quot;:false,&quot;type&quot;:&quot;$$&quot;,&quot;backgroundColor&quot;:&quot;#FFFFFF&quot;,&quot;ts&quot;:1748554665306,&quot;cs&quot;:&quot;aopQb8dwWoIbY3fDGnvR7Q==&quot;,&quot;size&quot;:{&quot;width&quot;:300,&quot;height&quot;:67}}" id="374" name="Google Shape;374;p48"/>
          <p:cNvPicPr preferRelativeResize="0"/>
          <p:nvPr/>
        </p:nvPicPr>
        <p:blipFill rotWithShape="1">
          <a:blip r:embed="rId3">
            <a:alphaModFix/>
          </a:blip>
          <a:srcRect b="0" l="0" r="0" t="0"/>
          <a:stretch/>
        </p:blipFill>
        <p:spPr>
          <a:xfrm>
            <a:off x="1991875" y="2554525"/>
            <a:ext cx="2857500" cy="638175"/>
          </a:xfrm>
          <a:prstGeom prst="rect">
            <a:avLst/>
          </a:prstGeom>
          <a:noFill/>
          <a:ln>
            <a:noFill/>
          </a:ln>
        </p:spPr>
      </p:pic>
      <p:sp>
        <p:nvSpPr>
          <p:cNvPr id="375" name="Google Shape;375;p48"/>
          <p:cNvSpPr txBox="1"/>
          <p:nvPr/>
        </p:nvSpPr>
        <p:spPr>
          <a:xfrm>
            <a:off x="5547525" y="2462325"/>
            <a:ext cx="3284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sz="1800">
                <a:solidFill>
                  <a:schemeClr val="dk2"/>
                </a:solidFill>
              </a:rPr>
              <a:t>    </a:t>
            </a:r>
            <a:r>
              <a:rPr lang="en" sz="1800">
                <a:solidFill>
                  <a:schemeClr val="dk2"/>
                </a:solidFill>
              </a:rPr>
              <a:t>  : occurrences of term    in class   </a:t>
            </a:r>
            <a:endParaRPr sz="1800">
              <a:solidFill>
                <a:schemeClr val="dk2"/>
              </a:solidFill>
            </a:endParaRPr>
          </a:p>
        </p:txBody>
      </p:sp>
      <p:pic>
        <p:nvPicPr>
          <p:cNvPr descr="{&quot;code&quot;:&quot;$$t$$&quot;,&quot;type&quot;:&quot;$$&quot;,&quot;aid&quot;:null,&quot;id&quot;:&quot;13&quot;,&quot;backgroundColor&quot;:&quot;#FFFFFF&quot;,&quot;font&quot;:{&quot;size&quot;:18,&quot;family&quot;:&quot;Arial&quot;,&quot;color&quot;:&quot;#000000&quot;},&quot;backgroundColorModified&quot;:false,&quot;ts&quot;:1748554887481,&quot;cs&quot;:&quot;0yY9+XZOgbmpcnsIWGaQig==&quot;,&quot;size&quot;:{&quot;width&quot;:9,&quot;height&quot;:18}}" id="376" name="Google Shape;376;p48"/>
          <p:cNvPicPr preferRelativeResize="0"/>
          <p:nvPr/>
        </p:nvPicPr>
        <p:blipFill>
          <a:blip r:embed="rId4">
            <a:alphaModFix/>
          </a:blip>
          <a:stretch>
            <a:fillRect/>
          </a:stretch>
        </p:blipFill>
        <p:spPr>
          <a:xfrm>
            <a:off x="8258675" y="2612913"/>
            <a:ext cx="85725" cy="171450"/>
          </a:xfrm>
          <a:prstGeom prst="rect">
            <a:avLst/>
          </a:prstGeom>
          <a:noFill/>
          <a:ln>
            <a:noFill/>
          </a:ln>
        </p:spPr>
      </p:pic>
      <p:pic>
        <p:nvPicPr>
          <p:cNvPr descr="{&quot;backgroundColorModified&quot;:false,&quot;font&quot;:{&quot;size&quot;:18,&quot;family&quot;:&quot;Arial&quot;,&quot;color&quot;:&quot;#000000&quot;},&quot;code&quot;:&quot;$$c$$&quot;,&quot;backgroundColor&quot;:&quot;#FFFFFF&quot;,&quot;aid&quot;:null,&quot;type&quot;:&quot;$$&quot;,&quot;id&quot;:&quot;13&quot;,&quot;ts&quot;:1748555019297,&quot;cs&quot;:&quot;wMF0AslImwLucEo+xBCY3g==&quot;,&quot;size&quot;:{&quot;width&quot;:11.166666666666666,&quot;height&quot;:13}}" id="377" name="Google Shape;377;p48"/>
          <p:cNvPicPr preferRelativeResize="0"/>
          <p:nvPr/>
        </p:nvPicPr>
        <p:blipFill>
          <a:blip r:embed="rId5">
            <a:alphaModFix/>
          </a:blip>
          <a:stretch>
            <a:fillRect/>
          </a:stretch>
        </p:blipFill>
        <p:spPr>
          <a:xfrm>
            <a:off x="6231925" y="2922150"/>
            <a:ext cx="106363" cy="123825"/>
          </a:xfrm>
          <a:prstGeom prst="rect">
            <a:avLst/>
          </a:prstGeom>
          <a:noFill/>
          <a:ln>
            <a:noFill/>
          </a:ln>
        </p:spPr>
      </p:pic>
      <p:pic>
        <p:nvPicPr>
          <p:cNvPr descr="{&quot;font&quot;:{&quot;color&quot;:&quot;#000000&quot;,&quot;size&quot;:18,&quot;family&quot;:&quot;Arial&quot;},&quot;code&quot;:&quot;$$V$$&quot;,&quot;aid&quot;:null,&quot;backgroundColorModified&quot;:false,&quot;backgroundColor&quot;:&quot;#FFFFFF&quot;,&quot;id&quot;:&quot;13&quot;,&quot;type&quot;:&quot;$$&quot;,&quot;ts&quot;:1748555105725,&quot;cs&quot;:&quot;9zOqFZil/X1opTef/tvB8Q==&quot;,&quot;size&quot;:{&quot;width&quot;:20.333333333333332,&quot;height&quot;:19.833333333333297}}" id="378" name="Google Shape;378;p48"/>
          <p:cNvPicPr preferRelativeResize="0"/>
          <p:nvPr/>
        </p:nvPicPr>
        <p:blipFill>
          <a:blip r:embed="rId6">
            <a:alphaModFix/>
          </a:blip>
          <a:stretch>
            <a:fillRect/>
          </a:stretch>
        </p:blipFill>
        <p:spPr>
          <a:xfrm>
            <a:off x="5690800" y="3166127"/>
            <a:ext cx="193675" cy="188912"/>
          </a:xfrm>
          <a:prstGeom prst="rect">
            <a:avLst/>
          </a:prstGeom>
          <a:noFill/>
          <a:ln>
            <a:noFill/>
          </a:ln>
        </p:spPr>
      </p:pic>
      <p:pic>
        <p:nvPicPr>
          <p:cNvPr descr="{&quot;code&quot;:&quot;$$T_{ct}$$&quot;,&quot;aid&quot;:null,&quot;id&quot;:&quot;13&quot;,&quot;backgroundColorModified&quot;:false,&quot;backgroundColor&quot;:&quot;#FFFFFF&quot;,&quot;type&quot;:&quot;$$&quot;,&quot;font&quot;:{&quot;family&quot;:&quot;Arial&quot;,&quot;color&quot;:&quot;#000000&quot;,&quot;size&quot;:18},&quot;ts&quot;:1748555262587,&quot;cs&quot;:&quot;riRQxHLJK7xqZaqgu7wM+w==&quot;,&quot;size&quot;:{&quot;width&quot;:32.166666666666664,&quot;height&quot;:23.5}}" id="379" name="Google Shape;379;p48"/>
          <p:cNvPicPr preferRelativeResize="0"/>
          <p:nvPr/>
        </p:nvPicPr>
        <p:blipFill>
          <a:blip r:embed="rId7">
            <a:alphaModFix/>
          </a:blip>
          <a:stretch>
            <a:fillRect/>
          </a:stretch>
        </p:blipFill>
        <p:spPr>
          <a:xfrm>
            <a:off x="5634438" y="2586737"/>
            <a:ext cx="306388" cy="223838"/>
          </a:xfrm>
          <a:prstGeom prst="rect">
            <a:avLst/>
          </a:prstGeom>
          <a:noFill/>
          <a:ln>
            <a:noFill/>
          </a:ln>
        </p:spPr>
      </p:pic>
      <p:sp>
        <p:nvSpPr>
          <p:cNvPr id="380" name="Google Shape;380;p48"/>
          <p:cNvSpPr txBox="1"/>
          <p:nvPr/>
        </p:nvSpPr>
        <p:spPr>
          <a:xfrm>
            <a:off x="5547525" y="3008600"/>
            <a:ext cx="3284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sz="1800">
                <a:solidFill>
                  <a:schemeClr val="dk2"/>
                </a:solidFill>
              </a:rPr>
              <a:t>     : training vocabulary</a:t>
            </a:r>
            <a:endParaRPr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Implementation of Naive Bayes in R</a:t>
            </a:r>
            <a:endParaRPr b="1"/>
          </a:p>
        </p:txBody>
      </p:sp>
      <p:sp>
        <p:nvSpPr>
          <p:cNvPr id="386" name="Google Shape;386;p49"/>
          <p:cNvSpPr txBox="1"/>
          <p:nvPr>
            <p:ph idx="1" type="body"/>
          </p:nvPr>
        </p:nvSpPr>
        <p:spPr>
          <a:xfrm>
            <a:off x="311700" y="1152475"/>
            <a:ext cx="8520600" cy="3426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Organizing and preparing the data: </a:t>
            </a:r>
            <a:endParaRPr b="1"/>
          </a:p>
          <a:p>
            <a:pPr indent="-330200" lvl="1" marL="914400" rtl="0" algn="l">
              <a:spcBef>
                <a:spcPts val="200"/>
              </a:spcBef>
              <a:spcAft>
                <a:spcPts val="200"/>
              </a:spcAft>
              <a:buSzPts val="1600"/>
              <a:buChar char="○"/>
            </a:pPr>
            <a:r>
              <a:rPr lang="en" sz="1600"/>
              <a:t>Structure of preference → </a:t>
            </a:r>
            <a:r>
              <a:rPr b="1" lang="en" sz="1600"/>
              <a:t>dataframes</a:t>
            </a:r>
            <a:endParaRPr sz="1600"/>
          </a:p>
        </p:txBody>
      </p:sp>
      <p:graphicFrame>
        <p:nvGraphicFramePr>
          <p:cNvPr id="387" name="Google Shape;387;p49"/>
          <p:cNvGraphicFramePr/>
          <p:nvPr/>
        </p:nvGraphicFramePr>
        <p:xfrm>
          <a:off x="952500" y="2073525"/>
          <a:ext cx="3000000" cy="3000000"/>
        </p:xfrm>
        <a:graphic>
          <a:graphicData uri="http://schemas.openxmlformats.org/drawingml/2006/table">
            <a:tbl>
              <a:tblPr>
                <a:noFill/>
                <a:tableStyleId>{AB869CA7-6DAA-4073-8B62-08AACF2F456C}</a:tableStyleId>
              </a:tblPr>
              <a:tblGrid>
                <a:gridCol w="2667000"/>
                <a:gridCol w="4572000"/>
              </a:tblGrid>
              <a:tr h="381000">
                <a:tc>
                  <a:txBody>
                    <a:bodyPr/>
                    <a:lstStyle/>
                    <a:p>
                      <a:pPr indent="0" lvl="0" marL="0" rtl="0" algn="ctr">
                        <a:spcBef>
                          <a:spcPts val="0"/>
                        </a:spcBef>
                        <a:spcAft>
                          <a:spcPts val="0"/>
                        </a:spcAft>
                        <a:buNone/>
                      </a:pPr>
                      <a:r>
                        <a:rPr b="1" lang="en"/>
                        <a:t>Label</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t>Text</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1</a:t>
                      </a:r>
                      <a:endParaRPr/>
                    </a:p>
                  </a:txBody>
                  <a:tcPr marT="91425" marB="91425" marR="91425" marL="91425">
                    <a:lnT cap="flat" cmpd="sng" w="19050">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300">
                          <a:solidFill>
                            <a:schemeClr val="dk1"/>
                          </a:solidFill>
                          <a:highlight>
                            <a:srgbClr val="FFFFFF"/>
                          </a:highlight>
                          <a:latin typeface="Verdana"/>
                          <a:ea typeface="Verdana"/>
                          <a:cs typeface="Verdana"/>
                          <a:sym typeface="Verdana"/>
                        </a:rPr>
                        <a:t>Says the Annies List political group supports…</a:t>
                      </a:r>
                      <a:endParaRPr sz="1300"/>
                    </a:p>
                  </a:txBody>
                  <a:tcPr marT="91425" marB="91425" marR="91425" marL="91425">
                    <a:lnT cap="flat" cmpd="sng" w="19050">
                      <a:solidFill>
                        <a:srgbClr val="9E9E9E"/>
                      </a:solidFill>
                      <a:prstDash val="solid"/>
                      <a:round/>
                      <a:headEnd len="sm" w="sm" type="none"/>
                      <a:tailEnd len="sm" w="sm" type="none"/>
                    </a:lnT>
                  </a:tcPr>
                </a:tc>
              </a:tr>
              <a:tr h="381000">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sz="1300">
                          <a:solidFill>
                            <a:schemeClr val="dk1"/>
                          </a:solidFill>
                          <a:latin typeface="Verdana"/>
                          <a:ea typeface="Verdana"/>
                          <a:cs typeface="Verdana"/>
                          <a:sym typeface="Verdana"/>
                        </a:rPr>
                        <a:t>When did the decline of coal start? It started…</a:t>
                      </a:r>
                      <a:endParaRPr sz="1300"/>
                    </a:p>
                  </a:txBody>
                  <a:tcPr marT="91425" marB="91425" marR="91425" marL="91425"/>
                </a:tc>
              </a:tr>
              <a:tr h="381000">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sz="1300">
                          <a:solidFill>
                            <a:schemeClr val="dk1"/>
                          </a:solidFill>
                          <a:highlight>
                            <a:srgbClr val="FFFFFF"/>
                          </a:highlight>
                          <a:latin typeface="Verdana"/>
                          <a:ea typeface="Verdana"/>
                          <a:cs typeface="Verdana"/>
                          <a:sym typeface="Verdana"/>
                        </a:rPr>
                        <a:t>Hillary Clinton agrees with John McCain…</a:t>
                      </a:r>
                      <a:endParaRPr sz="1300"/>
                    </a:p>
                  </a:txBody>
                  <a:tcPr marT="91425" marB="91425" marR="91425" marL="91425"/>
                </a:tc>
              </a:tr>
            </a:tbl>
          </a:graphicData>
        </a:graphic>
      </p:graphicFrame>
      <p:sp>
        <p:nvSpPr>
          <p:cNvPr id="388" name="Google Shape;388;p49"/>
          <p:cNvSpPr txBox="1"/>
          <p:nvPr/>
        </p:nvSpPr>
        <p:spPr>
          <a:xfrm rot="5400000">
            <a:off x="2164275" y="3621674"/>
            <a:ext cx="3876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en" sz="2300">
                <a:solidFill>
                  <a:schemeClr val="dk2"/>
                </a:solidFill>
              </a:rPr>
              <a:t>…</a:t>
            </a:r>
            <a:endParaRPr b="1" sz="2600">
              <a:solidFill>
                <a:schemeClr val="dk2"/>
              </a:solidFill>
            </a:endParaRPr>
          </a:p>
        </p:txBody>
      </p:sp>
      <p:sp>
        <p:nvSpPr>
          <p:cNvPr id="389" name="Google Shape;389;p49"/>
          <p:cNvSpPr txBox="1"/>
          <p:nvPr/>
        </p:nvSpPr>
        <p:spPr>
          <a:xfrm rot="5400000">
            <a:off x="5855175" y="3621674"/>
            <a:ext cx="3876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en" sz="2300">
                <a:solidFill>
                  <a:schemeClr val="dk2"/>
                </a:solidFill>
              </a:rPr>
              <a:t>…</a:t>
            </a:r>
            <a:endParaRPr b="1" sz="26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Implementation of Naive Bayes in R</a:t>
            </a:r>
            <a:endParaRPr b="1"/>
          </a:p>
        </p:txBody>
      </p:sp>
      <p:sp>
        <p:nvSpPr>
          <p:cNvPr id="395" name="Google Shape;395;p50"/>
          <p:cNvSpPr txBox="1"/>
          <p:nvPr>
            <p:ph idx="1" type="body"/>
          </p:nvPr>
        </p:nvSpPr>
        <p:spPr>
          <a:xfrm>
            <a:off x="311700" y="1152475"/>
            <a:ext cx="8520600" cy="3426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Organizing and preparing the data: </a:t>
            </a:r>
            <a:endParaRPr b="1"/>
          </a:p>
          <a:p>
            <a:pPr indent="-330200" lvl="1" marL="914400" rtl="0" algn="l">
              <a:spcBef>
                <a:spcPts val="200"/>
              </a:spcBef>
              <a:spcAft>
                <a:spcPts val="0"/>
              </a:spcAft>
              <a:buSzPts val="1600"/>
              <a:buChar char="○"/>
            </a:pPr>
            <a:r>
              <a:rPr lang="en" sz="1600"/>
              <a:t>Structure of preference → </a:t>
            </a:r>
            <a:r>
              <a:rPr b="1" lang="en" sz="1600"/>
              <a:t>dataframes</a:t>
            </a:r>
            <a:endParaRPr b="1" sz="1600"/>
          </a:p>
          <a:p>
            <a:pPr indent="-330200" lvl="1" marL="914400" rtl="0" algn="l">
              <a:spcBef>
                <a:spcPts val="200"/>
              </a:spcBef>
              <a:spcAft>
                <a:spcPts val="200"/>
              </a:spcAft>
              <a:buSzPts val="1600"/>
              <a:buChar char="○"/>
            </a:pPr>
            <a:r>
              <a:rPr lang="en" sz="1600"/>
              <a:t>Stratified train-validation split → generate training and validation datasets</a:t>
            </a:r>
            <a:endParaRPr sz="1600"/>
          </a:p>
        </p:txBody>
      </p:sp>
      <p:sp>
        <p:nvSpPr>
          <p:cNvPr id="396" name="Google Shape;396;p50"/>
          <p:cNvSpPr txBox="1"/>
          <p:nvPr>
            <p:ph idx="1" type="body"/>
          </p:nvPr>
        </p:nvSpPr>
        <p:spPr>
          <a:xfrm>
            <a:off x="899400" y="2315625"/>
            <a:ext cx="7345200" cy="1876500"/>
          </a:xfrm>
          <a:prstGeom prst="rect">
            <a:avLst/>
          </a:prstGeom>
          <a:solidFill>
            <a:srgbClr val="CCCCCC"/>
          </a:solidFill>
        </p:spPr>
        <p:txBody>
          <a:bodyPr anchorCtr="0" anchor="t" bIns="91425" lIns="91425" spcFirstLastPara="1" rIns="91425" wrap="square" tIns="91425">
            <a:spAutoFit/>
          </a:bodyPr>
          <a:lstStyle/>
          <a:p>
            <a:pPr indent="0" lvl="0" marL="0" rtl="0" algn="l">
              <a:lnSpc>
                <a:spcPct val="115000"/>
              </a:lnSpc>
              <a:spcBef>
                <a:spcPts val="0"/>
              </a:spcBef>
              <a:spcAft>
                <a:spcPts val="0"/>
              </a:spcAft>
              <a:buSzPts val="275"/>
              <a:buNone/>
            </a:pPr>
            <a:r>
              <a:rPr lang="en" sz="1150">
                <a:solidFill>
                  <a:srgbClr val="434343"/>
                </a:solidFill>
                <a:latin typeface="Roboto Mono"/>
                <a:ea typeface="Roboto Mono"/>
                <a:cs typeface="Roboto Mono"/>
                <a:sym typeface="Roboto Mono"/>
              </a:rPr>
              <a:t># Draw a random, stratified sample including p percent of the data</a:t>
            </a:r>
            <a:endParaRPr sz="1150">
              <a:solidFill>
                <a:srgbClr val="434343"/>
              </a:solidFill>
              <a:latin typeface="Roboto Mono"/>
              <a:ea typeface="Roboto Mono"/>
              <a:cs typeface="Roboto Mono"/>
              <a:sym typeface="Roboto Mono"/>
            </a:endParaRPr>
          </a:p>
          <a:p>
            <a:pPr indent="0" lvl="0" marL="0" rtl="0" algn="l">
              <a:lnSpc>
                <a:spcPct val="115000"/>
              </a:lnSpc>
              <a:spcBef>
                <a:spcPts val="100"/>
              </a:spcBef>
              <a:spcAft>
                <a:spcPts val="0"/>
              </a:spcAft>
              <a:buSzPts val="275"/>
              <a:buNone/>
            </a:pPr>
            <a:r>
              <a:rPr lang="en" sz="1150">
                <a:solidFill>
                  <a:srgbClr val="000000"/>
                </a:solidFill>
                <a:latin typeface="Roboto Mono"/>
                <a:ea typeface="Roboto Mono"/>
                <a:cs typeface="Roboto Mono"/>
                <a:sym typeface="Roboto Mono"/>
              </a:rPr>
              <a:t>idx.train &lt;- createDataPartition(y = fakeNewsTrain$Labels, p = 0.8, list = FALSE)</a:t>
            </a:r>
            <a:endParaRPr sz="1150">
              <a:solidFill>
                <a:srgbClr val="000000"/>
              </a:solidFill>
              <a:latin typeface="Roboto Mono"/>
              <a:ea typeface="Roboto Mono"/>
              <a:cs typeface="Roboto Mono"/>
              <a:sym typeface="Roboto Mono"/>
            </a:endParaRPr>
          </a:p>
          <a:p>
            <a:pPr indent="0" lvl="0" marL="0" rtl="0" algn="l">
              <a:lnSpc>
                <a:spcPct val="115000"/>
              </a:lnSpc>
              <a:spcBef>
                <a:spcPts val="100"/>
              </a:spcBef>
              <a:spcAft>
                <a:spcPts val="0"/>
              </a:spcAft>
              <a:buSzPts val="275"/>
              <a:buNone/>
            </a:pPr>
            <a:r>
              <a:t/>
            </a:r>
            <a:endParaRPr sz="1150">
              <a:solidFill>
                <a:srgbClr val="000000"/>
              </a:solidFill>
              <a:latin typeface="Roboto Mono"/>
              <a:ea typeface="Roboto Mono"/>
              <a:cs typeface="Roboto Mono"/>
              <a:sym typeface="Roboto Mono"/>
            </a:endParaRPr>
          </a:p>
          <a:p>
            <a:pPr indent="0" lvl="0" marL="0" rtl="0" algn="l">
              <a:lnSpc>
                <a:spcPct val="115000"/>
              </a:lnSpc>
              <a:spcBef>
                <a:spcPts val="100"/>
              </a:spcBef>
              <a:spcAft>
                <a:spcPts val="0"/>
              </a:spcAft>
              <a:buSzPts val="275"/>
              <a:buNone/>
            </a:pPr>
            <a:r>
              <a:rPr lang="en" sz="1150">
                <a:solidFill>
                  <a:srgbClr val="434343"/>
                </a:solidFill>
                <a:latin typeface="Roboto Mono"/>
                <a:ea typeface="Roboto Mono"/>
                <a:cs typeface="Roboto Mono"/>
                <a:sym typeface="Roboto Mono"/>
              </a:rPr>
              <a:t># Training set with p = 0.8</a:t>
            </a:r>
            <a:endParaRPr sz="1150">
              <a:solidFill>
                <a:srgbClr val="434343"/>
              </a:solidFill>
              <a:latin typeface="Roboto Mono"/>
              <a:ea typeface="Roboto Mono"/>
              <a:cs typeface="Roboto Mono"/>
              <a:sym typeface="Roboto Mono"/>
            </a:endParaRPr>
          </a:p>
          <a:p>
            <a:pPr indent="0" lvl="0" marL="0" rtl="0" algn="l">
              <a:lnSpc>
                <a:spcPct val="115000"/>
              </a:lnSpc>
              <a:spcBef>
                <a:spcPts val="100"/>
              </a:spcBef>
              <a:spcAft>
                <a:spcPts val="0"/>
              </a:spcAft>
              <a:buSzPts val="275"/>
              <a:buNone/>
            </a:pPr>
            <a:r>
              <a:rPr lang="en" sz="1150">
                <a:solidFill>
                  <a:srgbClr val="000000"/>
                </a:solidFill>
                <a:latin typeface="Roboto Mono"/>
                <a:ea typeface="Roboto Mono"/>
                <a:cs typeface="Roboto Mono"/>
                <a:sym typeface="Roboto Mono"/>
              </a:rPr>
              <a:t>trainData &lt;- fakeNewsTrain[idx.train, ]</a:t>
            </a:r>
            <a:endParaRPr sz="1150">
              <a:solidFill>
                <a:srgbClr val="000000"/>
              </a:solidFill>
              <a:latin typeface="Roboto Mono"/>
              <a:ea typeface="Roboto Mono"/>
              <a:cs typeface="Roboto Mono"/>
              <a:sym typeface="Roboto Mono"/>
            </a:endParaRPr>
          </a:p>
          <a:p>
            <a:pPr indent="0" lvl="0" marL="0" rtl="0" algn="l">
              <a:lnSpc>
                <a:spcPct val="115000"/>
              </a:lnSpc>
              <a:spcBef>
                <a:spcPts val="100"/>
              </a:spcBef>
              <a:spcAft>
                <a:spcPts val="0"/>
              </a:spcAft>
              <a:buSzPts val="275"/>
              <a:buNone/>
            </a:pPr>
            <a:r>
              <a:t/>
            </a:r>
            <a:endParaRPr sz="1150">
              <a:solidFill>
                <a:srgbClr val="000000"/>
              </a:solidFill>
              <a:latin typeface="Roboto Mono"/>
              <a:ea typeface="Roboto Mono"/>
              <a:cs typeface="Roboto Mono"/>
              <a:sym typeface="Roboto Mono"/>
            </a:endParaRPr>
          </a:p>
          <a:p>
            <a:pPr indent="0" lvl="0" marL="0" rtl="0" algn="l">
              <a:lnSpc>
                <a:spcPct val="115000"/>
              </a:lnSpc>
              <a:spcBef>
                <a:spcPts val="100"/>
              </a:spcBef>
              <a:spcAft>
                <a:spcPts val="0"/>
              </a:spcAft>
              <a:buSzPts val="275"/>
              <a:buNone/>
            </a:pPr>
            <a:r>
              <a:rPr lang="en" sz="1150">
                <a:solidFill>
                  <a:srgbClr val="434343"/>
                </a:solidFill>
                <a:latin typeface="Roboto Mono"/>
                <a:ea typeface="Roboto Mono"/>
                <a:cs typeface="Roboto Mono"/>
                <a:sym typeface="Roboto Mono"/>
              </a:rPr>
              <a:t># Validation set with p = 0.2</a:t>
            </a:r>
            <a:endParaRPr sz="1150">
              <a:solidFill>
                <a:srgbClr val="434343"/>
              </a:solidFill>
              <a:latin typeface="Roboto Mono"/>
              <a:ea typeface="Roboto Mono"/>
              <a:cs typeface="Roboto Mono"/>
              <a:sym typeface="Roboto Mono"/>
            </a:endParaRPr>
          </a:p>
          <a:p>
            <a:pPr indent="0" lvl="0" marL="0" rtl="0" algn="l">
              <a:lnSpc>
                <a:spcPct val="115000"/>
              </a:lnSpc>
              <a:spcBef>
                <a:spcPts val="100"/>
              </a:spcBef>
              <a:spcAft>
                <a:spcPts val="100"/>
              </a:spcAft>
              <a:buSzPts val="275"/>
              <a:buNone/>
            </a:pPr>
            <a:r>
              <a:rPr lang="en" sz="1150">
                <a:solidFill>
                  <a:srgbClr val="000000"/>
                </a:solidFill>
                <a:latin typeface="Roboto Mono"/>
                <a:ea typeface="Roboto Mono"/>
                <a:cs typeface="Roboto Mono"/>
                <a:sym typeface="Roboto Mono"/>
              </a:rPr>
              <a:t>validationData &lt;- fakeNewsTrain[-idx.train, ]</a:t>
            </a:r>
            <a:endParaRPr sz="1150">
              <a:solidFill>
                <a:srgbClr val="000000"/>
              </a:solidFill>
              <a:latin typeface="Roboto Mono"/>
              <a:ea typeface="Roboto Mono"/>
              <a:cs typeface="Roboto Mono"/>
              <a:sym typeface="Roboto Mon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Implementation of Naive Bayes in R</a:t>
            </a:r>
            <a:endParaRPr b="1"/>
          </a:p>
        </p:txBody>
      </p:sp>
      <p:sp>
        <p:nvSpPr>
          <p:cNvPr id="402" name="Google Shape;402;p51"/>
          <p:cNvSpPr txBox="1"/>
          <p:nvPr>
            <p:ph idx="1" type="body"/>
          </p:nvPr>
        </p:nvSpPr>
        <p:spPr>
          <a:xfrm>
            <a:off x="311700" y="1152475"/>
            <a:ext cx="8520600" cy="3426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Organizing and preparing the data: </a:t>
            </a:r>
            <a:endParaRPr b="1"/>
          </a:p>
          <a:p>
            <a:pPr indent="-330200" lvl="1" marL="914400" rtl="0" algn="l">
              <a:spcBef>
                <a:spcPts val="200"/>
              </a:spcBef>
              <a:spcAft>
                <a:spcPts val="0"/>
              </a:spcAft>
              <a:buSzPts val="1600"/>
              <a:buChar char="○"/>
            </a:pPr>
            <a:r>
              <a:rPr lang="en" sz="1600"/>
              <a:t>Structure of preference → </a:t>
            </a:r>
            <a:r>
              <a:rPr b="1" lang="en" sz="1600"/>
              <a:t>dataframes</a:t>
            </a:r>
            <a:endParaRPr b="1" sz="1600"/>
          </a:p>
          <a:p>
            <a:pPr indent="-330200" lvl="1" marL="914400" rtl="0" algn="l">
              <a:spcBef>
                <a:spcPts val="200"/>
              </a:spcBef>
              <a:spcAft>
                <a:spcPts val="0"/>
              </a:spcAft>
              <a:buSzPts val="1600"/>
              <a:buChar char="○"/>
            </a:pPr>
            <a:r>
              <a:rPr lang="en" sz="1600"/>
              <a:t>Stratified train-validation split → generate training and validation datasets</a:t>
            </a:r>
            <a:endParaRPr sz="1600"/>
          </a:p>
          <a:p>
            <a:pPr indent="-330200" lvl="1" marL="914400" rtl="0" algn="l">
              <a:spcBef>
                <a:spcPts val="200"/>
              </a:spcBef>
              <a:spcAft>
                <a:spcPts val="200"/>
              </a:spcAft>
              <a:buSzPts val="1600"/>
              <a:buChar char="○"/>
            </a:pPr>
            <a:r>
              <a:rPr lang="en" sz="1600"/>
              <a:t>Data processing → cleaning and preparing the text sequences</a:t>
            </a:r>
            <a:endParaRPr sz="1600"/>
          </a:p>
        </p:txBody>
      </p:sp>
      <p:sp>
        <p:nvSpPr>
          <p:cNvPr id="403" name="Google Shape;403;p51"/>
          <p:cNvSpPr txBox="1"/>
          <p:nvPr>
            <p:ph idx="1" type="body"/>
          </p:nvPr>
        </p:nvSpPr>
        <p:spPr>
          <a:xfrm>
            <a:off x="899400" y="2571750"/>
            <a:ext cx="7345200" cy="2092800"/>
          </a:xfrm>
          <a:prstGeom prst="rect">
            <a:avLst/>
          </a:prstGeom>
          <a:solidFill>
            <a:srgbClr val="CCCCCC"/>
          </a:solidFill>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process_data &lt;- function(data_var) {</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result &lt;- data_var$Text </a:t>
            </a:r>
            <a:r>
              <a:rPr lang="en" sz="1150">
                <a:solidFill>
                  <a:srgbClr val="434343"/>
                </a:solidFill>
                <a:latin typeface="Roboto Mono"/>
                <a:ea typeface="Roboto Mono"/>
                <a:cs typeface="Roboto Mono"/>
                <a:sym typeface="Roboto Mono"/>
              </a:rPr>
              <a:t># Init variable</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result &lt;- gsub("[[:punct:] ]+", " ", result) </a:t>
            </a:r>
            <a:r>
              <a:rPr lang="en" sz="1150">
                <a:solidFill>
                  <a:srgbClr val="434343"/>
                </a:solidFill>
                <a:latin typeface="Roboto Mono"/>
                <a:ea typeface="Roboto Mono"/>
                <a:cs typeface="Roboto Mono"/>
                <a:sym typeface="Roboto Mono"/>
              </a:rPr>
              <a:t># Remove punctuation</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result &lt;- tolower(result) </a:t>
            </a:r>
            <a:r>
              <a:rPr lang="en" sz="1150">
                <a:solidFill>
                  <a:srgbClr val="434343"/>
                </a:solidFill>
                <a:latin typeface="Roboto Mono"/>
                <a:ea typeface="Roboto Mono"/>
                <a:cs typeface="Roboto Mono"/>
                <a:sym typeface="Roboto Mono"/>
              </a:rPr>
              <a:t># Turn everything into lowercase</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SzPts val="1100"/>
              <a:buNone/>
            </a:pPr>
            <a:r>
              <a:rPr lang="en" sz="1150">
                <a:solidFill>
                  <a:schemeClr val="dk1"/>
                </a:solidFill>
                <a:latin typeface="Roboto Mono"/>
                <a:ea typeface="Roboto Mono"/>
                <a:cs typeface="Roboto Mono"/>
                <a:sym typeface="Roboto Mono"/>
              </a:rPr>
              <a:t>  result &lt;- strsplit(result, split=" ") </a:t>
            </a:r>
            <a:r>
              <a:rPr lang="en" sz="1150">
                <a:solidFill>
                  <a:srgbClr val="434343"/>
                </a:solidFill>
                <a:latin typeface="Roboto Mono"/>
                <a:ea typeface="Roboto Mono"/>
                <a:cs typeface="Roboto Mono"/>
                <a:sym typeface="Roboto Mono"/>
              </a:rPr>
              <a:t># Split by whitespaces</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SzPts val="1100"/>
              <a:buNone/>
            </a:pPr>
            <a:r>
              <a:rPr lang="en" sz="1150">
                <a:solidFill>
                  <a:srgbClr val="434343"/>
                </a:solidFill>
                <a:latin typeface="Roboto Mono"/>
                <a:ea typeface="Roboto Mono"/>
                <a:cs typeface="Roboto Mono"/>
                <a:sym typeface="Roboto Mono"/>
              </a:rPr>
              <a:t>  # Additional techniques: remove stopwords, stemming, lemmatization</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rgbClr val="434343"/>
                </a:solidFill>
                <a:latin typeface="Roboto Mono"/>
                <a:ea typeface="Roboto Mono"/>
                <a:cs typeface="Roboto Mono"/>
                <a:sym typeface="Roboto Mono"/>
              </a:rPr>
              <a:t>  # ...</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result</a:t>
            </a:r>
            <a:endParaRPr sz="1150">
              <a:solidFill>
                <a:schemeClr val="dk1"/>
              </a:solidFill>
              <a:latin typeface="Roboto Mono"/>
              <a:ea typeface="Roboto Mono"/>
              <a:cs typeface="Roboto Mono"/>
              <a:sym typeface="Roboto Mono"/>
            </a:endParaRPr>
          </a:p>
          <a:p>
            <a:pPr indent="0" lvl="0" marL="0" rtl="0" algn="l">
              <a:spcBef>
                <a:spcPts val="100"/>
              </a:spcBef>
              <a:spcAft>
                <a:spcPts val="100"/>
              </a:spcAft>
              <a:buSzPts val="1100"/>
              <a:buNone/>
            </a:pPr>
            <a:r>
              <a:rPr lang="en" sz="1150">
                <a:solidFill>
                  <a:schemeClr val="dk1"/>
                </a:solidFill>
                <a:latin typeface="Roboto Mono"/>
                <a:ea typeface="Roboto Mono"/>
                <a:cs typeface="Roboto Mono"/>
                <a:sym typeface="Roboto Mono"/>
              </a:rPr>
              <a:t>}</a:t>
            </a:r>
            <a:endParaRPr sz="1150">
              <a:solidFill>
                <a:schemeClr val="dk1"/>
              </a:solidFill>
              <a:latin typeface="Roboto Mono"/>
              <a:ea typeface="Roboto Mono"/>
              <a:cs typeface="Roboto Mono"/>
              <a:sym typeface="Roboto Mon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Implementation of Naive Bayes in R</a:t>
            </a:r>
            <a:endParaRPr b="1"/>
          </a:p>
        </p:txBody>
      </p:sp>
      <p:sp>
        <p:nvSpPr>
          <p:cNvPr id="409" name="Google Shape;409;p52"/>
          <p:cNvSpPr txBox="1"/>
          <p:nvPr>
            <p:ph idx="1" type="body"/>
          </p:nvPr>
        </p:nvSpPr>
        <p:spPr>
          <a:xfrm>
            <a:off x="311700" y="1152475"/>
            <a:ext cx="8520600" cy="3426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Building the Naive Bayes model </a:t>
            </a:r>
            <a:r>
              <a:rPr b="1" lang="en"/>
              <a:t>: </a:t>
            </a:r>
            <a:endParaRPr b="1"/>
          </a:p>
          <a:p>
            <a:pPr indent="-330200" lvl="1" marL="914400" rtl="0" algn="l">
              <a:spcBef>
                <a:spcPts val="200"/>
              </a:spcBef>
              <a:spcAft>
                <a:spcPts val="200"/>
              </a:spcAft>
              <a:buSzPts val="1600"/>
              <a:buChar char="○"/>
            </a:pPr>
            <a:r>
              <a:rPr lang="en" sz="1600"/>
              <a:t>Initializing of model vocabulary → </a:t>
            </a:r>
            <a:r>
              <a:rPr b="1" lang="en" sz="1600"/>
              <a:t>dataframe</a:t>
            </a:r>
            <a:r>
              <a:rPr lang="en" sz="1600"/>
              <a:t> with known terms</a:t>
            </a:r>
            <a:endParaRPr sz="1600"/>
          </a:p>
        </p:txBody>
      </p:sp>
      <p:sp>
        <p:nvSpPr>
          <p:cNvPr id="410" name="Google Shape;410;p52"/>
          <p:cNvSpPr txBox="1"/>
          <p:nvPr>
            <p:ph idx="1" type="body"/>
          </p:nvPr>
        </p:nvSpPr>
        <p:spPr>
          <a:xfrm>
            <a:off x="899400" y="1982625"/>
            <a:ext cx="7345200" cy="1876500"/>
          </a:xfrm>
          <a:prstGeom prst="rect">
            <a:avLst/>
          </a:prstGeom>
          <a:solidFill>
            <a:srgbClr val="CCCCCC"/>
          </a:solidFill>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generate_numerical_mapping &lt;- function(termsVar){</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flatTerms &lt;- unlist(termsVar) </a:t>
            </a:r>
            <a:r>
              <a:rPr lang="en" sz="1150">
                <a:solidFill>
                  <a:srgbClr val="434343"/>
                </a:solidFill>
                <a:latin typeface="Roboto Mono"/>
                <a:ea typeface="Roboto Mono"/>
                <a:cs typeface="Roboto Mono"/>
                <a:sym typeface="Roboto Mono"/>
              </a:rPr>
              <a:t># Single vector with all the terms</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uniqueTerms &lt;- unique(flatTerms) </a:t>
            </a:r>
            <a:r>
              <a:rPr lang="en" sz="1150">
                <a:solidFill>
                  <a:srgbClr val="434343"/>
                </a:solidFill>
                <a:latin typeface="Roboto Mono"/>
                <a:ea typeface="Roboto Mono"/>
                <a:cs typeface="Roboto Mono"/>
                <a:sym typeface="Roboto Mono"/>
              </a:rPr>
              <a:t># Unique words</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uniqueNum &lt;- length(uniqueTerms) </a:t>
            </a:r>
            <a:r>
              <a:rPr lang="en" sz="1150">
                <a:solidFill>
                  <a:srgbClr val="434343"/>
                </a:solidFill>
                <a:latin typeface="Roboto Mono"/>
                <a:ea typeface="Roboto Mono"/>
                <a:cs typeface="Roboto Mono"/>
                <a:sym typeface="Roboto Mono"/>
              </a:rPr>
              <a:t># Number of unique terms</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d &lt;- data.frame(Term = uniqueTerms, Id = c(1:uniqueNum)) </a:t>
            </a:r>
            <a:r>
              <a:rPr lang="en" sz="1150">
                <a:solidFill>
                  <a:srgbClr val="434343"/>
                </a:solidFill>
                <a:latin typeface="Roboto Mono"/>
                <a:ea typeface="Roboto Mono"/>
                <a:cs typeface="Roboto Mono"/>
                <a:sym typeface="Roboto Mono"/>
              </a:rPr>
              <a:t># Build mapping</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d</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a:t>
            </a:r>
            <a:endParaRPr sz="1150">
              <a:solidFill>
                <a:schemeClr val="dk1"/>
              </a:solidFill>
              <a:latin typeface="Roboto Mono"/>
              <a:ea typeface="Roboto Mono"/>
              <a:cs typeface="Roboto Mono"/>
              <a:sym typeface="Roboto Mono"/>
            </a:endParaRPr>
          </a:p>
          <a:p>
            <a:pPr indent="0" lvl="0" marL="0" rtl="0" algn="l">
              <a:spcBef>
                <a:spcPts val="100"/>
              </a:spcBef>
              <a:spcAft>
                <a:spcPts val="100"/>
              </a:spcAft>
              <a:buSzPts val="1100"/>
              <a:buNone/>
            </a:pPr>
            <a:r>
              <a:rPr lang="en" sz="1150">
                <a:solidFill>
                  <a:schemeClr val="dk1"/>
                </a:solidFill>
                <a:latin typeface="Roboto Mono"/>
                <a:ea typeface="Roboto Mono"/>
                <a:cs typeface="Roboto Mono"/>
                <a:sym typeface="Roboto Mono"/>
              </a:rPr>
              <a:t>numMapping &lt;- generate_numerical_mapping(trainProcessed)</a:t>
            </a:r>
            <a:endParaRPr sz="1150">
              <a:solidFill>
                <a:schemeClr val="dk1"/>
              </a:solidFill>
              <a:latin typeface="Roboto Mono"/>
              <a:ea typeface="Roboto Mono"/>
              <a:cs typeface="Roboto Mono"/>
              <a:sym typeface="Roboto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Implementation of Naive Bayes in R</a:t>
            </a:r>
            <a:endParaRPr b="1"/>
          </a:p>
        </p:txBody>
      </p:sp>
      <p:sp>
        <p:nvSpPr>
          <p:cNvPr id="416" name="Google Shape;416;p53"/>
          <p:cNvSpPr txBox="1"/>
          <p:nvPr>
            <p:ph idx="1" type="body"/>
          </p:nvPr>
        </p:nvSpPr>
        <p:spPr>
          <a:xfrm>
            <a:off x="311700" y="1152475"/>
            <a:ext cx="8520600" cy="3426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Building the Naive Bayes model : </a:t>
            </a:r>
            <a:endParaRPr b="1"/>
          </a:p>
          <a:p>
            <a:pPr indent="-330200" lvl="1" marL="914400" rtl="0" algn="l">
              <a:spcBef>
                <a:spcPts val="200"/>
              </a:spcBef>
              <a:spcAft>
                <a:spcPts val="0"/>
              </a:spcAft>
              <a:buSzPts val="1600"/>
              <a:buChar char="○"/>
            </a:pPr>
            <a:r>
              <a:rPr lang="en" sz="1600"/>
              <a:t>Initializing</a:t>
            </a:r>
            <a:r>
              <a:rPr lang="en" sz="1600"/>
              <a:t> of model vocabulary → </a:t>
            </a:r>
            <a:r>
              <a:rPr b="1" lang="en" sz="1600"/>
              <a:t>dataframe</a:t>
            </a:r>
            <a:r>
              <a:rPr lang="en" sz="1600"/>
              <a:t> with known terms</a:t>
            </a:r>
            <a:endParaRPr sz="1600"/>
          </a:p>
          <a:p>
            <a:pPr indent="-330200" lvl="1" marL="914400" rtl="0" algn="l">
              <a:spcBef>
                <a:spcPts val="200"/>
              </a:spcBef>
              <a:spcAft>
                <a:spcPts val="200"/>
              </a:spcAft>
              <a:buSzPts val="1600"/>
              <a:buChar char="○"/>
            </a:pPr>
            <a:r>
              <a:rPr lang="en" sz="1600"/>
              <a:t>Defining the data structure for the prior → </a:t>
            </a:r>
            <a:r>
              <a:rPr b="1" lang="en" sz="1600"/>
              <a:t>dataframe </a:t>
            </a:r>
            <a:r>
              <a:rPr lang="en" sz="1600"/>
              <a:t>with class labels and relative frequency</a:t>
            </a:r>
            <a:endParaRPr sz="1600"/>
          </a:p>
        </p:txBody>
      </p:sp>
      <p:graphicFrame>
        <p:nvGraphicFramePr>
          <p:cNvPr id="417" name="Google Shape;417;p53"/>
          <p:cNvGraphicFramePr/>
          <p:nvPr/>
        </p:nvGraphicFramePr>
        <p:xfrm>
          <a:off x="952500" y="2623050"/>
          <a:ext cx="3000000" cy="3000000"/>
        </p:xfrm>
        <a:graphic>
          <a:graphicData uri="http://schemas.openxmlformats.org/drawingml/2006/table">
            <a:tbl>
              <a:tblPr>
                <a:noFill/>
                <a:tableStyleId>{AB869CA7-6DAA-4073-8B62-08AACF2F456C}</a:tableStyleId>
              </a:tblPr>
              <a:tblGrid>
                <a:gridCol w="3619500"/>
                <a:gridCol w="3619500"/>
              </a:tblGrid>
              <a:tr h="381000">
                <a:tc>
                  <a:txBody>
                    <a:bodyPr/>
                    <a:lstStyle/>
                    <a:p>
                      <a:pPr indent="0" lvl="0" marL="0" rtl="0" algn="ctr">
                        <a:spcBef>
                          <a:spcPts val="0"/>
                        </a:spcBef>
                        <a:spcAft>
                          <a:spcPts val="0"/>
                        </a:spcAft>
                        <a:buNone/>
                      </a:pPr>
                      <a:r>
                        <a:rPr b="1" lang="en"/>
                        <a:t>Label</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t>Relative frequency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0</a:t>
                      </a:r>
                      <a:endParaRPr/>
                    </a:p>
                  </a:txBody>
                  <a:tcPr marT="91425" marB="91425" marR="91425" marL="91425">
                    <a:lnT cap="flat" cmpd="sng" w="19050">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a:t>0.32</a:t>
                      </a:r>
                      <a:endParaRPr/>
                    </a:p>
                  </a:txBody>
                  <a:tcPr marT="91425" marB="91425" marR="91425" marL="91425">
                    <a:lnT cap="flat" cmpd="sng" w="19050">
                      <a:solidFill>
                        <a:srgbClr val="9E9E9E"/>
                      </a:solidFill>
                      <a:prstDash val="solid"/>
                      <a:round/>
                      <a:headEnd len="sm" w="sm" type="none"/>
                      <a:tailEnd len="sm" w="sm" type="none"/>
                    </a:lnT>
                  </a:tcPr>
                </a:tc>
              </a:tr>
              <a:tr h="381000">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0.25</a:t>
                      </a:r>
                      <a:endParaRPr/>
                    </a:p>
                  </a:txBody>
                  <a:tcPr marT="91425" marB="91425" marR="91425" marL="91425"/>
                </a:tc>
              </a:tr>
            </a:tbl>
          </a:graphicData>
        </a:graphic>
      </p:graphicFrame>
      <p:sp>
        <p:nvSpPr>
          <p:cNvPr id="418" name="Google Shape;418;p53"/>
          <p:cNvSpPr txBox="1"/>
          <p:nvPr/>
        </p:nvSpPr>
        <p:spPr>
          <a:xfrm rot="5400000">
            <a:off x="2668000" y="3795674"/>
            <a:ext cx="3876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en" sz="2300">
                <a:solidFill>
                  <a:schemeClr val="dk2"/>
                </a:solidFill>
              </a:rPr>
              <a:t>…</a:t>
            </a:r>
            <a:endParaRPr b="1" sz="2600">
              <a:solidFill>
                <a:schemeClr val="dk2"/>
              </a:solidFill>
            </a:endParaRPr>
          </a:p>
        </p:txBody>
      </p:sp>
      <p:sp>
        <p:nvSpPr>
          <p:cNvPr id="419" name="Google Shape;419;p53"/>
          <p:cNvSpPr txBox="1"/>
          <p:nvPr/>
        </p:nvSpPr>
        <p:spPr>
          <a:xfrm rot="5400000">
            <a:off x="6276500" y="3795674"/>
            <a:ext cx="3876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en" sz="2300">
                <a:solidFill>
                  <a:schemeClr val="dk2"/>
                </a:solidFill>
              </a:rPr>
              <a:t>…</a:t>
            </a:r>
            <a:endParaRPr b="1" sz="26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Implementation of Naive Bayes in R</a:t>
            </a:r>
            <a:endParaRPr b="1"/>
          </a:p>
        </p:txBody>
      </p:sp>
      <p:sp>
        <p:nvSpPr>
          <p:cNvPr id="425" name="Google Shape;425;p54"/>
          <p:cNvSpPr txBox="1"/>
          <p:nvPr>
            <p:ph idx="1" type="body"/>
          </p:nvPr>
        </p:nvSpPr>
        <p:spPr>
          <a:xfrm>
            <a:off x="311700" y="1152475"/>
            <a:ext cx="8520600" cy="3426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Building the Naive Bayes model : </a:t>
            </a:r>
            <a:endParaRPr b="1"/>
          </a:p>
          <a:p>
            <a:pPr indent="-330200" lvl="1" marL="914400" rtl="0" algn="l">
              <a:spcBef>
                <a:spcPts val="200"/>
              </a:spcBef>
              <a:spcAft>
                <a:spcPts val="0"/>
              </a:spcAft>
              <a:buSzPts val="1600"/>
              <a:buChar char="○"/>
            </a:pPr>
            <a:r>
              <a:rPr lang="en" sz="1600"/>
              <a:t>Initializing the model vocabulary → </a:t>
            </a:r>
            <a:r>
              <a:rPr b="1" lang="en" sz="1600"/>
              <a:t>dataframe</a:t>
            </a:r>
            <a:r>
              <a:rPr lang="en" sz="1600"/>
              <a:t> with known </a:t>
            </a:r>
            <a:r>
              <a:rPr i="1" lang="en" sz="1600"/>
              <a:t>terms</a:t>
            </a:r>
            <a:endParaRPr i="1" sz="1600"/>
          </a:p>
          <a:p>
            <a:pPr indent="-330200" lvl="1" marL="914400" rtl="0" algn="l">
              <a:spcBef>
                <a:spcPts val="200"/>
              </a:spcBef>
              <a:spcAft>
                <a:spcPts val="0"/>
              </a:spcAft>
              <a:buSzPts val="1600"/>
              <a:buChar char="○"/>
            </a:pPr>
            <a:r>
              <a:rPr lang="en" sz="1600"/>
              <a:t>Defining</a:t>
            </a:r>
            <a:r>
              <a:rPr lang="en" sz="1600"/>
              <a:t> the data structure for the prior → </a:t>
            </a:r>
            <a:r>
              <a:rPr b="1" lang="en" sz="1600"/>
              <a:t>dataframe </a:t>
            </a:r>
            <a:r>
              <a:rPr lang="en" sz="1600"/>
              <a:t>with </a:t>
            </a:r>
            <a:r>
              <a:rPr i="1" lang="en" sz="1600"/>
              <a:t>class labels</a:t>
            </a:r>
            <a:r>
              <a:rPr lang="en" sz="1600"/>
              <a:t> and relative frequency</a:t>
            </a:r>
            <a:endParaRPr sz="1600"/>
          </a:p>
          <a:p>
            <a:pPr indent="-330200" lvl="1" marL="914400" rtl="0" algn="l">
              <a:spcBef>
                <a:spcPts val="200"/>
              </a:spcBef>
              <a:spcAft>
                <a:spcPts val="200"/>
              </a:spcAft>
              <a:buSzPts val="1600"/>
              <a:buChar char="○"/>
            </a:pPr>
            <a:r>
              <a:rPr lang="en" sz="1600"/>
              <a:t>Defining the data structure for the likelihood → </a:t>
            </a:r>
            <a:r>
              <a:rPr b="1" lang="en" sz="1600"/>
              <a:t>matrix</a:t>
            </a:r>
            <a:r>
              <a:rPr lang="en" sz="1600"/>
              <a:t> with the likelihood of each known </a:t>
            </a:r>
            <a:r>
              <a:rPr i="1" lang="en" sz="1600"/>
              <a:t>term</a:t>
            </a:r>
            <a:r>
              <a:rPr lang="en" sz="1600"/>
              <a:t> for each possible </a:t>
            </a:r>
            <a:r>
              <a:rPr i="1" lang="en" sz="1600"/>
              <a:t>class</a:t>
            </a:r>
            <a:endParaRPr i="1" sz="1600"/>
          </a:p>
        </p:txBody>
      </p:sp>
      <p:pic>
        <p:nvPicPr>
          <p:cNvPr descr="File:Matrix (maths), revised.png - Wikipedia, le encyclopedia libere" id="426" name="Google Shape;426;p54"/>
          <p:cNvPicPr preferRelativeResize="0"/>
          <p:nvPr/>
        </p:nvPicPr>
        <p:blipFill>
          <a:blip r:embed="rId3">
            <a:alphaModFix/>
          </a:blip>
          <a:stretch>
            <a:fillRect/>
          </a:stretch>
        </p:blipFill>
        <p:spPr>
          <a:xfrm>
            <a:off x="3586716" y="3572172"/>
            <a:ext cx="2289306" cy="1229332"/>
          </a:xfrm>
          <a:prstGeom prst="rect">
            <a:avLst/>
          </a:prstGeom>
          <a:noFill/>
          <a:ln>
            <a:noFill/>
          </a:ln>
        </p:spPr>
      </p:pic>
      <p:pic>
        <p:nvPicPr>
          <p:cNvPr descr="{&quot;code&quot;:&quot;$$\\}$$&quot;,&quot;aid&quot;:null,&quot;id&quot;:&quot;10&quot;,&quot;backgroundColorModified&quot;:false,&quot;type&quot;:&quot;$$&quot;,&quot;backgroundColor&quot;:&quot;#FFFFFF&quot;,&quot;font&quot;:{&quot;color&quot;:&quot;#000000&quot;,&quot;size&quot;:40,&quot;family&quot;:&quot;Arial&quot;},&quot;ts&quot;:1748544932583,&quot;cs&quot;:&quot;/97Clzpue5qj8GamsJbhAw==&quot;,&quot;size&quot;:{&quot;width&quot;:23.761152755905528,&quot;height&quot;:63.92650236220471}}" id="427" name="Google Shape;427;p54"/>
          <p:cNvPicPr preferRelativeResize="0"/>
          <p:nvPr/>
        </p:nvPicPr>
        <p:blipFill>
          <a:blip r:embed="rId4">
            <a:alphaModFix/>
          </a:blip>
          <a:stretch>
            <a:fillRect/>
          </a:stretch>
        </p:blipFill>
        <p:spPr>
          <a:xfrm rot="-5400000">
            <a:off x="4657790" y="2420928"/>
            <a:ext cx="190917" cy="2111545"/>
          </a:xfrm>
          <a:prstGeom prst="rect">
            <a:avLst/>
          </a:prstGeom>
          <a:noFill/>
          <a:ln>
            <a:noFill/>
          </a:ln>
        </p:spPr>
      </p:pic>
      <p:sp>
        <p:nvSpPr>
          <p:cNvPr id="428" name="Google Shape;428;p54"/>
          <p:cNvSpPr txBox="1"/>
          <p:nvPr/>
        </p:nvSpPr>
        <p:spPr>
          <a:xfrm>
            <a:off x="4156908" y="3013113"/>
            <a:ext cx="1149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i="1" lang="en" sz="1500">
                <a:solidFill>
                  <a:schemeClr val="dk2"/>
                </a:solidFill>
              </a:rPr>
              <a:t>Classes</a:t>
            </a:r>
            <a:endParaRPr i="1" sz="1500"/>
          </a:p>
        </p:txBody>
      </p:sp>
      <p:sp>
        <p:nvSpPr>
          <p:cNvPr id="429" name="Google Shape;429;p54"/>
          <p:cNvSpPr txBox="1"/>
          <p:nvPr/>
        </p:nvSpPr>
        <p:spPr>
          <a:xfrm>
            <a:off x="2509444" y="3994376"/>
            <a:ext cx="1149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i="1" lang="en" sz="1500">
                <a:solidFill>
                  <a:schemeClr val="dk2"/>
                </a:solidFill>
              </a:rPr>
              <a:t>Terms</a:t>
            </a:r>
            <a:endParaRPr i="1" sz="1500"/>
          </a:p>
        </p:txBody>
      </p:sp>
      <p:pic>
        <p:nvPicPr>
          <p:cNvPr descr="{&quot;code&quot;:&quot;$$\\}$$&quot;,&quot;aid&quot;:null,&quot;id&quot;:&quot;10&quot;,&quot;backgroundColorModified&quot;:false,&quot;type&quot;:&quot;$$&quot;,&quot;backgroundColor&quot;:&quot;#FFFFFF&quot;,&quot;font&quot;:{&quot;color&quot;:&quot;#000000&quot;,&quot;size&quot;:40,&quot;family&quot;:&quot;Arial&quot;},&quot;ts&quot;:1748544932583,&quot;cs&quot;:&quot;/97Clzpue5qj8GamsJbhAw==&quot;,&quot;size&quot;:{&quot;width&quot;:23.761152755905528,&quot;height&quot;:63.92650236220471}}" id="430" name="Google Shape;430;p54"/>
          <p:cNvPicPr preferRelativeResize="0"/>
          <p:nvPr/>
        </p:nvPicPr>
        <p:blipFill>
          <a:blip r:embed="rId4">
            <a:alphaModFix/>
          </a:blip>
          <a:stretch>
            <a:fillRect/>
          </a:stretch>
        </p:blipFill>
        <p:spPr>
          <a:xfrm rot="10800000">
            <a:off x="3452825" y="3599350"/>
            <a:ext cx="172975" cy="12155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Implementation of Naive Bayes in R</a:t>
            </a:r>
            <a:endParaRPr b="1"/>
          </a:p>
        </p:txBody>
      </p:sp>
      <p:sp>
        <p:nvSpPr>
          <p:cNvPr id="436" name="Google Shape;436;p55"/>
          <p:cNvSpPr txBox="1"/>
          <p:nvPr>
            <p:ph idx="1" type="body"/>
          </p:nvPr>
        </p:nvSpPr>
        <p:spPr>
          <a:xfrm>
            <a:off x="311700" y="1152475"/>
            <a:ext cx="8520600" cy="3426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Training the</a:t>
            </a:r>
            <a:r>
              <a:rPr b="1" lang="en"/>
              <a:t> model : </a:t>
            </a:r>
            <a:endParaRPr b="1"/>
          </a:p>
          <a:p>
            <a:pPr indent="-330200" lvl="1" marL="914400" rtl="0" algn="l">
              <a:spcBef>
                <a:spcPts val="200"/>
              </a:spcBef>
              <a:spcAft>
                <a:spcPts val="200"/>
              </a:spcAft>
              <a:buSzPts val="1600"/>
              <a:buChar char="○"/>
            </a:pPr>
            <a:r>
              <a:rPr lang="en" sz="1600"/>
              <a:t>Estimating the prior → count number of occurrences for each class and divide by the total number of samples</a:t>
            </a:r>
            <a:endParaRPr sz="1600"/>
          </a:p>
        </p:txBody>
      </p:sp>
      <p:sp>
        <p:nvSpPr>
          <p:cNvPr id="437" name="Google Shape;437;p55"/>
          <p:cNvSpPr txBox="1"/>
          <p:nvPr>
            <p:ph idx="1" type="body"/>
          </p:nvPr>
        </p:nvSpPr>
        <p:spPr>
          <a:xfrm>
            <a:off x="899400" y="2296650"/>
            <a:ext cx="7345200" cy="2309100"/>
          </a:xfrm>
          <a:prstGeom prst="rect">
            <a:avLst/>
          </a:prstGeom>
          <a:solidFill>
            <a:srgbClr val="CCCCCC"/>
          </a:solidFill>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train_prior &lt;- function (dataVar){</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uniqueLabels &lt;- unique(dataVar$Labels) </a:t>
            </a:r>
            <a:r>
              <a:rPr lang="en" sz="1150">
                <a:solidFill>
                  <a:srgbClr val="434343"/>
                </a:solidFill>
                <a:latin typeface="Roboto Mono"/>
                <a:ea typeface="Roboto Mono"/>
                <a:cs typeface="Roboto Mono"/>
                <a:sym typeface="Roboto Mono"/>
              </a:rPr>
              <a:t># Get all the labels from the data</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labelCounts &lt;- table(dataVar$Labels) </a:t>
            </a:r>
            <a:r>
              <a:rPr lang="en" sz="1150">
                <a:solidFill>
                  <a:srgbClr val="434343"/>
                </a:solidFill>
                <a:latin typeface="Roboto Mono"/>
                <a:ea typeface="Roboto Mono"/>
                <a:cs typeface="Roboto Mono"/>
                <a:sym typeface="Roboto Mono"/>
              </a:rPr>
              <a:t># Get counts</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labelData &lt;- as.data.frame(labelCounts) </a:t>
            </a:r>
            <a:r>
              <a:rPr lang="en" sz="1150">
                <a:solidFill>
                  <a:srgbClr val="434343"/>
                </a:solidFill>
                <a:latin typeface="Roboto Mono"/>
                <a:ea typeface="Roboto Mono"/>
                <a:cs typeface="Roboto Mono"/>
                <a:sym typeface="Roboto Mono"/>
              </a:rPr>
              <a:t># Turn into dataframe</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labelData$RelFreq &lt;- labelData$Freq / nrow(dataVar) </a:t>
            </a:r>
            <a:r>
              <a:rPr lang="en" sz="1150">
                <a:solidFill>
                  <a:srgbClr val="434343"/>
                </a:solidFill>
                <a:latin typeface="Roboto Mono"/>
                <a:ea typeface="Roboto Mono"/>
                <a:cs typeface="Roboto Mono"/>
                <a:sym typeface="Roboto Mono"/>
              </a:rPr>
              <a:t># Get relative frequency</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labelData</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rgbClr val="434343"/>
                </a:solidFill>
                <a:latin typeface="Roboto Mono"/>
                <a:ea typeface="Roboto Mono"/>
                <a:cs typeface="Roboto Mono"/>
                <a:sym typeface="Roboto Mono"/>
              </a:rPr>
              <a:t># Estimate prior from our training data</a:t>
            </a:r>
            <a:endParaRPr sz="1150">
              <a:solidFill>
                <a:srgbClr val="434343"/>
              </a:solidFill>
              <a:latin typeface="Roboto Mono"/>
              <a:ea typeface="Roboto Mono"/>
              <a:cs typeface="Roboto Mono"/>
              <a:sym typeface="Roboto Mono"/>
            </a:endParaRPr>
          </a:p>
          <a:p>
            <a:pPr indent="0" lvl="0" marL="0" rtl="0" algn="l">
              <a:spcBef>
                <a:spcPts val="100"/>
              </a:spcBef>
              <a:spcAft>
                <a:spcPts val="100"/>
              </a:spcAft>
              <a:buClr>
                <a:schemeClr val="dk1"/>
              </a:buClr>
              <a:buSzPts val="1100"/>
              <a:buFont typeface="Arial"/>
              <a:buNone/>
            </a:pPr>
            <a:r>
              <a:rPr lang="en" sz="1150">
                <a:solidFill>
                  <a:schemeClr val="dk1"/>
                </a:solidFill>
                <a:latin typeface="Roboto Mono"/>
                <a:ea typeface="Roboto Mono"/>
                <a:cs typeface="Roboto Mono"/>
                <a:sym typeface="Roboto Mono"/>
              </a:rPr>
              <a:t>priorBayes &lt;- train_prior(trainData)</a:t>
            </a:r>
            <a:endParaRPr sz="1150">
              <a:solidFill>
                <a:schemeClr val="dk1"/>
              </a:solidFill>
              <a:latin typeface="Roboto Mono"/>
              <a:ea typeface="Roboto Mono"/>
              <a:cs typeface="Roboto Mono"/>
              <a:sym typeface="Roboto Mon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Implementation of Naive Bayes in R</a:t>
            </a:r>
            <a:endParaRPr b="1"/>
          </a:p>
        </p:txBody>
      </p:sp>
      <p:sp>
        <p:nvSpPr>
          <p:cNvPr id="443" name="Google Shape;443;p56"/>
          <p:cNvSpPr txBox="1"/>
          <p:nvPr>
            <p:ph idx="1" type="body"/>
          </p:nvPr>
        </p:nvSpPr>
        <p:spPr>
          <a:xfrm>
            <a:off x="311700" y="1152475"/>
            <a:ext cx="8520600" cy="3426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Training the model : </a:t>
            </a:r>
            <a:endParaRPr b="1"/>
          </a:p>
          <a:p>
            <a:pPr indent="-330200" lvl="1" marL="914400" rtl="0" algn="l">
              <a:spcBef>
                <a:spcPts val="200"/>
              </a:spcBef>
              <a:spcAft>
                <a:spcPts val="0"/>
              </a:spcAft>
              <a:buSzPts val="1600"/>
              <a:buChar char="○"/>
            </a:pPr>
            <a:r>
              <a:rPr lang="en" sz="1600"/>
              <a:t>Estimating the prior → count number of occurrences for each class and divide by the total number of samples</a:t>
            </a:r>
            <a:endParaRPr sz="1600"/>
          </a:p>
          <a:p>
            <a:pPr indent="-330200" lvl="1" marL="914400" rtl="0" algn="l">
              <a:spcBef>
                <a:spcPts val="200"/>
              </a:spcBef>
              <a:spcAft>
                <a:spcPts val="200"/>
              </a:spcAft>
              <a:buSzPts val="1600"/>
              <a:buChar char="○"/>
            </a:pPr>
            <a:r>
              <a:rPr lang="en" sz="1600"/>
              <a:t>Estimating the log-likelihood → from occurrences of terms and Laplace smoothing</a:t>
            </a:r>
            <a:endParaRPr sz="1600"/>
          </a:p>
        </p:txBody>
      </p:sp>
      <p:sp>
        <p:nvSpPr>
          <p:cNvPr id="444" name="Google Shape;444;p56"/>
          <p:cNvSpPr txBox="1"/>
          <p:nvPr>
            <p:ph idx="1" type="body"/>
          </p:nvPr>
        </p:nvSpPr>
        <p:spPr>
          <a:xfrm>
            <a:off x="828750" y="2571750"/>
            <a:ext cx="7486500" cy="2309100"/>
          </a:xfrm>
          <a:prstGeom prst="rect">
            <a:avLst/>
          </a:prstGeom>
          <a:solidFill>
            <a:srgbClr val="CCCCCC"/>
          </a:solidFill>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train_log_likelihood &lt;- function(dataVar, mappingVar, processingFunc){</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uniqueLabels &lt;- unique(dataVar$Labels) </a:t>
            </a:r>
            <a:r>
              <a:rPr lang="en" sz="1150">
                <a:solidFill>
                  <a:srgbClr val="434343"/>
                </a:solidFill>
                <a:latin typeface="Roboto Mono"/>
                <a:ea typeface="Roboto Mono"/>
                <a:cs typeface="Roboto Mono"/>
                <a:sym typeface="Roboto Mono"/>
              </a:rPr>
              <a:t># Get unique labels</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a:t>
            </a:r>
            <a:r>
              <a:rPr lang="en" sz="1150">
                <a:solidFill>
                  <a:schemeClr val="dk1"/>
                </a:solidFill>
                <a:latin typeface="Roboto Mono"/>
                <a:ea typeface="Roboto Mono"/>
                <a:cs typeface="Roboto Mono"/>
                <a:sym typeface="Roboto Mono"/>
              </a:rPr>
              <a:t>termsM &lt;- matrix(0,nrow=nrow(mappingVar),ncol=length(uniqueLabels)) </a:t>
            </a:r>
            <a:r>
              <a:rPr lang="en" sz="1150">
                <a:solidFill>
                  <a:srgbClr val="434343"/>
                </a:solidFill>
                <a:latin typeface="Roboto Mono"/>
                <a:ea typeface="Roboto Mono"/>
                <a:cs typeface="Roboto Mono"/>
                <a:sym typeface="Roboto Mono"/>
              </a:rPr>
              <a:t># Init counts</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for (i in uniqueLabels){</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a:t>
            </a:r>
            <a:r>
              <a:rPr lang="en" sz="1150">
                <a:solidFill>
                  <a:srgbClr val="434343"/>
                </a:solidFill>
                <a:latin typeface="Roboto Mono"/>
                <a:ea typeface="Roboto Mono"/>
                <a:cs typeface="Roboto Mono"/>
                <a:sym typeface="Roboto Mono"/>
              </a:rPr>
              <a:t># Get data in the same class, process text, get counts for each term...</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termsM[mappedText$Id,labelIdx] = mappedText$Freq </a:t>
            </a:r>
            <a:r>
              <a:rPr lang="en" sz="1150">
                <a:solidFill>
                  <a:srgbClr val="434343"/>
                </a:solidFill>
                <a:latin typeface="Roboto Mono"/>
                <a:ea typeface="Roboto Mono"/>
                <a:cs typeface="Roboto Mono"/>
                <a:sym typeface="Roboto Mono"/>
              </a:rPr>
              <a:t># Update counts matrix</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topTerm &lt;- termsM + 1 </a:t>
            </a:r>
            <a:r>
              <a:rPr lang="en" sz="1150">
                <a:solidFill>
                  <a:srgbClr val="434343"/>
                </a:solidFill>
                <a:latin typeface="Roboto Mono"/>
                <a:ea typeface="Roboto Mono"/>
                <a:cs typeface="Roboto Mono"/>
                <a:sym typeface="Roboto Mono"/>
              </a:rPr>
              <a:t># Laplace smoothing</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M &lt;- log(topTerm) - log(colSums(topTerm)) </a:t>
            </a:r>
            <a:r>
              <a:rPr lang="en" sz="1150">
                <a:solidFill>
                  <a:srgbClr val="434343"/>
                </a:solidFill>
                <a:latin typeface="Roboto Mono"/>
                <a:ea typeface="Roboto Mono"/>
                <a:cs typeface="Roboto Mono"/>
                <a:sym typeface="Roboto Mono"/>
              </a:rPr>
              <a:t># Get log-likelihood matrix</a:t>
            </a:r>
            <a:endParaRPr sz="1150">
              <a:solidFill>
                <a:srgbClr val="434343"/>
              </a:solidFill>
              <a:latin typeface="Roboto Mono"/>
              <a:ea typeface="Roboto Mono"/>
              <a:cs typeface="Roboto Mono"/>
              <a:sym typeface="Roboto Mono"/>
            </a:endParaRPr>
          </a:p>
          <a:p>
            <a:pPr indent="0" lvl="0" marL="0" rtl="0" algn="l">
              <a:spcBef>
                <a:spcPts val="100"/>
              </a:spcBef>
              <a:spcAft>
                <a:spcPts val="100"/>
              </a:spcAft>
              <a:buClr>
                <a:schemeClr val="dk1"/>
              </a:buClr>
              <a:buSzPts val="1100"/>
              <a:buFont typeface="Arial"/>
              <a:buNone/>
            </a:pPr>
            <a:r>
              <a:rPr lang="en" sz="1150">
                <a:solidFill>
                  <a:schemeClr val="dk1"/>
                </a:solidFill>
                <a:latin typeface="Roboto Mono"/>
                <a:ea typeface="Roboto Mono"/>
                <a:cs typeface="Roboto Mono"/>
                <a:sym typeface="Roboto Mono"/>
              </a:rPr>
              <a:t>  M}</a:t>
            </a:r>
            <a:endParaRPr sz="1150">
              <a:solidFill>
                <a:schemeClr val="dk1"/>
              </a:solidFill>
              <a:latin typeface="Roboto Mono"/>
              <a:ea typeface="Roboto Mono"/>
              <a:cs typeface="Roboto Mono"/>
              <a:sym typeface="Roboto Mon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Implementation of Naive Bayes in R</a:t>
            </a:r>
            <a:endParaRPr b="1"/>
          </a:p>
        </p:txBody>
      </p:sp>
      <p:sp>
        <p:nvSpPr>
          <p:cNvPr id="450" name="Google Shape;450;p57"/>
          <p:cNvSpPr txBox="1"/>
          <p:nvPr>
            <p:ph idx="1" type="body"/>
          </p:nvPr>
        </p:nvSpPr>
        <p:spPr>
          <a:xfrm>
            <a:off x="311700" y="1152475"/>
            <a:ext cx="8520600" cy="3426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200"/>
              </a:spcAft>
              <a:buSzPts val="1800"/>
              <a:buChar char="●"/>
            </a:pPr>
            <a:r>
              <a:rPr b="1" lang="en"/>
              <a:t>Using the model for </a:t>
            </a:r>
            <a:r>
              <a:rPr b="1" lang="en"/>
              <a:t>inference</a:t>
            </a:r>
            <a:r>
              <a:rPr b="1" lang="en"/>
              <a:t> : </a:t>
            </a:r>
            <a:endParaRPr sz="1600"/>
          </a:p>
        </p:txBody>
      </p:sp>
      <p:sp>
        <p:nvSpPr>
          <p:cNvPr id="451" name="Google Shape;451;p57"/>
          <p:cNvSpPr txBox="1"/>
          <p:nvPr>
            <p:ph idx="1" type="body"/>
          </p:nvPr>
        </p:nvSpPr>
        <p:spPr>
          <a:xfrm>
            <a:off x="828750" y="1587200"/>
            <a:ext cx="7486500" cy="3391200"/>
          </a:xfrm>
          <a:prstGeom prst="rect">
            <a:avLst/>
          </a:prstGeom>
          <a:solidFill>
            <a:srgbClr val="CCCCCC"/>
          </a:solidFill>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naiveBayesPredict &lt;- function(dataVar, priorVar, logLikeliVar, mappingVar, </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processingFunc=process_data){</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processedText &lt;- processingFunc(dataVar) </a:t>
            </a:r>
            <a:r>
              <a:rPr lang="en" sz="1150">
                <a:solidFill>
                  <a:srgbClr val="434343"/>
                </a:solidFill>
                <a:latin typeface="Roboto Mono"/>
                <a:ea typeface="Roboto Mono"/>
                <a:cs typeface="Roboto Mono"/>
                <a:sym typeface="Roboto Mono"/>
              </a:rPr>
              <a:t># Process text input</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predClass &lt;- 0*c(1:nrow(dataVar)) </a:t>
            </a:r>
            <a:r>
              <a:rPr lang="en" sz="1150">
                <a:solidFill>
                  <a:srgbClr val="434343"/>
                </a:solidFill>
                <a:latin typeface="Roboto Mono"/>
                <a:ea typeface="Roboto Mono"/>
                <a:cs typeface="Roboto Mono"/>
                <a:sym typeface="Roboto Mono"/>
              </a:rPr>
              <a:t># Init results</a:t>
            </a:r>
            <a:r>
              <a:rPr lang="en" sz="1150">
                <a:solidFill>
                  <a:schemeClr val="dk1"/>
                </a:solidFill>
                <a:latin typeface="Roboto Mono"/>
                <a:ea typeface="Roboto Mono"/>
                <a:cs typeface="Roboto Mono"/>
                <a:sym typeface="Roboto Mono"/>
              </a:rPr>
              <a:t> </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for (i in c(1:nrow(dataVar))){ </a:t>
            </a:r>
            <a:r>
              <a:rPr lang="en" sz="1150">
                <a:solidFill>
                  <a:srgbClr val="434343"/>
                </a:solidFill>
                <a:latin typeface="Roboto Mono"/>
                <a:ea typeface="Roboto Mono"/>
                <a:cs typeface="Roboto Mono"/>
                <a:sym typeface="Roboto Mono"/>
              </a:rPr>
              <a:t># Operate separately for each input case</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inputText &lt;- processedText[i] </a:t>
            </a:r>
            <a:r>
              <a:rPr lang="en" sz="1150">
                <a:solidFill>
                  <a:srgbClr val="434343"/>
                </a:solidFill>
                <a:latin typeface="Roboto Mono"/>
                <a:ea typeface="Roboto Mono"/>
                <a:cs typeface="Roboto Mono"/>
                <a:sym typeface="Roboto Mono"/>
              </a:rPr>
              <a:t># Get input data</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countsTerms &lt;- as.data.frame(table(inputText)) </a:t>
            </a:r>
            <a:r>
              <a:rPr lang="en" sz="1150">
                <a:solidFill>
                  <a:srgbClr val="434343"/>
                </a:solidFill>
                <a:latin typeface="Roboto Mono"/>
                <a:ea typeface="Roboto Mono"/>
                <a:cs typeface="Roboto Mono"/>
                <a:sym typeface="Roboto Mono"/>
              </a:rPr>
              <a:t># C</a:t>
            </a:r>
            <a:r>
              <a:rPr lang="en" sz="1150">
                <a:solidFill>
                  <a:srgbClr val="434343"/>
                </a:solidFill>
                <a:latin typeface="Roboto Mono"/>
                <a:ea typeface="Roboto Mono"/>
                <a:cs typeface="Roboto Mono"/>
                <a:sym typeface="Roboto Mono"/>
              </a:rPr>
              <a:t>ounts for each term and map</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names(countsTerms)[names(countsTerms) == "inputText"] &lt;- "Term"</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mappedText &lt;- merge(mappingVar, countsTerms, by = "Term") </a:t>
            </a:r>
            <a:endParaRPr sz="1150">
              <a:solidFill>
                <a:schemeClr val="dk1"/>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weightsTerms &lt;- logLikeliVar[mappedText$Id,1:nrow(priorVar)] </a:t>
            </a:r>
            <a:r>
              <a:rPr lang="en" sz="1150">
                <a:solidFill>
                  <a:srgbClr val="434343"/>
                </a:solidFill>
                <a:latin typeface="Roboto Mono"/>
                <a:ea typeface="Roboto Mono"/>
                <a:cs typeface="Roboto Mono"/>
                <a:sym typeface="Roboto Mono"/>
              </a:rPr>
              <a:t># G</a:t>
            </a:r>
            <a:r>
              <a:rPr lang="en" sz="1150">
                <a:solidFill>
                  <a:srgbClr val="434343"/>
                </a:solidFill>
                <a:latin typeface="Roboto Mono"/>
                <a:ea typeface="Roboto Mono"/>
                <a:cs typeface="Roboto Mono"/>
                <a:sym typeface="Roboto Mono"/>
              </a:rPr>
              <a:t>et weights</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logLikelyTerms &lt;- colSums(mappedText$Freq*weightsTerms) </a:t>
            </a:r>
            <a:r>
              <a:rPr lang="en" sz="1150">
                <a:solidFill>
                  <a:srgbClr val="434343"/>
                </a:solidFill>
                <a:latin typeface="Roboto Mono"/>
                <a:ea typeface="Roboto Mono"/>
                <a:cs typeface="Roboto Mono"/>
                <a:sym typeface="Roboto Mono"/>
              </a:rPr>
              <a:t># Get log-likelihood</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logPosteriorTerms &lt;- logLikelyTerms + log(priorVar$RelFreq) </a:t>
            </a:r>
            <a:r>
              <a:rPr lang="en" sz="1150">
                <a:solidFill>
                  <a:srgbClr val="434343"/>
                </a:solidFill>
                <a:latin typeface="Roboto Mono"/>
                <a:ea typeface="Roboto Mono"/>
                <a:cs typeface="Roboto Mono"/>
                <a:sym typeface="Roboto Mono"/>
              </a:rPr>
              <a:t># Add log-prior</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predClass[i] = which.max(logPosteriorTerms) - 1 </a:t>
            </a:r>
            <a:r>
              <a:rPr lang="en" sz="1150">
                <a:solidFill>
                  <a:srgbClr val="434343"/>
                </a:solidFill>
                <a:latin typeface="Roboto Mono"/>
                <a:ea typeface="Roboto Mono"/>
                <a:cs typeface="Roboto Mono"/>
                <a:sym typeface="Roboto Mono"/>
              </a:rPr>
              <a:t># Get predicted class with MAP</a:t>
            </a:r>
            <a:endParaRPr sz="1150">
              <a:solidFill>
                <a:srgbClr val="434343"/>
              </a:solidFill>
              <a:latin typeface="Roboto Mono"/>
              <a:ea typeface="Roboto Mono"/>
              <a:cs typeface="Roboto Mono"/>
              <a:sym typeface="Roboto Mono"/>
            </a:endParaRPr>
          </a:p>
          <a:p>
            <a:pPr indent="0" lvl="0" marL="0" rtl="0" algn="l">
              <a:spcBef>
                <a:spcPts val="100"/>
              </a:spcBef>
              <a:spcAft>
                <a:spcPts val="0"/>
              </a:spcAft>
              <a:buClr>
                <a:schemeClr val="dk1"/>
              </a:buClr>
              <a:buSzPts val="1100"/>
              <a:buFont typeface="Arial"/>
              <a:buNone/>
            </a:pPr>
            <a:r>
              <a:rPr lang="en" sz="1150">
                <a:solidFill>
                  <a:schemeClr val="dk1"/>
                </a:solidFill>
                <a:latin typeface="Roboto Mono"/>
                <a:ea typeface="Roboto Mono"/>
                <a:cs typeface="Roboto Mono"/>
                <a:sym typeface="Roboto Mono"/>
              </a:rPr>
              <a:t>  }</a:t>
            </a:r>
            <a:endParaRPr sz="1150">
              <a:solidFill>
                <a:schemeClr val="dk1"/>
              </a:solidFill>
              <a:latin typeface="Roboto Mono"/>
              <a:ea typeface="Roboto Mono"/>
              <a:cs typeface="Roboto Mono"/>
              <a:sym typeface="Roboto Mono"/>
            </a:endParaRPr>
          </a:p>
          <a:p>
            <a:pPr indent="0" lvl="0" marL="0" rtl="0" algn="l">
              <a:spcBef>
                <a:spcPts val="100"/>
              </a:spcBef>
              <a:spcAft>
                <a:spcPts val="100"/>
              </a:spcAft>
              <a:buClr>
                <a:schemeClr val="dk1"/>
              </a:buClr>
              <a:buSzPts val="1100"/>
              <a:buFont typeface="Arial"/>
              <a:buNone/>
            </a:pPr>
            <a:r>
              <a:rPr lang="en" sz="1150">
                <a:solidFill>
                  <a:schemeClr val="dk1"/>
                </a:solidFill>
                <a:latin typeface="Roboto Mono"/>
                <a:ea typeface="Roboto Mono"/>
                <a:cs typeface="Roboto Mono"/>
                <a:sym typeface="Roboto Mono"/>
              </a:rPr>
              <a:t>  predClass}</a:t>
            </a:r>
            <a:endParaRPr sz="1150">
              <a:solidFill>
                <a:schemeClr val="dk1"/>
              </a:solidFill>
              <a:latin typeface="Roboto Mono"/>
              <a:ea typeface="Roboto Mono"/>
              <a:cs typeface="Roboto Mono"/>
              <a:sym typeface="Roboto Mon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multi-class classification</a:t>
            </a:r>
            <a:endParaRPr b="1"/>
          </a:p>
        </p:txBody>
      </p:sp>
      <p:pic>
        <p:nvPicPr>
          <p:cNvPr id="457" name="Google Shape;457;p58" title="fake_news_sensitivity_comparison_multi_class.png"/>
          <p:cNvPicPr preferRelativeResize="0"/>
          <p:nvPr/>
        </p:nvPicPr>
        <p:blipFill rotWithShape="1">
          <a:blip r:embed="rId3">
            <a:alphaModFix/>
          </a:blip>
          <a:srcRect b="0" l="0" r="16408" t="0"/>
          <a:stretch/>
        </p:blipFill>
        <p:spPr>
          <a:xfrm>
            <a:off x="3222900" y="1017725"/>
            <a:ext cx="5509791" cy="4071475"/>
          </a:xfrm>
          <a:prstGeom prst="rect">
            <a:avLst/>
          </a:prstGeom>
          <a:noFill/>
          <a:ln>
            <a:noFill/>
          </a:ln>
        </p:spPr>
      </p:pic>
      <p:sp>
        <p:nvSpPr>
          <p:cNvPr id="458" name="Google Shape;458;p58"/>
          <p:cNvSpPr txBox="1"/>
          <p:nvPr>
            <p:ph idx="1" type="body"/>
          </p:nvPr>
        </p:nvSpPr>
        <p:spPr>
          <a:xfrm>
            <a:off x="311700" y="1152475"/>
            <a:ext cx="2811900" cy="934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u="sng"/>
              <a:t>Sensitivity</a:t>
            </a:r>
            <a:r>
              <a:rPr b="1" lang="en"/>
              <a:t>:</a:t>
            </a:r>
            <a:r>
              <a:rPr lang="en"/>
              <a:t> </a:t>
            </a:r>
            <a:endParaRPr/>
          </a:p>
          <a:p>
            <a:pPr indent="0" lvl="0" marL="0" rtl="0" algn="l">
              <a:spcBef>
                <a:spcPts val="1200"/>
              </a:spcBef>
              <a:spcAft>
                <a:spcPts val="1200"/>
              </a:spcAft>
              <a:buNone/>
            </a:pPr>
            <a:r>
              <a:t/>
            </a:r>
            <a:endParaRPr/>
          </a:p>
        </p:txBody>
      </p:sp>
      <p:pic>
        <p:nvPicPr>
          <p:cNvPr id="459" name="Google Shape;459;p58" title="fake_news_sensitivity_comparison_multi_class.png"/>
          <p:cNvPicPr preferRelativeResize="0"/>
          <p:nvPr/>
        </p:nvPicPr>
        <p:blipFill rotWithShape="1">
          <a:blip r:embed="rId3">
            <a:alphaModFix/>
          </a:blip>
          <a:srcRect b="44944" l="84118" r="1459" t="37127"/>
          <a:stretch/>
        </p:blipFill>
        <p:spPr>
          <a:xfrm>
            <a:off x="7689425" y="566850"/>
            <a:ext cx="950600" cy="729924"/>
          </a:xfrm>
          <a:prstGeom prst="rect">
            <a:avLst/>
          </a:prstGeom>
          <a:noFill/>
          <a:ln>
            <a:noFill/>
          </a:ln>
        </p:spPr>
      </p:pic>
      <p:pic>
        <p:nvPicPr>
          <p:cNvPr id="460" name="Google Shape;460;p58" title="微信截图_20250606042443.png"/>
          <p:cNvPicPr preferRelativeResize="0"/>
          <p:nvPr/>
        </p:nvPicPr>
        <p:blipFill>
          <a:blip r:embed="rId4">
            <a:alphaModFix/>
          </a:blip>
          <a:stretch>
            <a:fillRect/>
          </a:stretch>
        </p:blipFill>
        <p:spPr>
          <a:xfrm>
            <a:off x="428750" y="1622650"/>
            <a:ext cx="1114425" cy="590550"/>
          </a:xfrm>
          <a:prstGeom prst="rect">
            <a:avLst/>
          </a:prstGeom>
          <a:noFill/>
          <a:ln>
            <a:noFill/>
          </a:ln>
        </p:spPr>
      </p:pic>
      <p:sp>
        <p:nvSpPr>
          <p:cNvPr id="461" name="Google Shape;461;p58"/>
          <p:cNvSpPr txBox="1"/>
          <p:nvPr/>
        </p:nvSpPr>
        <p:spPr>
          <a:xfrm>
            <a:off x="106875" y="2221425"/>
            <a:ext cx="3116100" cy="171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Poor sensitivity in multi-class classification and even worse performance in the validation set.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In data preprocessing, stop words have a better effect, while other methods have little impact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multi-class classification</a:t>
            </a:r>
            <a:endParaRPr b="1"/>
          </a:p>
        </p:txBody>
      </p:sp>
      <p:pic>
        <p:nvPicPr>
          <p:cNvPr id="467" name="Google Shape;467;p59" title="fake_news_sensitivity_comparison_multi_class.png"/>
          <p:cNvPicPr preferRelativeResize="0"/>
          <p:nvPr/>
        </p:nvPicPr>
        <p:blipFill rotWithShape="1">
          <a:blip r:embed="rId3">
            <a:alphaModFix/>
          </a:blip>
          <a:srcRect b="0" l="0" r="16408" t="0"/>
          <a:stretch/>
        </p:blipFill>
        <p:spPr>
          <a:xfrm>
            <a:off x="3222900" y="1017725"/>
            <a:ext cx="5509791" cy="4071475"/>
          </a:xfrm>
          <a:prstGeom prst="rect">
            <a:avLst/>
          </a:prstGeom>
          <a:noFill/>
          <a:ln>
            <a:noFill/>
          </a:ln>
        </p:spPr>
      </p:pic>
      <p:sp>
        <p:nvSpPr>
          <p:cNvPr id="468" name="Google Shape;468;p59"/>
          <p:cNvSpPr txBox="1"/>
          <p:nvPr>
            <p:ph idx="1" type="body"/>
          </p:nvPr>
        </p:nvSpPr>
        <p:spPr>
          <a:xfrm>
            <a:off x="311700" y="1152475"/>
            <a:ext cx="2811900" cy="934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u="sng"/>
              <a:t>Sensitivity</a:t>
            </a:r>
            <a:r>
              <a:rPr b="1" lang="en"/>
              <a:t>:</a:t>
            </a:r>
            <a:r>
              <a:rPr lang="en"/>
              <a:t> </a:t>
            </a:r>
            <a:endParaRPr/>
          </a:p>
          <a:p>
            <a:pPr indent="0" lvl="0" marL="0" rtl="0" algn="l">
              <a:spcBef>
                <a:spcPts val="1200"/>
              </a:spcBef>
              <a:spcAft>
                <a:spcPts val="1200"/>
              </a:spcAft>
              <a:buNone/>
            </a:pPr>
            <a:r>
              <a:t/>
            </a:r>
            <a:endParaRPr/>
          </a:p>
        </p:txBody>
      </p:sp>
      <p:pic>
        <p:nvPicPr>
          <p:cNvPr id="469" name="Google Shape;469;p59" title="fake_news_sensitivity_comparison_multi_class.png"/>
          <p:cNvPicPr preferRelativeResize="0"/>
          <p:nvPr/>
        </p:nvPicPr>
        <p:blipFill rotWithShape="1">
          <a:blip r:embed="rId3">
            <a:alphaModFix/>
          </a:blip>
          <a:srcRect b="44944" l="84118" r="1459" t="37127"/>
          <a:stretch/>
        </p:blipFill>
        <p:spPr>
          <a:xfrm>
            <a:off x="7689425" y="566850"/>
            <a:ext cx="950600" cy="729924"/>
          </a:xfrm>
          <a:prstGeom prst="rect">
            <a:avLst/>
          </a:prstGeom>
          <a:noFill/>
          <a:ln>
            <a:noFill/>
          </a:ln>
        </p:spPr>
      </p:pic>
      <p:pic>
        <p:nvPicPr>
          <p:cNvPr id="470" name="Google Shape;470;p59" title="微信截图_20250606042443.png"/>
          <p:cNvPicPr preferRelativeResize="0"/>
          <p:nvPr/>
        </p:nvPicPr>
        <p:blipFill>
          <a:blip r:embed="rId4">
            <a:alphaModFix/>
          </a:blip>
          <a:stretch>
            <a:fillRect/>
          </a:stretch>
        </p:blipFill>
        <p:spPr>
          <a:xfrm>
            <a:off x="428750" y="1622650"/>
            <a:ext cx="1114425" cy="590550"/>
          </a:xfrm>
          <a:prstGeom prst="rect">
            <a:avLst/>
          </a:prstGeom>
          <a:noFill/>
          <a:ln>
            <a:noFill/>
          </a:ln>
        </p:spPr>
      </p:pic>
      <p:sp>
        <p:nvSpPr>
          <p:cNvPr id="471" name="Google Shape;471;p59"/>
          <p:cNvSpPr txBox="1"/>
          <p:nvPr/>
        </p:nvSpPr>
        <p:spPr>
          <a:xfrm>
            <a:off x="311700" y="2447375"/>
            <a:ext cx="2340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Neglecting more correct labels in prediction</a:t>
            </a:r>
            <a:endParaRPr sz="1800">
              <a:solidFill>
                <a:schemeClr val="dk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multi-class classification</a:t>
            </a:r>
            <a:endParaRPr b="1"/>
          </a:p>
        </p:txBody>
      </p:sp>
      <p:pic>
        <p:nvPicPr>
          <p:cNvPr id="477" name="Google Shape;477;p60" title="fake_news_precision_comparison_multi_class.png"/>
          <p:cNvPicPr preferRelativeResize="0"/>
          <p:nvPr/>
        </p:nvPicPr>
        <p:blipFill rotWithShape="1">
          <a:blip r:embed="rId3">
            <a:alphaModFix/>
          </a:blip>
          <a:srcRect b="0" l="0" r="16429" t="0"/>
          <a:stretch/>
        </p:blipFill>
        <p:spPr>
          <a:xfrm>
            <a:off x="3217400" y="1017725"/>
            <a:ext cx="5508813" cy="4071475"/>
          </a:xfrm>
          <a:prstGeom prst="rect">
            <a:avLst/>
          </a:prstGeom>
          <a:noFill/>
          <a:ln>
            <a:noFill/>
          </a:ln>
        </p:spPr>
      </p:pic>
      <p:sp>
        <p:nvSpPr>
          <p:cNvPr id="478" name="Google Shape;478;p60"/>
          <p:cNvSpPr txBox="1"/>
          <p:nvPr>
            <p:ph idx="1" type="body"/>
          </p:nvPr>
        </p:nvSpPr>
        <p:spPr>
          <a:xfrm>
            <a:off x="311700" y="1152475"/>
            <a:ext cx="28389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u="sng"/>
              <a:t>Precision</a:t>
            </a:r>
            <a:r>
              <a:rPr b="1" lang="en"/>
              <a:t>:</a:t>
            </a:r>
            <a:r>
              <a:rPr lang="en"/>
              <a:t> </a:t>
            </a:r>
            <a:endParaRPr/>
          </a:p>
        </p:txBody>
      </p:sp>
      <p:pic>
        <p:nvPicPr>
          <p:cNvPr id="479" name="Google Shape;479;p60" title="fake_news_sensitivity_comparison_multi_class.png"/>
          <p:cNvPicPr preferRelativeResize="0"/>
          <p:nvPr/>
        </p:nvPicPr>
        <p:blipFill rotWithShape="1">
          <a:blip r:embed="rId4">
            <a:alphaModFix/>
          </a:blip>
          <a:srcRect b="44944" l="84118" r="1459" t="37127"/>
          <a:stretch/>
        </p:blipFill>
        <p:spPr>
          <a:xfrm>
            <a:off x="7689425" y="566850"/>
            <a:ext cx="950600" cy="729924"/>
          </a:xfrm>
          <a:prstGeom prst="rect">
            <a:avLst/>
          </a:prstGeom>
          <a:noFill/>
          <a:ln>
            <a:noFill/>
          </a:ln>
        </p:spPr>
      </p:pic>
      <p:pic>
        <p:nvPicPr>
          <p:cNvPr id="480" name="Google Shape;480;p60" title="微信截图_20250606043837.png"/>
          <p:cNvPicPr preferRelativeResize="0"/>
          <p:nvPr/>
        </p:nvPicPr>
        <p:blipFill>
          <a:blip r:embed="rId5">
            <a:alphaModFix/>
          </a:blip>
          <a:stretch>
            <a:fillRect/>
          </a:stretch>
        </p:blipFill>
        <p:spPr>
          <a:xfrm>
            <a:off x="374725" y="1614175"/>
            <a:ext cx="1047750" cy="638175"/>
          </a:xfrm>
          <a:prstGeom prst="rect">
            <a:avLst/>
          </a:prstGeom>
          <a:noFill/>
          <a:ln>
            <a:noFill/>
          </a:ln>
        </p:spPr>
      </p:pic>
      <p:sp>
        <p:nvSpPr>
          <p:cNvPr id="481" name="Google Shape;481;p60"/>
          <p:cNvSpPr txBox="1"/>
          <p:nvPr/>
        </p:nvSpPr>
        <p:spPr>
          <a:xfrm>
            <a:off x="66800" y="2332075"/>
            <a:ext cx="3150600" cy="17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2"/>
                </a:solidFill>
              </a:rPr>
              <a:t>Precision performance is better than sensitivity, and the impact of data preprocessing is not significant</a:t>
            </a:r>
            <a:endParaRPr sz="1800">
              <a:solidFill>
                <a:schemeClr val="dk2"/>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multi-class classification</a:t>
            </a:r>
            <a:endParaRPr b="1"/>
          </a:p>
        </p:txBody>
      </p:sp>
      <p:pic>
        <p:nvPicPr>
          <p:cNvPr id="487" name="Google Shape;487;p61" title="fake_news_precision_comparison_multi_class.png"/>
          <p:cNvPicPr preferRelativeResize="0"/>
          <p:nvPr/>
        </p:nvPicPr>
        <p:blipFill rotWithShape="1">
          <a:blip r:embed="rId3">
            <a:alphaModFix/>
          </a:blip>
          <a:srcRect b="0" l="0" r="16429" t="0"/>
          <a:stretch/>
        </p:blipFill>
        <p:spPr>
          <a:xfrm>
            <a:off x="3217400" y="1017725"/>
            <a:ext cx="5508813" cy="4071475"/>
          </a:xfrm>
          <a:prstGeom prst="rect">
            <a:avLst/>
          </a:prstGeom>
          <a:noFill/>
          <a:ln>
            <a:noFill/>
          </a:ln>
        </p:spPr>
      </p:pic>
      <p:sp>
        <p:nvSpPr>
          <p:cNvPr id="488" name="Google Shape;488;p61"/>
          <p:cNvSpPr txBox="1"/>
          <p:nvPr>
            <p:ph idx="1" type="body"/>
          </p:nvPr>
        </p:nvSpPr>
        <p:spPr>
          <a:xfrm>
            <a:off x="311700" y="1152475"/>
            <a:ext cx="28389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u="sng"/>
              <a:t>Precision</a:t>
            </a:r>
            <a:r>
              <a:rPr b="1" lang="en"/>
              <a:t>:</a:t>
            </a:r>
            <a:r>
              <a:rPr lang="en"/>
              <a:t> </a:t>
            </a:r>
            <a:endParaRPr/>
          </a:p>
        </p:txBody>
      </p:sp>
      <p:pic>
        <p:nvPicPr>
          <p:cNvPr id="489" name="Google Shape;489;p61" title="fake_news_sensitivity_comparison_multi_class.png"/>
          <p:cNvPicPr preferRelativeResize="0"/>
          <p:nvPr/>
        </p:nvPicPr>
        <p:blipFill rotWithShape="1">
          <a:blip r:embed="rId4">
            <a:alphaModFix/>
          </a:blip>
          <a:srcRect b="44944" l="84118" r="1459" t="37127"/>
          <a:stretch/>
        </p:blipFill>
        <p:spPr>
          <a:xfrm>
            <a:off x="7689425" y="566850"/>
            <a:ext cx="950600" cy="729924"/>
          </a:xfrm>
          <a:prstGeom prst="rect">
            <a:avLst/>
          </a:prstGeom>
          <a:noFill/>
          <a:ln>
            <a:noFill/>
          </a:ln>
        </p:spPr>
      </p:pic>
      <p:pic>
        <p:nvPicPr>
          <p:cNvPr id="490" name="Google Shape;490;p61" title="微信截图_20250606043837.png"/>
          <p:cNvPicPr preferRelativeResize="0"/>
          <p:nvPr/>
        </p:nvPicPr>
        <p:blipFill>
          <a:blip r:embed="rId5">
            <a:alphaModFix/>
          </a:blip>
          <a:stretch>
            <a:fillRect/>
          </a:stretch>
        </p:blipFill>
        <p:spPr>
          <a:xfrm>
            <a:off x="374725" y="1614175"/>
            <a:ext cx="1047750" cy="638175"/>
          </a:xfrm>
          <a:prstGeom prst="rect">
            <a:avLst/>
          </a:prstGeom>
          <a:noFill/>
          <a:ln>
            <a:noFill/>
          </a:ln>
        </p:spPr>
      </p:pic>
      <p:sp>
        <p:nvSpPr>
          <p:cNvPr id="491" name="Google Shape;491;p61"/>
          <p:cNvSpPr txBox="1"/>
          <p:nvPr/>
        </p:nvSpPr>
        <p:spPr>
          <a:xfrm>
            <a:off x="66800" y="2571750"/>
            <a:ext cx="3150600" cy="17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Compared to ignoring correct predictions, there are fewer incorrect predictions in predictions.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Clr>
                <a:schemeClr val="dk1"/>
              </a:buClr>
              <a:buSzPct val="39285"/>
              <a:buFont typeface="Arial"/>
              <a:buNone/>
            </a:pPr>
            <a:r>
              <a:rPr b="1" lang="en"/>
              <a:t>Possible cause analysis</a:t>
            </a:r>
            <a:endParaRPr/>
          </a:p>
        </p:txBody>
      </p:sp>
      <p:sp>
        <p:nvSpPr>
          <p:cNvPr id="497" name="Google Shape;497;p62"/>
          <p:cNvSpPr txBox="1"/>
          <p:nvPr>
            <p:ph idx="1" type="body"/>
          </p:nvPr>
        </p:nvSpPr>
        <p:spPr>
          <a:xfrm>
            <a:off x="110250" y="3714700"/>
            <a:ext cx="8923500" cy="13455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4115"/>
              <a:t>A large number of errors occur in predicted 'Half True' label.</a:t>
            </a:r>
            <a:endParaRPr sz="4115"/>
          </a:p>
          <a:p>
            <a:pPr indent="0" lvl="0" marL="0" rtl="0" algn="l">
              <a:spcBef>
                <a:spcPts val="1200"/>
              </a:spcBef>
              <a:spcAft>
                <a:spcPts val="0"/>
              </a:spcAft>
              <a:buNone/>
            </a:pPr>
            <a:r>
              <a:rPr lang="en" sz="4115"/>
              <a:t>The farther away the predicted labels are (with the greatest difference), </a:t>
            </a:r>
            <a:r>
              <a:rPr lang="en" sz="4115"/>
              <a:t>predictions are more difficult, leading to mistakes.</a:t>
            </a:r>
            <a:r>
              <a:rPr lang="en" sz="4115"/>
              <a:t> This can explain why precision </a:t>
            </a:r>
            <a:r>
              <a:rPr lang="en" sz="4115"/>
              <a:t>performs much better</a:t>
            </a:r>
            <a:r>
              <a:rPr lang="en" sz="4115"/>
              <a:t> than sensitivity.</a:t>
            </a:r>
            <a:endParaRPr sz="4115"/>
          </a:p>
          <a:p>
            <a:pPr indent="0" lvl="0" marL="0" rtl="0" algn="l">
              <a:spcBef>
                <a:spcPts val="1200"/>
              </a:spcBef>
              <a:spcAft>
                <a:spcPts val="0"/>
              </a:spcAft>
              <a:buNone/>
            </a:pPr>
            <a:r>
              <a:rPr lang="en" sz="4115"/>
              <a:t>For all labels, they are more likely to be predicted as middle label</a:t>
            </a:r>
            <a:r>
              <a:rPr lang="en" sz="4115"/>
              <a:t>s,</a:t>
            </a:r>
            <a:r>
              <a:rPr lang="en" sz="4115"/>
              <a:t> and the distribution of intermediate labels is not significantly higher than others. This is the reason for the low sensitivity and precision.</a:t>
            </a:r>
            <a:endParaRPr sz="4115"/>
          </a:p>
          <a:p>
            <a:pPr indent="0" lvl="0" marL="0" rtl="0" algn="l">
              <a:spcBef>
                <a:spcPts val="1200"/>
              </a:spcBef>
              <a:spcAft>
                <a:spcPts val="1200"/>
              </a:spcAft>
              <a:buNone/>
            </a:pPr>
            <a:r>
              <a:t/>
            </a:r>
            <a:endParaRPr/>
          </a:p>
        </p:txBody>
      </p:sp>
      <p:pic>
        <p:nvPicPr>
          <p:cNvPr id="498" name="Google Shape;498;p62" title="000010.png"/>
          <p:cNvPicPr preferRelativeResize="0"/>
          <p:nvPr/>
        </p:nvPicPr>
        <p:blipFill>
          <a:blip r:embed="rId3">
            <a:alphaModFix/>
          </a:blip>
          <a:stretch>
            <a:fillRect/>
          </a:stretch>
        </p:blipFill>
        <p:spPr>
          <a:xfrm>
            <a:off x="311699" y="1017726"/>
            <a:ext cx="4007399" cy="2473147"/>
          </a:xfrm>
          <a:prstGeom prst="rect">
            <a:avLst/>
          </a:prstGeom>
          <a:noFill/>
          <a:ln>
            <a:noFill/>
          </a:ln>
        </p:spPr>
      </p:pic>
      <p:pic>
        <p:nvPicPr>
          <p:cNvPr id="499" name="Google Shape;499;p62" title="000011.png"/>
          <p:cNvPicPr preferRelativeResize="0"/>
          <p:nvPr/>
        </p:nvPicPr>
        <p:blipFill>
          <a:blip r:embed="rId4">
            <a:alphaModFix/>
          </a:blip>
          <a:stretch>
            <a:fillRect/>
          </a:stretch>
        </p:blipFill>
        <p:spPr>
          <a:xfrm>
            <a:off x="4824900" y="1017725"/>
            <a:ext cx="4007399" cy="2473138"/>
          </a:xfrm>
          <a:prstGeom prst="rect">
            <a:avLst/>
          </a:prstGeom>
          <a:noFill/>
          <a:ln>
            <a:noFill/>
          </a:ln>
        </p:spPr>
      </p:pic>
      <p:sp>
        <p:nvSpPr>
          <p:cNvPr id="500" name="Google Shape;500;p62"/>
          <p:cNvSpPr txBox="1"/>
          <p:nvPr/>
        </p:nvSpPr>
        <p:spPr>
          <a:xfrm>
            <a:off x="2053450" y="3418025"/>
            <a:ext cx="887100" cy="1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Train</a:t>
            </a:r>
            <a:endParaRPr sz="1000">
              <a:solidFill>
                <a:schemeClr val="dk2"/>
              </a:solidFill>
            </a:endParaRPr>
          </a:p>
          <a:p>
            <a:pPr indent="0" lvl="0" marL="0" rtl="0" algn="l">
              <a:spcBef>
                <a:spcPts val="0"/>
              </a:spcBef>
              <a:spcAft>
                <a:spcPts val="0"/>
              </a:spcAft>
              <a:buNone/>
            </a:pPr>
            <a:r>
              <a:t/>
            </a:r>
            <a:endParaRPr sz="2000">
              <a:solidFill>
                <a:schemeClr val="dk2"/>
              </a:solidFill>
            </a:endParaRPr>
          </a:p>
        </p:txBody>
      </p:sp>
      <p:sp>
        <p:nvSpPr>
          <p:cNvPr id="501" name="Google Shape;501;p62"/>
          <p:cNvSpPr txBox="1"/>
          <p:nvPr/>
        </p:nvSpPr>
        <p:spPr>
          <a:xfrm>
            <a:off x="6535150" y="3418025"/>
            <a:ext cx="887100" cy="1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Validation</a:t>
            </a:r>
            <a:endParaRPr sz="1000">
              <a:solidFill>
                <a:schemeClr val="dk2"/>
              </a:solidFill>
            </a:endParaRPr>
          </a:p>
          <a:p>
            <a:pPr indent="0" lvl="0" marL="0" rtl="0" algn="l">
              <a:spcBef>
                <a:spcPts val="0"/>
              </a:spcBef>
              <a:spcAft>
                <a:spcPts val="0"/>
              </a:spcAft>
              <a:buNone/>
            </a:pPr>
            <a:r>
              <a:t/>
            </a:r>
            <a:endParaRPr sz="2000">
              <a:solidFill>
                <a:schemeClr val="dk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b="1" lang="en"/>
              <a:t>Possible cause analysis</a:t>
            </a:r>
            <a:endParaRPr/>
          </a:p>
        </p:txBody>
      </p:sp>
      <p:sp>
        <p:nvSpPr>
          <p:cNvPr id="507" name="Google Shape;507;p63"/>
          <p:cNvSpPr txBox="1"/>
          <p:nvPr>
            <p:ph idx="1" type="body"/>
          </p:nvPr>
        </p:nvSpPr>
        <p:spPr>
          <a:xfrm>
            <a:off x="311700" y="3669350"/>
            <a:ext cx="8520600" cy="13455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sz="1960"/>
              <a:t>The reason for the poor performance of the test set is that it is too small</a:t>
            </a:r>
            <a:endParaRPr sz="1960"/>
          </a:p>
          <a:p>
            <a:pPr indent="0" lvl="0" marL="0" rtl="0" algn="l">
              <a:spcBef>
                <a:spcPts val="1200"/>
              </a:spcBef>
              <a:spcAft>
                <a:spcPts val="0"/>
              </a:spcAft>
              <a:buNone/>
            </a:pPr>
            <a:r>
              <a:rPr lang="en" sz="1960"/>
              <a:t>In fact, with fewer Half-True labels, their predictions may all be worse.</a:t>
            </a:r>
            <a:endParaRPr sz="1960"/>
          </a:p>
          <a:p>
            <a:pPr indent="0" lvl="0" marL="0" rtl="0" algn="l">
              <a:spcBef>
                <a:spcPts val="1200"/>
              </a:spcBef>
              <a:spcAft>
                <a:spcPts val="1200"/>
              </a:spcAft>
              <a:buNone/>
            </a:pPr>
            <a:r>
              <a:rPr lang="en" sz="1960"/>
              <a:t>For the labels with the largest distribution, even small changes can have a huge impact, which may be due to the influence of prior.  </a:t>
            </a:r>
            <a:endParaRPr/>
          </a:p>
        </p:txBody>
      </p:sp>
      <p:pic>
        <p:nvPicPr>
          <p:cNvPr id="508" name="Google Shape;508;p63" title="000010.png"/>
          <p:cNvPicPr preferRelativeResize="0"/>
          <p:nvPr/>
        </p:nvPicPr>
        <p:blipFill>
          <a:blip r:embed="rId3">
            <a:alphaModFix/>
          </a:blip>
          <a:stretch>
            <a:fillRect/>
          </a:stretch>
        </p:blipFill>
        <p:spPr>
          <a:xfrm>
            <a:off x="311699" y="1017726"/>
            <a:ext cx="4007399" cy="2473147"/>
          </a:xfrm>
          <a:prstGeom prst="rect">
            <a:avLst/>
          </a:prstGeom>
          <a:noFill/>
          <a:ln>
            <a:noFill/>
          </a:ln>
        </p:spPr>
      </p:pic>
      <p:pic>
        <p:nvPicPr>
          <p:cNvPr id="509" name="Google Shape;509;p63" title="000011.png"/>
          <p:cNvPicPr preferRelativeResize="0"/>
          <p:nvPr/>
        </p:nvPicPr>
        <p:blipFill>
          <a:blip r:embed="rId4">
            <a:alphaModFix/>
          </a:blip>
          <a:stretch>
            <a:fillRect/>
          </a:stretch>
        </p:blipFill>
        <p:spPr>
          <a:xfrm>
            <a:off x="4824900" y="1017725"/>
            <a:ext cx="4007399" cy="2473138"/>
          </a:xfrm>
          <a:prstGeom prst="rect">
            <a:avLst/>
          </a:prstGeom>
          <a:noFill/>
          <a:ln>
            <a:noFill/>
          </a:ln>
        </p:spPr>
      </p:pic>
      <p:sp>
        <p:nvSpPr>
          <p:cNvPr id="510" name="Google Shape;510;p63"/>
          <p:cNvSpPr txBox="1"/>
          <p:nvPr/>
        </p:nvSpPr>
        <p:spPr>
          <a:xfrm>
            <a:off x="2053450" y="3418025"/>
            <a:ext cx="887100" cy="1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Train</a:t>
            </a:r>
            <a:endParaRPr sz="1000">
              <a:solidFill>
                <a:schemeClr val="dk2"/>
              </a:solidFill>
            </a:endParaRPr>
          </a:p>
          <a:p>
            <a:pPr indent="0" lvl="0" marL="0" rtl="0" algn="l">
              <a:spcBef>
                <a:spcPts val="0"/>
              </a:spcBef>
              <a:spcAft>
                <a:spcPts val="0"/>
              </a:spcAft>
              <a:buNone/>
            </a:pPr>
            <a:r>
              <a:t/>
            </a:r>
            <a:endParaRPr sz="2000">
              <a:solidFill>
                <a:schemeClr val="dk2"/>
              </a:solidFill>
            </a:endParaRPr>
          </a:p>
        </p:txBody>
      </p:sp>
      <p:sp>
        <p:nvSpPr>
          <p:cNvPr id="511" name="Google Shape;511;p63"/>
          <p:cNvSpPr txBox="1"/>
          <p:nvPr/>
        </p:nvSpPr>
        <p:spPr>
          <a:xfrm>
            <a:off x="6535150" y="3418025"/>
            <a:ext cx="887100" cy="1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Validation</a:t>
            </a:r>
            <a:endParaRPr sz="1000">
              <a:solidFill>
                <a:schemeClr val="dk2"/>
              </a:solidFill>
            </a:endParaRPr>
          </a:p>
          <a:p>
            <a:pPr indent="0" lvl="0" marL="0" rtl="0" algn="l">
              <a:spcBef>
                <a:spcPts val="0"/>
              </a:spcBef>
              <a:spcAft>
                <a:spcPts val="0"/>
              </a:spcAft>
              <a:buNone/>
            </a:pPr>
            <a:r>
              <a:t/>
            </a:r>
            <a:endParaRPr sz="2000">
              <a:solidFill>
                <a:schemeClr val="dk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b="1" lang="en"/>
              <a:t>Possible cause analysis</a:t>
            </a:r>
            <a:endParaRPr/>
          </a:p>
        </p:txBody>
      </p:sp>
      <p:sp>
        <p:nvSpPr>
          <p:cNvPr id="517" name="Google Shape;517;p64"/>
          <p:cNvSpPr txBox="1"/>
          <p:nvPr/>
        </p:nvSpPr>
        <p:spPr>
          <a:xfrm>
            <a:off x="1969275" y="4041450"/>
            <a:ext cx="887100" cy="1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Train</a:t>
            </a:r>
            <a:endParaRPr sz="1000">
              <a:solidFill>
                <a:schemeClr val="dk2"/>
              </a:solidFill>
            </a:endParaRPr>
          </a:p>
          <a:p>
            <a:pPr indent="0" lvl="0" marL="0" rtl="0" algn="l">
              <a:spcBef>
                <a:spcPts val="0"/>
              </a:spcBef>
              <a:spcAft>
                <a:spcPts val="0"/>
              </a:spcAft>
              <a:buNone/>
            </a:pPr>
            <a:r>
              <a:t/>
            </a:r>
            <a:endParaRPr sz="2000">
              <a:solidFill>
                <a:schemeClr val="dk2"/>
              </a:solidFill>
            </a:endParaRPr>
          </a:p>
        </p:txBody>
      </p:sp>
      <p:sp>
        <p:nvSpPr>
          <p:cNvPr id="518" name="Google Shape;518;p64"/>
          <p:cNvSpPr txBox="1"/>
          <p:nvPr/>
        </p:nvSpPr>
        <p:spPr>
          <a:xfrm>
            <a:off x="6287613" y="4041450"/>
            <a:ext cx="887100" cy="1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Validation</a:t>
            </a:r>
            <a:endParaRPr sz="1000">
              <a:solidFill>
                <a:schemeClr val="dk2"/>
              </a:solidFill>
            </a:endParaRPr>
          </a:p>
          <a:p>
            <a:pPr indent="0" lvl="0" marL="0" rtl="0" algn="l">
              <a:spcBef>
                <a:spcPts val="0"/>
              </a:spcBef>
              <a:spcAft>
                <a:spcPts val="0"/>
              </a:spcAft>
              <a:buNone/>
            </a:pPr>
            <a:r>
              <a:t/>
            </a:r>
            <a:endParaRPr sz="2000">
              <a:solidFill>
                <a:schemeClr val="dk2"/>
              </a:solidFill>
            </a:endParaRPr>
          </a:p>
        </p:txBody>
      </p:sp>
      <p:sp>
        <p:nvSpPr>
          <p:cNvPr id="519" name="Google Shape;519;p64"/>
          <p:cNvSpPr txBox="1"/>
          <p:nvPr/>
        </p:nvSpPr>
        <p:spPr>
          <a:xfrm>
            <a:off x="440550" y="1017725"/>
            <a:ext cx="737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this section, we deleted 5% of the samples with label 2 (half-true).</a:t>
            </a:r>
            <a:endParaRPr sz="1800">
              <a:solidFill>
                <a:schemeClr val="dk2"/>
              </a:solidFill>
            </a:endParaRPr>
          </a:p>
        </p:txBody>
      </p:sp>
      <p:pic>
        <p:nvPicPr>
          <p:cNvPr id="520" name="Google Shape;520;p64" title="-0.05label2test.png"/>
          <p:cNvPicPr preferRelativeResize="0"/>
          <p:nvPr/>
        </p:nvPicPr>
        <p:blipFill>
          <a:blip r:embed="rId3">
            <a:alphaModFix/>
          </a:blip>
          <a:stretch>
            <a:fillRect/>
          </a:stretch>
        </p:blipFill>
        <p:spPr>
          <a:xfrm>
            <a:off x="4646273" y="1446450"/>
            <a:ext cx="3992903" cy="2671200"/>
          </a:xfrm>
          <a:prstGeom prst="rect">
            <a:avLst/>
          </a:prstGeom>
          <a:noFill/>
          <a:ln>
            <a:noFill/>
          </a:ln>
        </p:spPr>
      </p:pic>
      <p:pic>
        <p:nvPicPr>
          <p:cNvPr id="521" name="Google Shape;521;p64" title="-0.05label2.png"/>
          <p:cNvPicPr preferRelativeResize="0"/>
          <p:nvPr/>
        </p:nvPicPr>
        <p:blipFill>
          <a:blip r:embed="rId4">
            <a:alphaModFix/>
          </a:blip>
          <a:stretch>
            <a:fillRect/>
          </a:stretch>
        </p:blipFill>
        <p:spPr>
          <a:xfrm>
            <a:off x="311700" y="1481316"/>
            <a:ext cx="3888609" cy="2601455"/>
          </a:xfrm>
          <a:prstGeom prst="rect">
            <a:avLst/>
          </a:prstGeom>
          <a:noFill/>
          <a:ln>
            <a:noFill/>
          </a:ln>
        </p:spPr>
      </p:pic>
      <p:sp>
        <p:nvSpPr>
          <p:cNvPr id="522" name="Google Shape;522;p64"/>
          <p:cNvSpPr txBox="1"/>
          <p:nvPr/>
        </p:nvSpPr>
        <p:spPr>
          <a:xfrm>
            <a:off x="350850" y="4329275"/>
            <a:ext cx="8442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When the sample distribution is more uniform, the prediction performance is better. </a:t>
            </a:r>
            <a:endParaRPr sz="1800">
              <a:solidFill>
                <a:schemeClr val="dk2"/>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b="1" lang="en"/>
              <a:t>Possible cause analysis</a:t>
            </a:r>
            <a:endParaRPr/>
          </a:p>
        </p:txBody>
      </p:sp>
      <p:sp>
        <p:nvSpPr>
          <p:cNvPr id="528" name="Google Shape;528;p65"/>
          <p:cNvSpPr txBox="1"/>
          <p:nvPr/>
        </p:nvSpPr>
        <p:spPr>
          <a:xfrm>
            <a:off x="440550" y="1017725"/>
            <a:ext cx="737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this section, we deleted 5% of the samples with label 2 (half-true).</a:t>
            </a:r>
            <a:endParaRPr sz="1800">
              <a:solidFill>
                <a:schemeClr val="dk2"/>
              </a:solidFill>
            </a:endParaRPr>
          </a:p>
        </p:txBody>
      </p:sp>
      <p:pic>
        <p:nvPicPr>
          <p:cNvPr id="529" name="Google Shape;529;p65" title="-0.05label2sen.png"/>
          <p:cNvPicPr preferRelativeResize="0"/>
          <p:nvPr/>
        </p:nvPicPr>
        <p:blipFill rotWithShape="1">
          <a:blip r:embed="rId3">
            <a:alphaModFix/>
          </a:blip>
          <a:srcRect b="0" l="0" r="17081" t="0"/>
          <a:stretch/>
        </p:blipFill>
        <p:spPr>
          <a:xfrm>
            <a:off x="409550" y="1558912"/>
            <a:ext cx="3479319" cy="2808014"/>
          </a:xfrm>
          <a:prstGeom prst="rect">
            <a:avLst/>
          </a:prstGeom>
          <a:noFill/>
          <a:ln>
            <a:noFill/>
          </a:ln>
        </p:spPr>
      </p:pic>
      <p:pic>
        <p:nvPicPr>
          <p:cNvPr id="530" name="Google Shape;530;p65" title="-0.05label2pre.png"/>
          <p:cNvPicPr preferRelativeResize="0"/>
          <p:nvPr/>
        </p:nvPicPr>
        <p:blipFill rotWithShape="1">
          <a:blip r:embed="rId4">
            <a:alphaModFix/>
          </a:blip>
          <a:srcRect b="2390" l="0" r="17081" t="-2390"/>
          <a:stretch/>
        </p:blipFill>
        <p:spPr>
          <a:xfrm>
            <a:off x="4093055" y="1519163"/>
            <a:ext cx="3479319" cy="2808014"/>
          </a:xfrm>
          <a:prstGeom prst="rect">
            <a:avLst/>
          </a:prstGeom>
          <a:noFill/>
          <a:ln>
            <a:noFill/>
          </a:ln>
        </p:spPr>
      </p:pic>
      <p:sp>
        <p:nvSpPr>
          <p:cNvPr id="531" name="Google Shape;531;p65"/>
          <p:cNvSpPr txBox="1"/>
          <p:nvPr/>
        </p:nvSpPr>
        <p:spPr>
          <a:xfrm>
            <a:off x="130775" y="4366925"/>
            <a:ext cx="951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When the sample distribution is more uniform, the prediction performance is better. </a:t>
            </a:r>
            <a:endParaRPr sz="1800">
              <a:solidFill>
                <a:schemeClr val="dk2"/>
              </a:solidFill>
            </a:endParaRPr>
          </a:p>
        </p:txBody>
      </p:sp>
      <p:pic>
        <p:nvPicPr>
          <p:cNvPr id="532" name="Google Shape;532;p65" title="fake_news_sensitivity_comparison_multi_class.png"/>
          <p:cNvPicPr preferRelativeResize="0"/>
          <p:nvPr/>
        </p:nvPicPr>
        <p:blipFill rotWithShape="1">
          <a:blip r:embed="rId5">
            <a:alphaModFix/>
          </a:blip>
          <a:srcRect b="44944" l="84118" r="1459" t="37127"/>
          <a:stretch/>
        </p:blipFill>
        <p:spPr>
          <a:xfrm>
            <a:off x="7572375" y="1558900"/>
            <a:ext cx="815002" cy="62579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binary classification</a:t>
            </a:r>
            <a:endParaRPr b="1"/>
          </a:p>
        </p:txBody>
      </p:sp>
      <p:pic>
        <p:nvPicPr>
          <p:cNvPr id="538" name="Google Shape;538;p66" title="fake_news_sensitivity_comparison_binary.png"/>
          <p:cNvPicPr preferRelativeResize="0"/>
          <p:nvPr/>
        </p:nvPicPr>
        <p:blipFill rotWithShape="1">
          <a:blip r:embed="rId3">
            <a:alphaModFix/>
          </a:blip>
          <a:srcRect b="899" l="0" r="16408" t="-900"/>
          <a:stretch/>
        </p:blipFill>
        <p:spPr>
          <a:xfrm>
            <a:off x="3222900" y="1017725"/>
            <a:ext cx="5509791" cy="4071475"/>
          </a:xfrm>
          <a:prstGeom prst="rect">
            <a:avLst/>
          </a:prstGeom>
          <a:noFill/>
          <a:ln>
            <a:noFill/>
          </a:ln>
        </p:spPr>
      </p:pic>
      <p:sp>
        <p:nvSpPr>
          <p:cNvPr id="539" name="Google Shape;539;p66"/>
          <p:cNvSpPr txBox="1"/>
          <p:nvPr>
            <p:ph idx="1" type="body"/>
          </p:nvPr>
        </p:nvSpPr>
        <p:spPr>
          <a:xfrm>
            <a:off x="311700" y="1152475"/>
            <a:ext cx="28119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u="sng"/>
              <a:t>Sensitivity</a:t>
            </a:r>
            <a:r>
              <a:rPr b="1" lang="en"/>
              <a:t>:</a:t>
            </a:r>
            <a:r>
              <a:rPr lang="en"/>
              <a:t> </a:t>
            </a:r>
            <a:endParaRPr/>
          </a:p>
        </p:txBody>
      </p:sp>
      <p:pic>
        <p:nvPicPr>
          <p:cNvPr id="540" name="Google Shape;540;p66" title="fake_news_sensitivity_comparison_multi_class.png"/>
          <p:cNvPicPr preferRelativeResize="0"/>
          <p:nvPr/>
        </p:nvPicPr>
        <p:blipFill rotWithShape="1">
          <a:blip r:embed="rId4">
            <a:alphaModFix/>
          </a:blip>
          <a:srcRect b="44944" l="84118" r="1459" t="37127"/>
          <a:stretch/>
        </p:blipFill>
        <p:spPr>
          <a:xfrm>
            <a:off x="7689425" y="566850"/>
            <a:ext cx="950600" cy="729924"/>
          </a:xfrm>
          <a:prstGeom prst="rect">
            <a:avLst/>
          </a:prstGeom>
          <a:noFill/>
          <a:ln>
            <a:noFill/>
          </a:ln>
        </p:spPr>
      </p:pic>
      <p:pic>
        <p:nvPicPr>
          <p:cNvPr id="541" name="Google Shape;541;p66" title="微信截图_20250606042443.png"/>
          <p:cNvPicPr preferRelativeResize="0"/>
          <p:nvPr/>
        </p:nvPicPr>
        <p:blipFill>
          <a:blip r:embed="rId5">
            <a:alphaModFix/>
          </a:blip>
          <a:stretch>
            <a:fillRect/>
          </a:stretch>
        </p:blipFill>
        <p:spPr>
          <a:xfrm>
            <a:off x="311700" y="1614175"/>
            <a:ext cx="1114425" cy="590550"/>
          </a:xfrm>
          <a:prstGeom prst="rect">
            <a:avLst/>
          </a:prstGeom>
          <a:noFill/>
          <a:ln>
            <a:noFill/>
          </a:ln>
        </p:spPr>
      </p:pic>
      <p:sp>
        <p:nvSpPr>
          <p:cNvPr id="542" name="Google Shape;542;p66"/>
          <p:cNvSpPr txBox="1"/>
          <p:nvPr/>
        </p:nvSpPr>
        <p:spPr>
          <a:xfrm>
            <a:off x="311700" y="2312925"/>
            <a:ext cx="2575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binary classification, sensitivity performs well.</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 role of preprocessing is still limited</a:t>
            </a:r>
            <a:endParaRPr sz="1800">
              <a:solidFill>
                <a:schemeClr val="dk2"/>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binary classification</a:t>
            </a:r>
            <a:endParaRPr b="1"/>
          </a:p>
        </p:txBody>
      </p:sp>
      <p:pic>
        <p:nvPicPr>
          <p:cNvPr id="548" name="Google Shape;548;p67" title="fake_news_sensitivity_comparison_binary.png"/>
          <p:cNvPicPr preferRelativeResize="0"/>
          <p:nvPr/>
        </p:nvPicPr>
        <p:blipFill rotWithShape="1">
          <a:blip r:embed="rId3">
            <a:alphaModFix/>
          </a:blip>
          <a:srcRect b="899" l="0" r="16408" t="-900"/>
          <a:stretch/>
        </p:blipFill>
        <p:spPr>
          <a:xfrm>
            <a:off x="3222900" y="1017725"/>
            <a:ext cx="5509791" cy="4071475"/>
          </a:xfrm>
          <a:prstGeom prst="rect">
            <a:avLst/>
          </a:prstGeom>
          <a:noFill/>
          <a:ln>
            <a:noFill/>
          </a:ln>
        </p:spPr>
      </p:pic>
      <p:sp>
        <p:nvSpPr>
          <p:cNvPr id="549" name="Google Shape;549;p67"/>
          <p:cNvSpPr txBox="1"/>
          <p:nvPr>
            <p:ph idx="1" type="body"/>
          </p:nvPr>
        </p:nvSpPr>
        <p:spPr>
          <a:xfrm>
            <a:off x="311700" y="1152475"/>
            <a:ext cx="28119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u="sng"/>
              <a:t>Sensitivity</a:t>
            </a:r>
            <a:r>
              <a:rPr b="1" lang="en"/>
              <a:t>:</a:t>
            </a:r>
            <a:r>
              <a:rPr lang="en"/>
              <a:t> </a:t>
            </a:r>
            <a:endParaRPr/>
          </a:p>
        </p:txBody>
      </p:sp>
      <p:pic>
        <p:nvPicPr>
          <p:cNvPr id="550" name="Google Shape;550;p67" title="fake_news_sensitivity_comparison_multi_class.png"/>
          <p:cNvPicPr preferRelativeResize="0"/>
          <p:nvPr/>
        </p:nvPicPr>
        <p:blipFill rotWithShape="1">
          <a:blip r:embed="rId4">
            <a:alphaModFix/>
          </a:blip>
          <a:srcRect b="44944" l="84118" r="1459" t="37127"/>
          <a:stretch/>
        </p:blipFill>
        <p:spPr>
          <a:xfrm>
            <a:off x="7689425" y="566850"/>
            <a:ext cx="950600" cy="729924"/>
          </a:xfrm>
          <a:prstGeom prst="rect">
            <a:avLst/>
          </a:prstGeom>
          <a:noFill/>
          <a:ln>
            <a:noFill/>
          </a:ln>
        </p:spPr>
      </p:pic>
      <p:sp>
        <p:nvSpPr>
          <p:cNvPr id="551" name="Google Shape;551;p67"/>
          <p:cNvSpPr txBox="1"/>
          <p:nvPr>
            <p:ph idx="1" type="body"/>
          </p:nvPr>
        </p:nvSpPr>
        <p:spPr>
          <a:xfrm>
            <a:off x="311700" y="3771850"/>
            <a:ext cx="2417700" cy="1098900"/>
          </a:xfrm>
          <a:prstGeom prst="rect">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200"/>
              </a:spcAft>
              <a:buNone/>
            </a:pPr>
            <a:r>
              <a:rPr lang="en"/>
              <a:t>We can detect more than 75% of the fake news!</a:t>
            </a:r>
            <a:endParaRPr/>
          </a:p>
        </p:txBody>
      </p:sp>
      <p:cxnSp>
        <p:nvCxnSpPr>
          <p:cNvPr id="552" name="Google Shape;552;p67"/>
          <p:cNvCxnSpPr>
            <a:stCxn id="551" idx="3"/>
          </p:cNvCxnSpPr>
          <p:nvPr/>
        </p:nvCxnSpPr>
        <p:spPr>
          <a:xfrm flipH="1" rot="10800000">
            <a:off x="2729400" y="3819100"/>
            <a:ext cx="934200" cy="502200"/>
          </a:xfrm>
          <a:prstGeom prst="curvedConnector3">
            <a:avLst>
              <a:gd fmla="val 50000" name="adj1"/>
            </a:avLst>
          </a:prstGeom>
          <a:noFill/>
          <a:ln cap="flat" cmpd="sng" w="19050">
            <a:solidFill>
              <a:schemeClr val="dk2"/>
            </a:solidFill>
            <a:prstDash val="solid"/>
            <a:round/>
            <a:headEnd len="med" w="med" type="none"/>
            <a:tailEnd len="med" w="med" type="triangle"/>
          </a:ln>
        </p:spPr>
      </p:cxnSp>
      <p:pic>
        <p:nvPicPr>
          <p:cNvPr id="553" name="Google Shape;553;p67" title="微信截图_20250606042443.png"/>
          <p:cNvPicPr preferRelativeResize="0"/>
          <p:nvPr/>
        </p:nvPicPr>
        <p:blipFill>
          <a:blip r:embed="rId5">
            <a:alphaModFix/>
          </a:blip>
          <a:stretch>
            <a:fillRect/>
          </a:stretch>
        </p:blipFill>
        <p:spPr>
          <a:xfrm>
            <a:off x="311700" y="1614175"/>
            <a:ext cx="1114425" cy="5905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binary classification</a:t>
            </a:r>
            <a:endParaRPr b="1"/>
          </a:p>
        </p:txBody>
      </p:sp>
      <p:pic>
        <p:nvPicPr>
          <p:cNvPr id="559" name="Google Shape;559;p68" title="fake_news_precision_comparison_binary.png"/>
          <p:cNvPicPr preferRelativeResize="0"/>
          <p:nvPr/>
        </p:nvPicPr>
        <p:blipFill rotWithShape="1">
          <a:blip r:embed="rId3">
            <a:alphaModFix/>
          </a:blip>
          <a:srcRect b="0" l="0" r="16429" t="0"/>
          <a:stretch/>
        </p:blipFill>
        <p:spPr>
          <a:xfrm>
            <a:off x="3217400" y="1017725"/>
            <a:ext cx="5508813" cy="4071475"/>
          </a:xfrm>
          <a:prstGeom prst="rect">
            <a:avLst/>
          </a:prstGeom>
          <a:noFill/>
          <a:ln>
            <a:noFill/>
          </a:ln>
        </p:spPr>
      </p:pic>
      <p:sp>
        <p:nvSpPr>
          <p:cNvPr id="560" name="Google Shape;560;p68"/>
          <p:cNvSpPr txBox="1"/>
          <p:nvPr>
            <p:ph idx="1" type="body"/>
          </p:nvPr>
        </p:nvSpPr>
        <p:spPr>
          <a:xfrm>
            <a:off x="311700" y="1152475"/>
            <a:ext cx="28389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u="sng"/>
              <a:t>Precision</a:t>
            </a:r>
            <a:r>
              <a:rPr b="1" lang="en"/>
              <a:t>:</a:t>
            </a:r>
            <a:r>
              <a:rPr lang="en"/>
              <a:t> </a:t>
            </a:r>
            <a:endParaRPr/>
          </a:p>
        </p:txBody>
      </p:sp>
      <p:pic>
        <p:nvPicPr>
          <p:cNvPr id="561" name="Google Shape;561;p68" title="fake_news_sensitivity_comparison_multi_class.png"/>
          <p:cNvPicPr preferRelativeResize="0"/>
          <p:nvPr/>
        </p:nvPicPr>
        <p:blipFill rotWithShape="1">
          <a:blip r:embed="rId4">
            <a:alphaModFix/>
          </a:blip>
          <a:srcRect b="44944" l="84118" r="1459" t="37127"/>
          <a:stretch/>
        </p:blipFill>
        <p:spPr>
          <a:xfrm>
            <a:off x="7689425" y="566850"/>
            <a:ext cx="950600" cy="729924"/>
          </a:xfrm>
          <a:prstGeom prst="rect">
            <a:avLst/>
          </a:prstGeom>
          <a:noFill/>
          <a:ln>
            <a:noFill/>
          </a:ln>
        </p:spPr>
      </p:pic>
      <p:pic>
        <p:nvPicPr>
          <p:cNvPr id="562" name="Google Shape;562;p68" title="微信截图_20250606043837.png"/>
          <p:cNvPicPr preferRelativeResize="0"/>
          <p:nvPr/>
        </p:nvPicPr>
        <p:blipFill>
          <a:blip r:embed="rId5">
            <a:alphaModFix/>
          </a:blip>
          <a:stretch>
            <a:fillRect/>
          </a:stretch>
        </p:blipFill>
        <p:spPr>
          <a:xfrm>
            <a:off x="374725" y="1614175"/>
            <a:ext cx="1047750" cy="638175"/>
          </a:xfrm>
          <a:prstGeom prst="rect">
            <a:avLst/>
          </a:prstGeom>
          <a:noFill/>
          <a:ln>
            <a:noFill/>
          </a:ln>
        </p:spPr>
      </p:pic>
      <p:sp>
        <p:nvSpPr>
          <p:cNvPr id="563" name="Google Shape;563;p68"/>
          <p:cNvSpPr txBox="1"/>
          <p:nvPr/>
        </p:nvSpPr>
        <p:spPr>
          <a:xfrm>
            <a:off x="311700" y="2405600"/>
            <a:ext cx="2754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 binary classification, the precision is almost 1.</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 model almost never makes incorrect predictions</a:t>
            </a:r>
            <a:endParaRPr sz="1800">
              <a:solidFill>
                <a:schemeClr val="dk2"/>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binary classification</a:t>
            </a:r>
            <a:endParaRPr b="1"/>
          </a:p>
        </p:txBody>
      </p:sp>
      <p:pic>
        <p:nvPicPr>
          <p:cNvPr id="569" name="Google Shape;569;p69" title="fake_news_precision_comparison_binary.png"/>
          <p:cNvPicPr preferRelativeResize="0"/>
          <p:nvPr/>
        </p:nvPicPr>
        <p:blipFill rotWithShape="1">
          <a:blip r:embed="rId3">
            <a:alphaModFix/>
          </a:blip>
          <a:srcRect b="0" l="0" r="16429" t="0"/>
          <a:stretch/>
        </p:blipFill>
        <p:spPr>
          <a:xfrm>
            <a:off x="3217400" y="1017725"/>
            <a:ext cx="5508813" cy="4071475"/>
          </a:xfrm>
          <a:prstGeom prst="rect">
            <a:avLst/>
          </a:prstGeom>
          <a:noFill/>
          <a:ln>
            <a:noFill/>
          </a:ln>
        </p:spPr>
      </p:pic>
      <p:sp>
        <p:nvSpPr>
          <p:cNvPr id="570" name="Google Shape;570;p69"/>
          <p:cNvSpPr txBox="1"/>
          <p:nvPr>
            <p:ph idx="1" type="body"/>
          </p:nvPr>
        </p:nvSpPr>
        <p:spPr>
          <a:xfrm>
            <a:off x="311700" y="1152475"/>
            <a:ext cx="28389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b="1" lang="en" u="sng"/>
              <a:t>Precision</a:t>
            </a:r>
            <a:r>
              <a:rPr b="1" lang="en"/>
              <a:t>:</a:t>
            </a:r>
            <a:r>
              <a:rPr lang="en"/>
              <a:t> </a:t>
            </a:r>
            <a:endParaRPr/>
          </a:p>
        </p:txBody>
      </p:sp>
      <p:pic>
        <p:nvPicPr>
          <p:cNvPr id="571" name="Google Shape;571;p69" title="fake_news_sensitivity_comparison_multi_class.png"/>
          <p:cNvPicPr preferRelativeResize="0"/>
          <p:nvPr/>
        </p:nvPicPr>
        <p:blipFill rotWithShape="1">
          <a:blip r:embed="rId4">
            <a:alphaModFix/>
          </a:blip>
          <a:srcRect b="44944" l="84118" r="1459" t="37127"/>
          <a:stretch/>
        </p:blipFill>
        <p:spPr>
          <a:xfrm>
            <a:off x="7689425" y="566850"/>
            <a:ext cx="950600" cy="729924"/>
          </a:xfrm>
          <a:prstGeom prst="rect">
            <a:avLst/>
          </a:prstGeom>
          <a:noFill/>
          <a:ln>
            <a:noFill/>
          </a:ln>
        </p:spPr>
      </p:pic>
      <p:sp>
        <p:nvSpPr>
          <p:cNvPr id="572" name="Google Shape;572;p69"/>
          <p:cNvSpPr txBox="1"/>
          <p:nvPr>
            <p:ph idx="1" type="body"/>
          </p:nvPr>
        </p:nvSpPr>
        <p:spPr>
          <a:xfrm>
            <a:off x="311700" y="3771850"/>
            <a:ext cx="2417700" cy="1098900"/>
          </a:xfrm>
          <a:prstGeom prst="rect">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1200"/>
              </a:spcAft>
              <a:buNone/>
            </a:pPr>
            <a:r>
              <a:rPr lang="en"/>
              <a:t>When we classify news as fake, we are almost always right!</a:t>
            </a:r>
            <a:endParaRPr/>
          </a:p>
        </p:txBody>
      </p:sp>
      <p:cxnSp>
        <p:nvCxnSpPr>
          <p:cNvPr id="573" name="Google Shape;573;p69"/>
          <p:cNvCxnSpPr>
            <a:stCxn id="572" idx="3"/>
          </p:cNvCxnSpPr>
          <p:nvPr/>
        </p:nvCxnSpPr>
        <p:spPr>
          <a:xfrm flipH="1" rot="10800000">
            <a:off x="2729400" y="3819100"/>
            <a:ext cx="934200" cy="502200"/>
          </a:xfrm>
          <a:prstGeom prst="curvedConnector3">
            <a:avLst>
              <a:gd fmla="val 50000" name="adj1"/>
            </a:avLst>
          </a:prstGeom>
          <a:noFill/>
          <a:ln cap="flat" cmpd="sng" w="19050">
            <a:solidFill>
              <a:schemeClr val="dk2"/>
            </a:solidFill>
            <a:prstDash val="solid"/>
            <a:round/>
            <a:headEnd len="med" w="med" type="none"/>
            <a:tailEnd len="med" w="med" type="triangle"/>
          </a:ln>
        </p:spPr>
      </p:cxnSp>
      <p:pic>
        <p:nvPicPr>
          <p:cNvPr id="574" name="Google Shape;574;p69" title="微信截图_20250606043837.png"/>
          <p:cNvPicPr preferRelativeResize="0"/>
          <p:nvPr/>
        </p:nvPicPr>
        <p:blipFill>
          <a:blip r:embed="rId5">
            <a:alphaModFix/>
          </a:blip>
          <a:stretch>
            <a:fillRect/>
          </a:stretch>
        </p:blipFill>
        <p:spPr>
          <a:xfrm>
            <a:off x="374725" y="1614175"/>
            <a:ext cx="1047750" cy="6381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0"/>
          <p:cNvSpPr txBox="1"/>
          <p:nvPr>
            <p:ph type="title"/>
          </p:nvPr>
        </p:nvSpPr>
        <p:spPr>
          <a:xfrm>
            <a:off x="311700" y="187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reducing multi-class to binary classification</a:t>
            </a:r>
            <a:endParaRPr b="1"/>
          </a:p>
        </p:txBody>
      </p:sp>
      <p:sp>
        <p:nvSpPr>
          <p:cNvPr id="580" name="Google Shape;580;p70"/>
          <p:cNvSpPr txBox="1"/>
          <p:nvPr/>
        </p:nvSpPr>
        <p:spPr>
          <a:xfrm>
            <a:off x="6969600" y="1195125"/>
            <a:ext cx="2088600" cy="3052500"/>
          </a:xfrm>
          <a:prstGeom prst="rect">
            <a:avLst/>
          </a:prstGeom>
          <a:noFill/>
          <a:ln>
            <a:noFill/>
          </a:ln>
        </p:spPr>
        <p:txBody>
          <a:bodyPr anchorCtr="0" anchor="t" bIns="91425" lIns="91425" spcFirstLastPara="1" rIns="91425" wrap="square" tIns="91425">
            <a:noAutofit/>
          </a:bodyPr>
          <a:lstStyle/>
          <a:p>
            <a:pPr indent="-209550" lvl="0" marL="171450" rtl="0" algn="l">
              <a:spcBef>
                <a:spcPts val="0"/>
              </a:spcBef>
              <a:spcAft>
                <a:spcPts val="0"/>
              </a:spcAft>
              <a:buClr>
                <a:schemeClr val="dk2"/>
              </a:buClr>
              <a:buSzPts val="1500"/>
              <a:buChar char="●"/>
            </a:pPr>
            <a:r>
              <a:rPr lang="en" sz="1500">
                <a:solidFill>
                  <a:schemeClr val="dk2"/>
                </a:solidFill>
              </a:rPr>
              <a:t>The two images on the left show binary classification using </a:t>
            </a:r>
            <a:r>
              <a:rPr lang="en" sz="1500">
                <a:solidFill>
                  <a:schemeClr val="dk2"/>
                </a:solidFill>
              </a:rPr>
              <a:t>labels</a:t>
            </a:r>
            <a:r>
              <a:rPr lang="en" sz="1500">
                <a:solidFill>
                  <a:schemeClr val="dk2"/>
                </a:solidFill>
              </a:rPr>
              <a:t> </a:t>
            </a:r>
            <a:r>
              <a:rPr b="1" lang="en" sz="1500">
                <a:solidFill>
                  <a:schemeClr val="dk2"/>
                </a:solidFill>
              </a:rPr>
              <a:t>0 </a:t>
            </a:r>
            <a:r>
              <a:rPr lang="en" sz="1500">
                <a:solidFill>
                  <a:schemeClr val="dk2"/>
                </a:solidFill>
              </a:rPr>
              <a:t>(</a:t>
            </a:r>
            <a:r>
              <a:rPr b="1" lang="en" sz="1500">
                <a:solidFill>
                  <a:schemeClr val="dk2"/>
                </a:solidFill>
              </a:rPr>
              <a:t>barely-true</a:t>
            </a:r>
            <a:r>
              <a:rPr lang="en" sz="1500">
                <a:solidFill>
                  <a:schemeClr val="dk2"/>
                </a:solidFill>
              </a:rPr>
              <a:t>) and </a:t>
            </a:r>
            <a:r>
              <a:rPr b="1" lang="en" sz="1500">
                <a:solidFill>
                  <a:schemeClr val="dk2"/>
                </a:solidFill>
              </a:rPr>
              <a:t>5 </a:t>
            </a:r>
            <a:r>
              <a:rPr lang="en" sz="1500">
                <a:solidFill>
                  <a:schemeClr val="dk2"/>
                </a:solidFill>
              </a:rPr>
              <a:t>(</a:t>
            </a:r>
            <a:r>
              <a:rPr b="1" lang="en" sz="1500">
                <a:solidFill>
                  <a:schemeClr val="dk2"/>
                </a:solidFill>
              </a:rPr>
              <a:t>true</a:t>
            </a:r>
            <a:r>
              <a:rPr lang="en" sz="1500">
                <a:solidFill>
                  <a:schemeClr val="dk2"/>
                </a:solidFill>
              </a:rPr>
              <a:t>)</a:t>
            </a:r>
            <a:endParaRPr sz="1500">
              <a:solidFill>
                <a:schemeClr val="dk2"/>
              </a:solidFill>
            </a:endParaRPr>
          </a:p>
          <a:p>
            <a:pPr indent="-209550" lvl="0" marL="171450" rtl="0" algn="l">
              <a:spcBef>
                <a:spcPts val="1000"/>
              </a:spcBef>
              <a:spcAft>
                <a:spcPts val="0"/>
              </a:spcAft>
              <a:buClr>
                <a:schemeClr val="dk2"/>
              </a:buClr>
              <a:buSzPts val="1500"/>
              <a:buChar char="●"/>
            </a:pPr>
            <a:r>
              <a:rPr lang="en" sz="1500">
                <a:solidFill>
                  <a:schemeClr val="dk2"/>
                </a:solidFill>
              </a:rPr>
              <a:t>The two images on the right show binary classification using labels </a:t>
            </a:r>
            <a:r>
              <a:rPr b="1" lang="en" sz="1500">
                <a:solidFill>
                  <a:schemeClr val="dk2"/>
                </a:solidFill>
              </a:rPr>
              <a:t>2 </a:t>
            </a:r>
            <a:r>
              <a:rPr lang="en" sz="1500">
                <a:solidFill>
                  <a:schemeClr val="dk2"/>
                </a:solidFill>
              </a:rPr>
              <a:t>(</a:t>
            </a:r>
            <a:r>
              <a:rPr b="1" lang="en" sz="1500">
                <a:solidFill>
                  <a:schemeClr val="dk2"/>
                </a:solidFill>
              </a:rPr>
              <a:t>half-true</a:t>
            </a:r>
            <a:r>
              <a:rPr lang="en" sz="1500">
                <a:solidFill>
                  <a:schemeClr val="dk2"/>
                </a:solidFill>
              </a:rPr>
              <a:t>) and </a:t>
            </a:r>
            <a:r>
              <a:rPr b="1" lang="en" sz="1500">
                <a:solidFill>
                  <a:schemeClr val="dk2"/>
                </a:solidFill>
              </a:rPr>
              <a:t>3 </a:t>
            </a:r>
            <a:r>
              <a:rPr lang="en" sz="1500">
                <a:solidFill>
                  <a:schemeClr val="dk2"/>
                </a:solidFill>
              </a:rPr>
              <a:t>(</a:t>
            </a:r>
            <a:r>
              <a:rPr b="1" lang="en" sz="1500">
                <a:solidFill>
                  <a:schemeClr val="dk2"/>
                </a:solidFill>
              </a:rPr>
              <a:t>mostly-true</a:t>
            </a:r>
            <a:r>
              <a:rPr lang="en" sz="1500">
                <a:solidFill>
                  <a:schemeClr val="dk2"/>
                </a:solidFill>
              </a:rPr>
              <a:t>)</a:t>
            </a:r>
            <a:endParaRPr sz="800">
              <a:solidFill>
                <a:schemeClr val="dk2"/>
              </a:solidFill>
            </a:endParaRPr>
          </a:p>
        </p:txBody>
      </p:sp>
      <p:grpSp>
        <p:nvGrpSpPr>
          <p:cNvPr id="581" name="Google Shape;581;p70"/>
          <p:cNvGrpSpPr/>
          <p:nvPr/>
        </p:nvGrpSpPr>
        <p:grpSpPr>
          <a:xfrm>
            <a:off x="95244" y="760589"/>
            <a:ext cx="6800606" cy="4383098"/>
            <a:chOff x="152750" y="1078300"/>
            <a:chExt cx="6433875" cy="4065200"/>
          </a:xfrm>
        </p:grpSpPr>
        <p:pic>
          <p:nvPicPr>
            <p:cNvPr id="582" name="Google Shape;582;p70" title="label05sensitivity.png"/>
            <p:cNvPicPr preferRelativeResize="0"/>
            <p:nvPr/>
          </p:nvPicPr>
          <p:blipFill rotWithShape="1">
            <a:blip r:embed="rId3">
              <a:alphaModFix/>
            </a:blip>
            <a:srcRect b="5505" l="0" r="17293" t="8473"/>
            <a:stretch/>
          </p:blipFill>
          <p:spPr>
            <a:xfrm>
              <a:off x="152750" y="1078300"/>
              <a:ext cx="3216946" cy="1998504"/>
            </a:xfrm>
            <a:prstGeom prst="rect">
              <a:avLst/>
            </a:prstGeom>
            <a:noFill/>
            <a:ln>
              <a:noFill/>
            </a:ln>
          </p:spPr>
        </p:pic>
        <p:pic>
          <p:nvPicPr>
            <p:cNvPr id="583" name="Google Shape;583;p70" title="label05precision.png"/>
            <p:cNvPicPr preferRelativeResize="0"/>
            <p:nvPr/>
          </p:nvPicPr>
          <p:blipFill rotWithShape="1">
            <a:blip r:embed="rId4">
              <a:alphaModFix/>
            </a:blip>
            <a:srcRect b="0" l="0" r="15031" t="8600"/>
            <a:stretch/>
          </p:blipFill>
          <p:spPr>
            <a:xfrm>
              <a:off x="152750" y="3076804"/>
              <a:ext cx="3216946" cy="2066696"/>
            </a:xfrm>
            <a:prstGeom prst="rect">
              <a:avLst/>
            </a:prstGeom>
            <a:noFill/>
            <a:ln>
              <a:noFill/>
            </a:ln>
          </p:spPr>
        </p:pic>
        <p:pic>
          <p:nvPicPr>
            <p:cNvPr id="584" name="Google Shape;584;p70" title="label23sensitivity.png"/>
            <p:cNvPicPr preferRelativeResize="0"/>
            <p:nvPr/>
          </p:nvPicPr>
          <p:blipFill rotWithShape="1">
            <a:blip r:embed="rId5">
              <a:alphaModFix/>
            </a:blip>
            <a:srcRect b="5505" l="0" r="17293" t="8473"/>
            <a:stretch/>
          </p:blipFill>
          <p:spPr>
            <a:xfrm>
              <a:off x="3369679" y="1078300"/>
              <a:ext cx="3216946" cy="1998504"/>
            </a:xfrm>
            <a:prstGeom prst="rect">
              <a:avLst/>
            </a:prstGeom>
            <a:noFill/>
            <a:ln>
              <a:noFill/>
            </a:ln>
          </p:spPr>
        </p:pic>
        <p:pic>
          <p:nvPicPr>
            <p:cNvPr id="585" name="Google Shape;585;p70" title="label23precision.png"/>
            <p:cNvPicPr preferRelativeResize="0"/>
            <p:nvPr/>
          </p:nvPicPr>
          <p:blipFill rotWithShape="1">
            <a:blip r:embed="rId6">
              <a:alphaModFix/>
            </a:blip>
            <a:srcRect b="0" l="0" r="16401" t="8600"/>
            <a:stretch/>
          </p:blipFill>
          <p:spPr>
            <a:xfrm>
              <a:off x="3395612" y="3076804"/>
              <a:ext cx="3165078" cy="2066696"/>
            </a:xfrm>
            <a:prstGeom prst="rect">
              <a:avLst/>
            </a:prstGeom>
            <a:noFill/>
            <a:ln>
              <a:noFill/>
            </a:ln>
          </p:spPr>
        </p:pic>
      </p:grpSp>
      <p:pic>
        <p:nvPicPr>
          <p:cNvPr id="586" name="Google Shape;586;p70" title="fake_news_sensitivity_comparison_multi_class.png"/>
          <p:cNvPicPr preferRelativeResize="0"/>
          <p:nvPr/>
        </p:nvPicPr>
        <p:blipFill rotWithShape="1">
          <a:blip r:embed="rId7">
            <a:alphaModFix/>
          </a:blip>
          <a:srcRect b="44944" l="84118" r="1459" t="37127"/>
          <a:stretch/>
        </p:blipFill>
        <p:spPr>
          <a:xfrm>
            <a:off x="6843775" y="4247625"/>
            <a:ext cx="950600" cy="72992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1"/>
          <p:cNvSpPr txBox="1"/>
          <p:nvPr/>
        </p:nvSpPr>
        <p:spPr>
          <a:xfrm>
            <a:off x="6941850" y="1449075"/>
            <a:ext cx="1890600" cy="291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Due to significant prior knowledge, it performs well. The performance of training sets with more samples is similar to that in binary classification sets</a:t>
            </a:r>
            <a:endParaRPr sz="800">
              <a:solidFill>
                <a:schemeClr val="dk2"/>
              </a:solidFill>
            </a:endParaRPr>
          </a:p>
        </p:txBody>
      </p:sp>
      <p:pic>
        <p:nvPicPr>
          <p:cNvPr id="592" name="Google Shape;592;p71" title="fake_news_sensitivity_comparison_multi_class.png"/>
          <p:cNvPicPr preferRelativeResize="0"/>
          <p:nvPr/>
        </p:nvPicPr>
        <p:blipFill rotWithShape="1">
          <a:blip r:embed="rId4">
            <a:alphaModFix/>
          </a:blip>
          <a:srcRect b="44944" l="84118" r="1459" t="37127"/>
          <a:stretch/>
        </p:blipFill>
        <p:spPr>
          <a:xfrm>
            <a:off x="6838700" y="4247625"/>
            <a:ext cx="950600" cy="729924"/>
          </a:xfrm>
          <a:prstGeom prst="rect">
            <a:avLst/>
          </a:prstGeom>
          <a:noFill/>
          <a:ln>
            <a:noFill/>
          </a:ln>
        </p:spPr>
      </p:pic>
      <p:sp>
        <p:nvSpPr>
          <p:cNvPr id="593" name="Google Shape;593;p71"/>
          <p:cNvSpPr txBox="1"/>
          <p:nvPr>
            <p:ph type="title"/>
          </p:nvPr>
        </p:nvSpPr>
        <p:spPr>
          <a:xfrm>
            <a:off x="311700" y="187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 reducing multi-class to binary classification</a:t>
            </a:r>
            <a:endParaRPr b="1"/>
          </a:p>
        </p:txBody>
      </p:sp>
      <p:grpSp>
        <p:nvGrpSpPr>
          <p:cNvPr id="594" name="Google Shape;594;p71"/>
          <p:cNvGrpSpPr/>
          <p:nvPr/>
        </p:nvGrpSpPr>
        <p:grpSpPr>
          <a:xfrm>
            <a:off x="95244" y="760589"/>
            <a:ext cx="6800606" cy="4383098"/>
            <a:chOff x="152750" y="1078300"/>
            <a:chExt cx="6433875" cy="4065200"/>
          </a:xfrm>
        </p:grpSpPr>
        <p:pic>
          <p:nvPicPr>
            <p:cNvPr id="595" name="Google Shape;595;p71" title="label05sensitivity.png"/>
            <p:cNvPicPr preferRelativeResize="0"/>
            <p:nvPr/>
          </p:nvPicPr>
          <p:blipFill rotWithShape="1">
            <a:blip r:embed="rId5">
              <a:alphaModFix/>
            </a:blip>
            <a:srcRect b="5505" l="0" r="17293" t="8473"/>
            <a:stretch/>
          </p:blipFill>
          <p:spPr>
            <a:xfrm>
              <a:off x="152750" y="1078300"/>
              <a:ext cx="3216946" cy="1998504"/>
            </a:xfrm>
            <a:prstGeom prst="rect">
              <a:avLst/>
            </a:prstGeom>
            <a:noFill/>
            <a:ln>
              <a:noFill/>
            </a:ln>
          </p:spPr>
        </p:pic>
        <p:pic>
          <p:nvPicPr>
            <p:cNvPr id="596" name="Google Shape;596;p71" title="label05precision.png"/>
            <p:cNvPicPr preferRelativeResize="0"/>
            <p:nvPr/>
          </p:nvPicPr>
          <p:blipFill rotWithShape="1">
            <a:blip r:embed="rId6">
              <a:alphaModFix/>
            </a:blip>
            <a:srcRect b="0" l="0" r="15031" t="8600"/>
            <a:stretch/>
          </p:blipFill>
          <p:spPr>
            <a:xfrm>
              <a:off x="152750" y="3076804"/>
              <a:ext cx="3216946" cy="2066696"/>
            </a:xfrm>
            <a:prstGeom prst="rect">
              <a:avLst/>
            </a:prstGeom>
            <a:noFill/>
            <a:ln>
              <a:noFill/>
            </a:ln>
          </p:spPr>
        </p:pic>
        <p:pic>
          <p:nvPicPr>
            <p:cNvPr id="597" name="Google Shape;597;p71" title="label23sensitivity.png"/>
            <p:cNvPicPr preferRelativeResize="0"/>
            <p:nvPr/>
          </p:nvPicPr>
          <p:blipFill rotWithShape="1">
            <a:blip r:embed="rId7">
              <a:alphaModFix/>
            </a:blip>
            <a:srcRect b="5505" l="0" r="17293" t="8473"/>
            <a:stretch/>
          </p:blipFill>
          <p:spPr>
            <a:xfrm>
              <a:off x="3369679" y="1078300"/>
              <a:ext cx="3216946" cy="1998504"/>
            </a:xfrm>
            <a:prstGeom prst="rect">
              <a:avLst/>
            </a:prstGeom>
            <a:noFill/>
            <a:ln>
              <a:noFill/>
            </a:ln>
          </p:spPr>
        </p:pic>
        <p:pic>
          <p:nvPicPr>
            <p:cNvPr id="598" name="Google Shape;598;p71" title="label23precision.png"/>
            <p:cNvPicPr preferRelativeResize="0"/>
            <p:nvPr/>
          </p:nvPicPr>
          <p:blipFill rotWithShape="1">
            <a:blip r:embed="rId8">
              <a:alphaModFix/>
            </a:blip>
            <a:srcRect b="0" l="0" r="16401" t="8600"/>
            <a:stretch/>
          </p:blipFill>
          <p:spPr>
            <a:xfrm>
              <a:off x="3395612" y="3076804"/>
              <a:ext cx="3165078" cy="2066696"/>
            </a:xfrm>
            <a:prstGeom prst="rect">
              <a:avLst/>
            </a:prstGeom>
            <a:noFill/>
            <a:ln>
              <a:noFill/>
            </a:ln>
          </p:spPr>
        </p:pic>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b="1" lang="en"/>
              <a:t>Discussion: text length distribution</a:t>
            </a:r>
            <a:endParaRPr/>
          </a:p>
        </p:txBody>
      </p:sp>
      <p:pic>
        <p:nvPicPr>
          <p:cNvPr id="604" name="Google Shape;604;p72" title="text_length_hist_dataset_comparison.png"/>
          <p:cNvPicPr preferRelativeResize="0"/>
          <p:nvPr/>
        </p:nvPicPr>
        <p:blipFill>
          <a:blip r:embed="rId3">
            <a:alphaModFix/>
          </a:blip>
          <a:stretch>
            <a:fillRect/>
          </a:stretch>
        </p:blipFill>
        <p:spPr>
          <a:xfrm>
            <a:off x="311700" y="1247700"/>
            <a:ext cx="5607624" cy="3463700"/>
          </a:xfrm>
          <a:prstGeom prst="rect">
            <a:avLst/>
          </a:prstGeom>
          <a:noFill/>
          <a:ln>
            <a:noFill/>
          </a:ln>
        </p:spPr>
      </p:pic>
      <p:sp>
        <p:nvSpPr>
          <p:cNvPr id="605" name="Google Shape;605;p72"/>
          <p:cNvSpPr txBox="1"/>
          <p:nvPr>
            <p:ph idx="1" type="body"/>
          </p:nvPr>
        </p:nvSpPr>
        <p:spPr>
          <a:xfrm>
            <a:off x="5919325" y="1154250"/>
            <a:ext cx="3070800" cy="30108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The length of the inputs is significantly lower for the multi-class dataset, compared to the binary case.</a:t>
            </a:r>
            <a:endParaRPr/>
          </a:p>
          <a:p>
            <a:pPr indent="-342900" lvl="0" marL="457200" rtl="0" algn="l">
              <a:spcBef>
                <a:spcPts val="0"/>
              </a:spcBef>
              <a:spcAft>
                <a:spcPts val="0"/>
              </a:spcAft>
              <a:buSzPts val="1800"/>
              <a:buChar char="●"/>
            </a:pPr>
            <a:r>
              <a:rPr lang="en"/>
              <a:t>This may cause the predictions to rely more heavily on the prior for the multi-class data.</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b="1" lang="en"/>
              <a:t>Concluding remarks</a:t>
            </a:r>
            <a:endParaRPr/>
          </a:p>
        </p:txBody>
      </p:sp>
      <p:sp>
        <p:nvSpPr>
          <p:cNvPr id="611" name="Google Shape;611;p73"/>
          <p:cNvSpPr txBox="1"/>
          <p:nvPr>
            <p:ph idx="1" type="body"/>
          </p:nvPr>
        </p:nvSpPr>
        <p:spPr>
          <a:xfrm>
            <a:off x="311700" y="1017725"/>
            <a:ext cx="8520600" cy="37896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Tackled the problem of </a:t>
            </a:r>
            <a:r>
              <a:rPr b="1" lang="en"/>
              <a:t>fake news</a:t>
            </a:r>
            <a:r>
              <a:rPr lang="en"/>
              <a:t> classification using the </a:t>
            </a:r>
            <a:r>
              <a:rPr b="1" lang="en"/>
              <a:t>Naive Bayes</a:t>
            </a:r>
            <a:r>
              <a:rPr lang="en"/>
              <a:t> method.</a:t>
            </a:r>
            <a:endParaRPr/>
          </a:p>
          <a:p>
            <a:pPr indent="-342900" lvl="0" marL="457200" rtl="0" algn="l">
              <a:spcBef>
                <a:spcPts val="0"/>
              </a:spcBef>
              <a:spcAft>
                <a:spcPts val="0"/>
              </a:spcAft>
              <a:buSzPts val="1800"/>
              <a:buChar char="●"/>
            </a:pPr>
            <a:r>
              <a:rPr lang="en"/>
              <a:t>Applied the method to </a:t>
            </a:r>
            <a:r>
              <a:rPr b="1" lang="en"/>
              <a:t>two different datasets</a:t>
            </a:r>
            <a:r>
              <a:rPr lang="en"/>
              <a:t>:</a:t>
            </a:r>
            <a:endParaRPr/>
          </a:p>
          <a:p>
            <a:pPr indent="-330200" lvl="1" marL="914400" rtl="0" algn="l">
              <a:spcBef>
                <a:spcPts val="0"/>
              </a:spcBef>
              <a:spcAft>
                <a:spcPts val="0"/>
              </a:spcAft>
              <a:buSzPts val="1600"/>
              <a:buChar char="○"/>
            </a:pPr>
            <a:r>
              <a:rPr lang="en" sz="1600"/>
              <a:t>Fake News Content Detection (</a:t>
            </a:r>
            <a:r>
              <a:rPr b="1" lang="en" sz="1600"/>
              <a:t>multi-class</a:t>
            </a:r>
            <a:r>
              <a:rPr lang="en" sz="1600"/>
              <a:t> data)</a:t>
            </a:r>
            <a:endParaRPr sz="1600"/>
          </a:p>
          <a:p>
            <a:pPr indent="-330200" lvl="1" marL="914400" rtl="0" algn="l">
              <a:spcBef>
                <a:spcPts val="0"/>
              </a:spcBef>
              <a:spcAft>
                <a:spcPts val="0"/>
              </a:spcAft>
              <a:buSzPts val="1600"/>
              <a:buChar char="○"/>
            </a:pPr>
            <a:r>
              <a:rPr lang="en" sz="1600"/>
              <a:t>Fake News Classification (</a:t>
            </a:r>
            <a:r>
              <a:rPr b="1" lang="en" sz="1600"/>
              <a:t>binary</a:t>
            </a:r>
            <a:r>
              <a:rPr lang="en" sz="1600"/>
              <a:t> data)</a:t>
            </a:r>
            <a:endParaRPr sz="1600"/>
          </a:p>
          <a:p>
            <a:pPr indent="-342900" lvl="0" marL="457200" rtl="0" algn="l">
              <a:spcBef>
                <a:spcPts val="0"/>
              </a:spcBef>
              <a:spcAft>
                <a:spcPts val="0"/>
              </a:spcAft>
              <a:buSzPts val="1800"/>
              <a:buChar char="●"/>
            </a:pPr>
            <a:r>
              <a:rPr lang="en"/>
              <a:t>Tested several </a:t>
            </a:r>
            <a:r>
              <a:rPr b="1" lang="en"/>
              <a:t>text processing</a:t>
            </a:r>
            <a:r>
              <a:rPr lang="en"/>
              <a:t> techniques in order to improve the performance of the model:</a:t>
            </a:r>
            <a:endParaRPr/>
          </a:p>
          <a:p>
            <a:pPr indent="-330200" lvl="1" marL="914400" rtl="0" algn="l">
              <a:spcBef>
                <a:spcPts val="0"/>
              </a:spcBef>
              <a:spcAft>
                <a:spcPts val="0"/>
              </a:spcAft>
              <a:buSzPts val="1600"/>
              <a:buChar char="○"/>
            </a:pPr>
            <a:r>
              <a:rPr lang="en" sz="1600"/>
              <a:t>Stopword removal</a:t>
            </a:r>
            <a:endParaRPr sz="1600"/>
          </a:p>
          <a:p>
            <a:pPr indent="-330200" lvl="1" marL="914400" rtl="0" algn="l">
              <a:spcBef>
                <a:spcPts val="0"/>
              </a:spcBef>
              <a:spcAft>
                <a:spcPts val="0"/>
              </a:spcAft>
              <a:buSzPts val="1600"/>
              <a:buChar char="○"/>
            </a:pPr>
            <a:r>
              <a:rPr lang="en" sz="1600"/>
              <a:t>Stemming</a:t>
            </a:r>
            <a:endParaRPr sz="1600"/>
          </a:p>
          <a:p>
            <a:pPr indent="-330200" lvl="1" marL="914400" rtl="0" algn="l">
              <a:spcBef>
                <a:spcPts val="0"/>
              </a:spcBef>
              <a:spcAft>
                <a:spcPts val="0"/>
              </a:spcAft>
              <a:buSzPts val="1600"/>
              <a:buChar char="○"/>
            </a:pPr>
            <a:r>
              <a:rPr lang="en" sz="1600"/>
              <a:t>Lemmatization</a:t>
            </a:r>
            <a:endParaRPr sz="1600"/>
          </a:p>
          <a:p>
            <a:pPr indent="-342900" lvl="0" marL="457200" rtl="0" algn="l">
              <a:spcBef>
                <a:spcPts val="0"/>
              </a:spcBef>
              <a:spcAft>
                <a:spcPts val="0"/>
              </a:spcAft>
              <a:buSzPts val="1800"/>
              <a:buChar char="●"/>
            </a:pPr>
            <a:r>
              <a:rPr lang="en"/>
              <a:t>The method displayed significant limitations in the multi-class scenario, but performed very well on binary data.</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4"/>
          <p:cNvSpPr txBox="1"/>
          <p:nvPr>
            <p:ph type="title"/>
          </p:nvPr>
        </p:nvSpPr>
        <p:spPr>
          <a:xfrm>
            <a:off x="1315375" y="596350"/>
            <a:ext cx="5657400" cy="189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8000"/>
              <a:t>Thank you</a:t>
            </a:r>
            <a:r>
              <a:rPr b="1" lang="en" sz="4800"/>
              <a:t> </a:t>
            </a:r>
            <a:endParaRPr b="1" sz="4800"/>
          </a:p>
          <a:p>
            <a:pPr indent="0" lvl="0" marL="0" rtl="0" algn="l">
              <a:spcBef>
                <a:spcPts val="0"/>
              </a:spcBef>
              <a:spcAft>
                <a:spcPts val="0"/>
              </a:spcAft>
              <a:buNone/>
            </a:pPr>
            <a:r>
              <a:rPr lang="en"/>
              <a:t>for your attention!</a:t>
            </a:r>
            <a:endParaRPr/>
          </a:p>
        </p:txBody>
      </p:sp>
      <p:sp>
        <p:nvSpPr>
          <p:cNvPr id="617" name="Google Shape;617;p74"/>
          <p:cNvSpPr txBox="1"/>
          <p:nvPr>
            <p:ph idx="1" type="body"/>
          </p:nvPr>
        </p:nvSpPr>
        <p:spPr>
          <a:xfrm>
            <a:off x="3607350" y="3090050"/>
            <a:ext cx="1929300" cy="686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Any Questions?</a:t>
            </a:r>
            <a:endParaRPr/>
          </a:p>
        </p:txBody>
      </p:sp>
      <p:sp>
        <p:nvSpPr>
          <p:cNvPr id="618" name="Google Shape;618;p74"/>
          <p:cNvSpPr txBox="1"/>
          <p:nvPr/>
        </p:nvSpPr>
        <p:spPr>
          <a:xfrm>
            <a:off x="0" y="3742275"/>
            <a:ext cx="4585200" cy="9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rPr>
              <a:t>Group members:</a:t>
            </a:r>
            <a:endParaRPr sz="1800">
              <a:solidFill>
                <a:schemeClr val="dk2"/>
              </a:solidFill>
            </a:endParaRPr>
          </a:p>
          <a:p>
            <a:pPr indent="0" lvl="0" marL="0" rtl="0" algn="l">
              <a:spcBef>
                <a:spcPts val="1200"/>
              </a:spcBef>
              <a:spcAft>
                <a:spcPts val="0"/>
              </a:spcAft>
              <a:buNone/>
            </a:pPr>
            <a:r>
              <a:rPr lang="en" sz="1600">
                <a:solidFill>
                  <a:schemeClr val="dk2"/>
                </a:solidFill>
              </a:rPr>
              <a:t>Franco Aquistapace, Daize Li, Hooman Sabzi</a:t>
            </a:r>
            <a:endParaRPr sz="1600"/>
          </a:p>
        </p:txBody>
      </p:sp>
      <p:sp>
        <p:nvSpPr>
          <p:cNvPr id="619" name="Google Shape;619;p74"/>
          <p:cNvSpPr/>
          <p:nvPr/>
        </p:nvSpPr>
        <p:spPr>
          <a:xfrm>
            <a:off x="0" y="4807200"/>
            <a:ext cx="9144000" cy="336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0" name="Google Shape;620;p74" title="unipd.png"/>
          <p:cNvPicPr preferRelativeResize="0"/>
          <p:nvPr/>
        </p:nvPicPr>
        <p:blipFill>
          <a:blip r:embed="rId3">
            <a:alphaModFix/>
          </a:blip>
          <a:stretch>
            <a:fillRect/>
          </a:stretch>
        </p:blipFill>
        <p:spPr>
          <a:xfrm>
            <a:off x="7637275" y="3776150"/>
            <a:ext cx="1031050" cy="1031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